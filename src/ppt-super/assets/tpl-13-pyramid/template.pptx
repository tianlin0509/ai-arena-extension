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[chip]"/>
          <p:cNvSpPr txBox="1"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国产生态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1473200" y="228600"/>
            <a:ext cx="92075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B90A0A"/>
                </a:solidFill>
                <a:latin typeface="Microsoft YaHei"/>
                <a:ea typeface="Microsoft YaHei"/>
              </a:rPr>
              <a:t>鲲鹏+昇腾自主可控: 芯-硬-软-应用-生态 5 层全栈, 国产化率 3 年提升 10 倍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1366500" y="304800"/>
            <a:ext cx="419100" cy="241300"/>
          </a:xfrm>
          <a:prstGeom prst="line">
            <a:avLst/>
          </a:prstGeom>
          <a:ln w="2286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81000" y="889000"/>
            <a:ext cx="6350000" cy="2667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1000" y="889000"/>
            <a:ext cx="38100" cy="2667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[pyramid_header]"/>
          <p:cNvSpPr txBox="1"/>
          <p:nvPr/>
        </p:nvSpPr>
        <p:spPr>
          <a:xfrm>
            <a:off x="495299" y="889000"/>
            <a:ext cx="61849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</a:rPr>
              <a:t>全栈自主可控分层体系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000" y="5245100"/>
            <a:ext cx="4572000" cy="9271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[tier1_name]"/>
          <p:cNvSpPr txBox="1"/>
          <p:nvPr/>
        </p:nvSpPr>
        <p:spPr>
          <a:xfrm>
            <a:off x="444500" y="5245100"/>
            <a:ext cx="4445000" cy="927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</a:rPr>
              <a:t>芯片基础 Chips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53000" y="5708650"/>
            <a:ext cx="279400" cy="0"/>
          </a:xfrm>
          <a:prstGeom prst="line">
            <a:avLst/>
          </a:prstGeom>
          <a:ln w="127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[tier1_desc]"/>
          <p:cNvSpPr txBox="1"/>
          <p:nvPr/>
        </p:nvSpPr>
        <p:spPr>
          <a:xfrm>
            <a:off x="5270500" y="5295900"/>
            <a:ext cx="1460500" cy="825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鲲鹏 920 + 昇腾 910B 双引擎, 7nm 制程国产化, ARM v8 自研核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2000" y="4267200"/>
            <a:ext cx="3810000" cy="92710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[tier2_name]"/>
          <p:cNvSpPr txBox="1"/>
          <p:nvPr/>
        </p:nvSpPr>
        <p:spPr>
          <a:xfrm>
            <a:off x="825500" y="4267200"/>
            <a:ext cx="3683000" cy="927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</a:rPr>
              <a:t>硬件平台 Hardware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" y="4730750"/>
            <a:ext cx="660400" cy="0"/>
          </a:xfrm>
          <a:prstGeom prst="line">
            <a:avLst/>
          </a:prstGeom>
          <a:ln w="127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[tier2_desc]"/>
          <p:cNvSpPr txBox="1"/>
          <p:nvPr/>
        </p:nvSpPr>
        <p:spPr>
          <a:xfrm>
            <a:off x="5270500" y="4318000"/>
            <a:ext cx="1460500" cy="825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TaiShan 服务器 + Atlas 800/900 系列整机, 适配 ISV 6000+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3289300"/>
            <a:ext cx="3048000" cy="927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[tier3_name]"/>
          <p:cNvSpPr txBox="1"/>
          <p:nvPr/>
        </p:nvSpPr>
        <p:spPr>
          <a:xfrm>
            <a:off x="1206500" y="3289300"/>
            <a:ext cx="2921000" cy="927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软件栈 Software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90999" y="3752850"/>
            <a:ext cx="1041401" cy="0"/>
          </a:xfrm>
          <a:prstGeom prst="line">
            <a:avLst/>
          </a:prstGeom>
          <a:ln w="127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[tier3_desc]"/>
          <p:cNvSpPr txBox="1"/>
          <p:nvPr/>
        </p:nvSpPr>
        <p:spPr>
          <a:xfrm>
            <a:off x="5270500" y="3340100"/>
            <a:ext cx="1460500" cy="825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openEuler / openGauss / MindSpore 全栈开源, 社区开发者 380 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24000" y="2311400"/>
            <a:ext cx="2286000" cy="927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[tier4_name]"/>
          <p:cNvSpPr txBox="1"/>
          <p:nvPr/>
        </p:nvSpPr>
        <p:spPr>
          <a:xfrm>
            <a:off x="1587500" y="2311400"/>
            <a:ext cx="2159000" cy="927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应用层 Applications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10000" y="2774950"/>
            <a:ext cx="1422400" cy="0"/>
          </a:xfrm>
          <a:prstGeom prst="line">
            <a:avLst/>
          </a:prstGeom>
          <a:ln w="127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[tier4_desc]"/>
          <p:cNvSpPr txBox="1"/>
          <p:nvPr/>
        </p:nvSpPr>
        <p:spPr>
          <a:xfrm>
            <a:off x="5270500" y="2362200"/>
            <a:ext cx="1460500" cy="825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政企 ERP+OA 全栈替代, 行业大模型 MindIE 已落地 50+ 行业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41500" y="1333500"/>
            <a:ext cx="1651000" cy="9271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[tier5_name]"/>
          <p:cNvSpPr txBox="1"/>
          <p:nvPr/>
        </p:nvSpPr>
        <p:spPr>
          <a:xfrm>
            <a:off x="1905000" y="1333500"/>
            <a:ext cx="1524000" cy="927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</a:rPr>
              <a:t>生态共赢 Ecosystem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492500" y="1797050"/>
            <a:ext cx="1739900" cy="0"/>
          </a:xfrm>
          <a:prstGeom prst="line">
            <a:avLst/>
          </a:prstGeom>
          <a:ln w="127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[tier5_desc]"/>
          <p:cNvSpPr txBox="1"/>
          <p:nvPr/>
        </p:nvSpPr>
        <p:spPr>
          <a:xfrm>
            <a:off x="5270500" y="1384300"/>
            <a:ext cx="1460500" cy="8255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595959"/>
                </a:solidFill>
                <a:latin typeface="Microsoft YaHei"/>
                <a:ea typeface="Microsoft YaHei"/>
              </a:rPr>
              <a:t>鲲鹏展翅伙伴 5000+, 认证解决方案 1.7 万个, 出口管制无忧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609600" y="1435100"/>
            <a:ext cx="0" cy="3683000"/>
          </a:xfrm>
          <a:prstGeom prst="line">
            <a:avLst/>
          </a:prstGeom>
          <a:ln w="2540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[axis_label]"/>
          <p:cNvSpPr txBox="1"/>
          <p:nvPr/>
        </p:nvSpPr>
        <p:spPr>
          <a:xfrm>
            <a:off x="660400" y="1778000"/>
            <a:ext cx="304800" cy="1397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B90A0A"/>
                </a:solidFill>
                <a:latin typeface="Microsoft YaHei"/>
                <a:ea typeface="Microsoft YaHei"/>
              </a:rPr>
              <a:t>自主可控程度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85000" y="889000"/>
            <a:ext cx="4826000" cy="539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85000" y="889000"/>
            <a:ext cx="4826000" cy="2667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85000" y="889000"/>
            <a:ext cx="38100" cy="2667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99300" y="889000"/>
            <a:ext cx="4660900" cy="266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</a:rPr>
              <a:t>分级解读</a:t>
            </a:r>
          </a:p>
        </p:txBody>
      </p:sp>
      <p:sp>
        <p:nvSpPr>
          <p:cNvPr id="35" name="[reading_bullets]"/>
          <p:cNvSpPr txBox="1"/>
          <p:nvPr/>
        </p:nvSpPr>
        <p:spPr>
          <a:xfrm>
            <a:off x="7175500" y="1333500"/>
            <a:ext cx="4445000" cy="19685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262626"/>
                </a:solidFill>
                <a:latin typeface="Microsoft YaHei"/>
                <a:ea typeface="Microsoft YaHei"/>
              </a:rPr>
              <a:t>全栈体系遵循自底向上的建设逻辑: 芯片与硬件双层率先夯实, 算力国产化率从 5% 提升至 50%; MindSpore 与昇腾 910B 深度协同调优, 训练效率提升 1.8 倍。应用侧以政企核心系统全栈替代为牵引, 已覆盖 18 大基建行业, 行业大模型落地超过 50 个场景; 生态侧 ISV 数量年增 60%, 解决方案认证周期缩短至 2 周, 并主导欧拉、昇思等 12 项国家标准。全栈漏洞响应小于 24 小时, 已通过等保四级认证。下层规模决定上层繁荣, 五层飞轮已形成正向循环, 体系护城河持续加固。</a:t>
            </a:r>
          </a:p>
        </p:txBody>
      </p:sp>
      <p:sp>
        <p:nvSpPr>
          <p:cNvPr id="36" name="[chart_title]"/>
          <p:cNvSpPr txBox="1"/>
          <p:nvPr/>
        </p:nvSpPr>
        <p:spPr>
          <a:xfrm>
            <a:off x="7175500" y="3429000"/>
            <a:ext cx="1905000" cy="165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>
                <a:solidFill>
                  <a:srgbClr val="595959"/>
                </a:solidFill>
                <a:latin typeface="Microsoft YaHei"/>
                <a:ea typeface="Microsoft YaHei"/>
              </a:rPr>
              <a:t>国产化率演进 (%)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239000" y="5219700"/>
            <a:ext cx="43180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7562850" y="5095748"/>
            <a:ext cx="539750" cy="123951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92975" y="4930648"/>
            <a:ext cx="10795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</a:rPr>
              <a:t>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92975" y="5257800"/>
            <a:ext cx="1079500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2022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642350" y="4847844"/>
            <a:ext cx="539750" cy="371856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72475" y="4682744"/>
            <a:ext cx="10795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</a:rPr>
              <a:t>15%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2475" y="5257800"/>
            <a:ext cx="1079500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2023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21850" y="4475988"/>
            <a:ext cx="539750" cy="7437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51975" y="4310888"/>
            <a:ext cx="10795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</a:rPr>
              <a:t>30%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51975" y="5257800"/>
            <a:ext cx="1079500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2024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801350" y="3980180"/>
            <a:ext cx="539750" cy="1239519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31475" y="3815079"/>
            <a:ext cx="1079500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</a:rPr>
              <a:t>50%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31475" y="5257800"/>
            <a:ext cx="1079500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2025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239000" y="5969000"/>
            <a:ext cx="279399" cy="0"/>
          </a:xfrm>
          <a:prstGeom prst="line">
            <a:avLst/>
          </a:prstGeom>
          <a:ln w="15240">
            <a:solidFill>
              <a:srgbClr val="B9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7239000" y="5689600"/>
            <a:ext cx="0" cy="279400"/>
          </a:xfrm>
          <a:prstGeom prst="line">
            <a:avLst/>
          </a:prstGeom>
          <a:ln w="15240">
            <a:solidFill>
              <a:srgbClr val="B90A0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264400" y="5727700"/>
            <a:ext cx="228600" cy="203200"/>
          </a:xfrm>
          <a:prstGeom prst="line">
            <a:avLst/>
          </a:prstGeom>
          <a:ln w="20320">
            <a:solidFill>
              <a:srgbClr val="B90A0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683500" y="5651500"/>
            <a:ext cx="3429000" cy="3556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[kpi1]"/>
          <p:cNvSpPr txBox="1"/>
          <p:nvPr/>
        </p:nvSpPr>
        <p:spPr>
          <a:xfrm>
            <a:off x="7683500" y="5651500"/>
            <a:ext cx="3429000" cy="3556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262626"/>
                </a:solidFill>
                <a:latin typeface="Microsoft YaHei"/>
                <a:ea typeface="Microsoft YaHei"/>
              </a:rPr>
              <a:t>国产化率 3 年提升 ×10, 2025 达 50%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
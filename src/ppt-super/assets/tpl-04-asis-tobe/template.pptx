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智能运维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1473200" y="228600"/>
            <a:ext cx="92075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90A0A"/>
                </a:solidFill>
                <a:latin typeface="Microsoft YaHei"/>
                <a:ea typeface="Microsoft YaHei"/>
              </a:rPr>
              <a:t>运维模式升级: 人工经验驱动→数字孪生自动化, 故障恢复时长 -85%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366500" y="304800"/>
            <a:ext cx="419100" cy="241300"/>
          </a:xfrm>
          <a:prstGeom prst="line">
            <a:avLst/>
          </a:prstGeom>
          <a:ln w="2286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1000" y="889000"/>
            <a:ext cx="4953000" cy="4445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9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1000" y="889000"/>
            <a:ext cx="825500" cy="2921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000" y="889000"/>
            <a:ext cx="82550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As-Is</a:t>
            </a:r>
          </a:p>
        </p:txBody>
      </p:sp>
      <p:sp>
        <p:nvSpPr>
          <p:cNvPr id="9" name="[asis_title]"/>
          <p:cNvSpPr txBox="1"/>
          <p:nvPr/>
        </p:nvSpPr>
        <p:spPr>
          <a:xfrm>
            <a:off x="1333500" y="901700"/>
            <a:ext cx="3873499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传统人工运维: 经验驱动, 被动响应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1500" y="1308100"/>
            <a:ext cx="45720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[asis_bullets]"/>
          <p:cNvSpPr txBox="1"/>
          <p:nvPr/>
        </p:nvSpPr>
        <p:spPr>
          <a:xfrm>
            <a:off x="609600" y="1371600"/>
            <a:ext cx="4445000" cy="14605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</a:rPr>
              <a:t>当前运维高度依赖人工: 日均 2000 余条告警靠人工分拣, 关键告警漏报频发; 故障定位依赖专家个人经验, 平均耗时 4 小时以上; 变更依靠手工脚本执行, 窗口期长且失败率约 8%。知识沉淀在个人脑中, 骨干流失即出现能力断层; 跨域协同依赖工单流转, 单工单闭环周期长达 2-3 天; 巡检覆盖率不足 60%, 隐患发现往往依赖客户投诉; 容量规划仅凭历史经验外推, 资源利用率仅 35%, 整体模式已难以支撑业务规模的持续增长。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" y="3238500"/>
            <a:ext cx="2095499" cy="3175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[asis_chip1]"/>
          <p:cNvSpPr txBox="1"/>
          <p:nvPr/>
        </p:nvSpPr>
        <p:spPr>
          <a:xfrm>
            <a:off x="609600" y="3238500"/>
            <a:ext cx="2095499" cy="317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B90A0A"/>
                </a:solidFill>
                <a:latin typeface="Microsoft YaHei"/>
                <a:ea typeface="Microsoft YaHei"/>
              </a:rPr>
              <a:t>MTTR 4 小时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59100" y="3238500"/>
            <a:ext cx="2095499" cy="3175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[asis_chip2]"/>
          <p:cNvSpPr txBox="1"/>
          <p:nvPr/>
        </p:nvSpPr>
        <p:spPr>
          <a:xfrm>
            <a:off x="2959100" y="3238500"/>
            <a:ext cx="2095499" cy="317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B90A0A"/>
                </a:solidFill>
                <a:latin typeface="Microsoft YaHei"/>
                <a:ea typeface="Microsoft YaHei"/>
              </a:rPr>
              <a:t>变更失败率 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9090" y="3968750"/>
            <a:ext cx="461818" cy="635000"/>
          </a:xfrm>
          <a:prstGeom prst="rect">
            <a:avLst/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125681" y="4141931"/>
            <a:ext cx="288637" cy="0"/>
          </a:xfrm>
          <a:prstGeom prst="line">
            <a:avLst/>
          </a:prstGeom>
          <a:ln w="1143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25681" y="4286250"/>
            <a:ext cx="288637" cy="0"/>
          </a:xfrm>
          <a:prstGeom prst="line">
            <a:avLst/>
          </a:prstGeom>
          <a:ln w="1143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25681" y="4430568"/>
            <a:ext cx="288637" cy="0"/>
          </a:xfrm>
          <a:prstGeom prst="line">
            <a:avLst/>
          </a:prstGeom>
          <a:ln w="1143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563090" y="3968750"/>
            <a:ext cx="461818" cy="635000"/>
          </a:xfrm>
          <a:prstGeom prst="rect">
            <a:avLst/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2649681" y="4141931"/>
            <a:ext cx="288637" cy="0"/>
          </a:xfrm>
          <a:prstGeom prst="line">
            <a:avLst/>
          </a:prstGeom>
          <a:ln w="1143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49681" y="4286250"/>
            <a:ext cx="288637" cy="0"/>
          </a:xfrm>
          <a:prstGeom prst="line">
            <a:avLst/>
          </a:prstGeom>
          <a:ln w="1143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649681" y="4430568"/>
            <a:ext cx="288637" cy="0"/>
          </a:xfrm>
          <a:prstGeom prst="line">
            <a:avLst/>
          </a:prstGeom>
          <a:ln w="1143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087090" y="3968750"/>
            <a:ext cx="461818" cy="635000"/>
          </a:xfrm>
          <a:prstGeom prst="rect">
            <a:avLst/>
          </a:prstGeom>
          <a:solidFill>
            <a:srgbClr val="FFFFFF"/>
          </a:solidFill>
          <a:ln w="1524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173681" y="4141931"/>
            <a:ext cx="288637" cy="0"/>
          </a:xfrm>
          <a:prstGeom prst="line">
            <a:avLst/>
          </a:prstGeom>
          <a:ln w="1143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173681" y="4286250"/>
            <a:ext cx="288637" cy="0"/>
          </a:xfrm>
          <a:prstGeom prst="line">
            <a:avLst/>
          </a:prstGeom>
          <a:ln w="1143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173681" y="4430568"/>
            <a:ext cx="288637" cy="0"/>
          </a:xfrm>
          <a:prstGeom prst="line">
            <a:avLst/>
          </a:prstGeom>
          <a:ln w="1143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3700" y="4286250"/>
            <a:ext cx="736600" cy="0"/>
          </a:xfrm>
          <a:prstGeom prst="line">
            <a:avLst/>
          </a:prstGeom>
          <a:ln w="15240">
            <a:solidFill>
              <a:srgbClr val="59595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187700" y="4286250"/>
            <a:ext cx="736600" cy="0"/>
          </a:xfrm>
          <a:prstGeom prst="line">
            <a:avLst/>
          </a:prstGeom>
          <a:ln w="15240">
            <a:solidFill>
              <a:srgbClr val="59595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[asis_fig_caption]"/>
          <p:cNvSpPr txBox="1"/>
          <p:nvPr/>
        </p:nvSpPr>
        <p:spPr>
          <a:xfrm>
            <a:off x="635000" y="4711700"/>
            <a:ext cx="4445000" cy="177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文档驱动 · 人工流转 · 闭环周期 2-3 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889000"/>
            <a:ext cx="4953000" cy="4445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58000" y="889000"/>
            <a:ext cx="825500" cy="29210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889000"/>
            <a:ext cx="82550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To-Be</a:t>
            </a:r>
          </a:p>
        </p:txBody>
      </p:sp>
      <p:sp>
        <p:nvSpPr>
          <p:cNvPr id="34" name="[tobe_title]"/>
          <p:cNvSpPr txBox="1"/>
          <p:nvPr/>
        </p:nvSpPr>
        <p:spPr>
          <a:xfrm>
            <a:off x="7810499" y="901700"/>
            <a:ext cx="3873499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数字孪生自动运维: 数据驱动, 主动预防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48500" y="1308100"/>
            <a:ext cx="45720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[tobe_bullets]"/>
          <p:cNvSpPr txBox="1"/>
          <p:nvPr/>
        </p:nvSpPr>
        <p:spPr>
          <a:xfrm>
            <a:off x="7086600" y="1371600"/>
            <a:ext cx="4445000" cy="14605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</a:rPr>
              <a:t>目标态以数据驱动实现主动预防: 告警经智能压缩聚类后噪声下降 95%、漏报趋零; 根因 AI 定位实现分钟级响应, 平均耗时缩短至 15 分钟; 变更通过自动编排与灰度验证将失败率压降至 1% 以内。专家经验经知识图谱沉淀实现资产化, 新人周级上手; 跨域闭环自动流转使端到端周期压缩至 4 小时; 数字孪生全量仿真巡检可提前 7 天预警隐患; 容量 AI 预测滚动规划带动资源利用率提升至 60%, 运维模式整体转向数据驱动与主动经营。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86600" y="3238500"/>
            <a:ext cx="2095499" cy="3175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[tobe_chip1]"/>
          <p:cNvSpPr txBox="1"/>
          <p:nvPr/>
        </p:nvSpPr>
        <p:spPr>
          <a:xfrm>
            <a:off x="7086600" y="3238500"/>
            <a:ext cx="2095499" cy="317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MTTR 15 分钟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36100" y="3238500"/>
            <a:ext cx="2095499" cy="3175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[tobe_chip2]"/>
          <p:cNvSpPr txBox="1"/>
          <p:nvPr/>
        </p:nvSpPr>
        <p:spPr>
          <a:xfrm>
            <a:off x="9436100" y="3238500"/>
            <a:ext cx="2095499" cy="317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262626"/>
                </a:solidFill>
                <a:latin typeface="Microsoft YaHei"/>
                <a:ea typeface="Microsoft YaHei"/>
              </a:rPr>
              <a:t>变更失败率 &lt;1%</a:t>
            </a:r>
          </a:p>
        </p:txBody>
      </p:sp>
      <p:sp>
        <p:nvSpPr>
          <p:cNvPr id="41" name="[tobe_chart_title]"/>
          <p:cNvSpPr txBox="1"/>
          <p:nvPr/>
        </p:nvSpPr>
        <p:spPr>
          <a:xfrm>
            <a:off x="7175500" y="3708400"/>
            <a:ext cx="2476500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595959"/>
                </a:solidFill>
                <a:latin typeface="Microsoft YaHei"/>
                <a:ea typeface="Microsoft YaHei"/>
              </a:rPr>
              <a:t>自动化率演进 (%)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239000" y="4813300"/>
            <a:ext cx="23495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7473950" y="4499665"/>
            <a:ext cx="391583" cy="313634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78158" y="4334565"/>
            <a:ext cx="783166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40%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78158" y="4851400"/>
            <a:ext cx="783166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现状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57116" y="4280120"/>
            <a:ext cx="391583" cy="53317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61324" y="4115020"/>
            <a:ext cx="783166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68%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1324" y="4851400"/>
            <a:ext cx="783166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迁移期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40283" y="4091939"/>
            <a:ext cx="391583" cy="721360"/>
          </a:xfrm>
          <a:prstGeom prst="rect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44491" y="3926840"/>
            <a:ext cx="783166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92%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44491" y="4851400"/>
            <a:ext cx="783166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目标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414000" y="4699000"/>
            <a:ext cx="635000" cy="0"/>
          </a:xfrm>
          <a:prstGeom prst="line">
            <a:avLst/>
          </a:prstGeom>
          <a:ln w="15240"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414000" y="4064000"/>
            <a:ext cx="0" cy="635000"/>
          </a:xfrm>
          <a:prstGeom prst="line">
            <a:avLst/>
          </a:prstGeom>
          <a:ln w="15240">
            <a:solidFill>
              <a:srgbClr val="00B0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10471727" y="4150590"/>
            <a:ext cx="519545" cy="461819"/>
          </a:xfrm>
          <a:prstGeom prst="line">
            <a:avLst/>
          </a:prstGeom>
          <a:ln w="20320">
            <a:solidFill>
              <a:srgbClr val="00B05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[tobe_fig_caption]"/>
          <p:cNvSpPr txBox="1"/>
          <p:nvPr/>
        </p:nvSpPr>
        <p:spPr>
          <a:xfrm>
            <a:off x="10033000" y="4787900"/>
            <a:ext cx="1397000" cy="177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自动化率持续爬升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5499100" y="2730500"/>
            <a:ext cx="1193800" cy="762000"/>
          </a:xfrm>
          <a:prstGeom prst="rightArrow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384800" y="1892300"/>
            <a:ext cx="1422400" cy="40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0A0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[migrate_key]"/>
          <p:cNvSpPr txBox="1"/>
          <p:nvPr/>
        </p:nvSpPr>
        <p:spPr>
          <a:xfrm>
            <a:off x="5384800" y="1892300"/>
            <a:ext cx="1422400" cy="406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B90A0A"/>
                </a:solidFill>
                <a:latin typeface="Microsoft YaHei"/>
                <a:ea typeface="Microsoft YaHei"/>
              </a:rPr>
              <a:t>数字孪生迁移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096000" y="2324100"/>
            <a:ext cx="0" cy="368300"/>
          </a:xfrm>
          <a:prstGeom prst="line">
            <a:avLst/>
          </a:prstGeom>
          <a:ln w="1905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5435600" y="3810000"/>
            <a:ext cx="1320800" cy="2921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499100" y="3892550"/>
            <a:ext cx="127000" cy="127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99100" y="3886200"/>
            <a:ext cx="127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63" name="[migrate_step1]"/>
          <p:cNvSpPr txBox="1"/>
          <p:nvPr/>
        </p:nvSpPr>
        <p:spPr>
          <a:xfrm>
            <a:off x="5664200" y="3810000"/>
            <a:ext cx="106680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1F4E79"/>
                </a:solidFill>
                <a:latin typeface="Microsoft YaHei"/>
                <a:ea typeface="Microsoft YaHei"/>
              </a:rPr>
              <a:t>数据底座统一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096000" y="4102099"/>
            <a:ext cx="0" cy="165101"/>
          </a:xfrm>
          <a:prstGeom prst="line">
            <a:avLst/>
          </a:prstGeom>
          <a:ln w="15240">
            <a:solidFill>
              <a:srgbClr val="1F4E7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5435600" y="4267200"/>
            <a:ext cx="1320800" cy="2921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499100" y="4349750"/>
            <a:ext cx="127000" cy="127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99100" y="4343400"/>
            <a:ext cx="127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68" name="[migrate_step2]"/>
          <p:cNvSpPr txBox="1"/>
          <p:nvPr/>
        </p:nvSpPr>
        <p:spPr>
          <a:xfrm>
            <a:off x="5664200" y="4267200"/>
            <a:ext cx="106680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1F4E79"/>
                </a:solidFill>
                <a:latin typeface="Microsoft YaHei"/>
                <a:ea typeface="Microsoft YaHei"/>
              </a:rPr>
              <a:t>孪生建模上线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096000" y="4559300"/>
            <a:ext cx="0" cy="165100"/>
          </a:xfrm>
          <a:prstGeom prst="line">
            <a:avLst/>
          </a:prstGeom>
          <a:ln w="15240">
            <a:solidFill>
              <a:srgbClr val="1F4E7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5435600" y="4724400"/>
            <a:ext cx="1320800" cy="2921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499100" y="4806950"/>
            <a:ext cx="127000" cy="127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99100" y="4800600"/>
            <a:ext cx="1270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73" name="[migrate_step3]"/>
          <p:cNvSpPr txBox="1"/>
          <p:nvPr/>
        </p:nvSpPr>
        <p:spPr>
          <a:xfrm>
            <a:off x="5664200" y="4724400"/>
            <a:ext cx="1066800" cy="292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1F4E79"/>
                </a:solidFill>
                <a:latin typeface="Microsoft YaHei"/>
                <a:ea typeface="Microsoft YaHei"/>
              </a:rPr>
              <a:t>闭环自动化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1000" y="5511800"/>
            <a:ext cx="11430000" cy="736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81000" y="5511800"/>
            <a:ext cx="38100" cy="7366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3400" y="5511800"/>
            <a:ext cx="952500" cy="736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B90A0A"/>
                </a:solidFill>
                <a:latin typeface="Microsoft YaHei"/>
                <a:ea typeface="Microsoft YaHei"/>
              </a:rPr>
              <a:t>迁移收益</a:t>
            </a:r>
          </a:p>
        </p:txBody>
      </p:sp>
      <p:sp>
        <p:nvSpPr>
          <p:cNvPr id="77" name="[benefit_concl]"/>
          <p:cNvSpPr txBox="1"/>
          <p:nvPr/>
        </p:nvSpPr>
        <p:spPr>
          <a:xfrm>
            <a:off x="1524000" y="5511800"/>
            <a:ext cx="6477000" cy="736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F4E79"/>
                </a:solidFill>
                <a:latin typeface="Microsoft YaHei"/>
                <a:ea typeface="Microsoft YaHei"/>
              </a:rPr>
              <a:t>运维人力释放 40%, 重复性劳动全面转向高价值网络优化与体验经营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255000" y="5689600"/>
            <a:ext cx="1587500" cy="381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[kpi1]"/>
          <p:cNvSpPr txBox="1"/>
          <p:nvPr/>
        </p:nvSpPr>
        <p:spPr>
          <a:xfrm>
            <a:off x="8255000" y="5689600"/>
            <a:ext cx="1587500" cy="381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</a:rPr>
              <a:t>MTTR -85%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033000" y="5689600"/>
            <a:ext cx="1587500" cy="3810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[kpi2]"/>
          <p:cNvSpPr txBox="1"/>
          <p:nvPr/>
        </p:nvSpPr>
        <p:spPr>
          <a:xfrm>
            <a:off x="10033000" y="5689600"/>
            <a:ext cx="1587500" cy="381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</a:rPr>
              <a:t>人效 +40%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
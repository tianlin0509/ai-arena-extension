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66700" y="266700"/>
            <a:ext cx="50800" cy="292100"/>
          </a:xfrm>
          <a:prstGeom prst="rect">
            <a:avLst/>
          </a:prstGeom>
          <a:solidFill>
            <a:srgbClr val="B80606"/>
          </a:solidFill>
          <a:ln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165100"/>
            <a:ext cx="26670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5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路线规划 / 阶段门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419100" y="292100"/>
            <a:ext cx="9144000" cy="431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路线规划：从验证样机到规模化交付</a:t>
            </a:r>
          </a:p>
        </p:txBody>
      </p:sp>
      <p:sp>
        <p:nvSpPr>
          <p:cNvPr id="5" name="[subtitle]"/>
          <p:cNvSpPr txBox="1"/>
          <p:nvPr/>
        </p:nvSpPr>
        <p:spPr>
          <a:xfrm>
            <a:off x="431800" y="762000"/>
            <a:ext cx="95250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分阶段推进，逐步降低风险，确保技术可行、商业可行与规模化交付能力的构建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6700" y="1041400"/>
            <a:ext cx="116459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17500" y="1714500"/>
            <a:ext cx="2000250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4500" y="1866900"/>
            <a:ext cx="444500" cy="3683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016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900" y="1898650"/>
            <a:ext cx="3937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[stage1_title]"/>
          <p:cNvSpPr txBox="1"/>
          <p:nvPr/>
        </p:nvSpPr>
        <p:spPr>
          <a:xfrm>
            <a:off x="1003300" y="1879600"/>
            <a:ext cx="118745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原型验证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5300" y="2362200"/>
            <a:ext cx="164465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5300" y="2501900"/>
            <a:ext cx="190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00" b="0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▣</a:t>
            </a:r>
          </a:p>
        </p:txBody>
      </p:sp>
      <p:sp>
        <p:nvSpPr>
          <p:cNvPr id="13" name="[stage1_date]"/>
          <p:cNvSpPr txBox="1"/>
          <p:nvPr/>
        </p:nvSpPr>
        <p:spPr>
          <a:xfrm>
            <a:off x="736600" y="2489200"/>
            <a:ext cx="142875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2025.05 - 2025.08</a:t>
            </a:r>
          </a:p>
        </p:txBody>
      </p:sp>
      <p:sp>
        <p:nvSpPr>
          <p:cNvPr id="14" name="[stage1_body]"/>
          <p:cNvSpPr txBox="1"/>
          <p:nvPr/>
        </p:nvSpPr>
        <p:spPr>
          <a:xfrm>
            <a:off x="533400" y="2806700"/>
            <a:ext cx="156845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完成核心技术验证与样机开发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验证关键指标与可行性方案</a:t>
            </a:r>
          </a:p>
        </p:txBody>
      </p:sp>
      <p:pic>
        <p:nvPicPr>
          <p:cNvPr id="15" name="Picture 14" descr="stage1_visual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3403600"/>
            <a:ext cx="1638300" cy="9652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6100" y="4394200"/>
            <a:ext cx="1543050" cy="292100"/>
          </a:xfrm>
          <a:prstGeom prst="roundRect">
            <a:avLst>
              <a:gd name="adj" fmla="val 5000"/>
            </a:avLst>
          </a:prstGeom>
          <a:solidFill>
            <a:srgbClr val="E7F7F7"/>
          </a:solidFill>
          <a:ln w="635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6100" y="4394200"/>
            <a:ext cx="457200" cy="292100"/>
          </a:xfrm>
          <a:prstGeom prst="roundRect">
            <a:avLst>
              <a:gd name="adj" fmla="val 5000"/>
            </a:avLst>
          </a:prstGeom>
          <a:solidFill>
            <a:srgbClr val="078D98"/>
          </a:solidFill>
          <a:ln w="635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900" y="4413250"/>
            <a:ext cx="355600" cy="25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KPI</a:t>
            </a:r>
          </a:p>
        </p:txBody>
      </p:sp>
      <p:sp>
        <p:nvSpPr>
          <p:cNvPr id="19" name="[stage1_kpi]"/>
          <p:cNvSpPr txBox="1"/>
          <p:nvPr/>
        </p:nvSpPr>
        <p:spPr>
          <a:xfrm>
            <a:off x="1028700" y="4457700"/>
            <a:ext cx="121285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3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关键指标达成率 ≥80%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63800" y="2819400"/>
            <a:ext cx="279400" cy="0"/>
          </a:xfrm>
          <a:prstGeom prst="line">
            <a:avLst/>
          </a:prstGeom>
          <a:ln w="5334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133600" y="1358900"/>
            <a:ext cx="9779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8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阶段评审 Gate 1</a:t>
            </a:r>
          </a:p>
        </p:txBody>
      </p:sp>
      <p:sp>
        <p:nvSpPr>
          <p:cNvPr id="22" name="Oval 21"/>
          <p:cNvSpPr/>
          <p:nvPr/>
        </p:nvSpPr>
        <p:spPr>
          <a:xfrm>
            <a:off x="2413000" y="1587500"/>
            <a:ext cx="266700" cy="266700"/>
          </a:xfrm>
          <a:prstGeom prst="ellipse">
            <a:avLst/>
          </a:prstGeom>
          <a:solidFill>
            <a:srgbClr val="0B2F86"/>
          </a:solidFill>
          <a:ln w="1016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38400" y="1587500"/>
            <a:ext cx="2286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70200" y="1714500"/>
            <a:ext cx="2000250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997200" y="1866900"/>
            <a:ext cx="444500" cy="3683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016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22600" y="1898650"/>
            <a:ext cx="3937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7" name="[stage2_title]"/>
          <p:cNvSpPr txBox="1"/>
          <p:nvPr/>
        </p:nvSpPr>
        <p:spPr>
          <a:xfrm>
            <a:off x="3556000" y="1879600"/>
            <a:ext cx="118745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试点上线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48000" y="2362200"/>
            <a:ext cx="164465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48000" y="2501900"/>
            <a:ext cx="190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00" b="0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▣</a:t>
            </a:r>
          </a:p>
        </p:txBody>
      </p:sp>
      <p:sp>
        <p:nvSpPr>
          <p:cNvPr id="30" name="[stage2_date]"/>
          <p:cNvSpPr txBox="1"/>
          <p:nvPr/>
        </p:nvSpPr>
        <p:spPr>
          <a:xfrm>
            <a:off x="3289300" y="2489200"/>
            <a:ext cx="142875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2025.09 - 2025.12</a:t>
            </a:r>
          </a:p>
        </p:txBody>
      </p:sp>
      <p:sp>
        <p:nvSpPr>
          <p:cNvPr id="31" name="[stage2_body]"/>
          <p:cNvSpPr txBox="1"/>
          <p:nvPr/>
        </p:nvSpPr>
        <p:spPr>
          <a:xfrm>
            <a:off x="3086100" y="2806700"/>
            <a:ext cx="156845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在典型场景试点上线与运行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验证业务价值与用户反馈</a:t>
            </a:r>
          </a:p>
        </p:txBody>
      </p:sp>
      <p:pic>
        <p:nvPicPr>
          <p:cNvPr id="32" name="Picture 31" descr="stage2_visual_defa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700" y="3403600"/>
            <a:ext cx="1574800" cy="965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3098800" y="4394200"/>
            <a:ext cx="1543050" cy="292100"/>
          </a:xfrm>
          <a:prstGeom prst="roundRect">
            <a:avLst>
              <a:gd name="adj" fmla="val 5000"/>
            </a:avLst>
          </a:prstGeom>
          <a:solidFill>
            <a:srgbClr val="E7F7F7"/>
          </a:solidFill>
          <a:ln w="635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098800" y="4394200"/>
            <a:ext cx="457200" cy="292100"/>
          </a:xfrm>
          <a:prstGeom prst="roundRect">
            <a:avLst>
              <a:gd name="adj" fmla="val 5000"/>
            </a:avLst>
          </a:prstGeom>
          <a:solidFill>
            <a:srgbClr val="078D98"/>
          </a:solidFill>
          <a:ln w="635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9600" y="4413250"/>
            <a:ext cx="355600" cy="25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KPI</a:t>
            </a:r>
          </a:p>
        </p:txBody>
      </p:sp>
      <p:sp>
        <p:nvSpPr>
          <p:cNvPr id="36" name="[stage2_kpi]"/>
          <p:cNvSpPr txBox="1"/>
          <p:nvPr/>
        </p:nvSpPr>
        <p:spPr>
          <a:xfrm>
            <a:off x="3581400" y="4457700"/>
            <a:ext cx="121285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3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试点可用性 ≥99%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876800" y="2819400"/>
            <a:ext cx="279400" cy="0"/>
          </a:xfrm>
          <a:prstGeom prst="line">
            <a:avLst/>
          </a:prstGeom>
          <a:ln w="5334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46600" y="1358900"/>
            <a:ext cx="9779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8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阶段评审 Gate 2</a:t>
            </a:r>
          </a:p>
        </p:txBody>
      </p:sp>
      <p:sp>
        <p:nvSpPr>
          <p:cNvPr id="39" name="Oval 38"/>
          <p:cNvSpPr/>
          <p:nvPr/>
        </p:nvSpPr>
        <p:spPr>
          <a:xfrm>
            <a:off x="4826000" y="1587500"/>
            <a:ext cx="266700" cy="266700"/>
          </a:xfrm>
          <a:prstGeom prst="ellipse">
            <a:avLst/>
          </a:prstGeom>
          <a:solidFill>
            <a:srgbClr val="0B2F86"/>
          </a:solidFill>
          <a:ln w="1016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51400" y="1587500"/>
            <a:ext cx="2286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83200" y="1714500"/>
            <a:ext cx="2000250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410200" y="1866900"/>
            <a:ext cx="444500" cy="3683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016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35600" y="1898650"/>
            <a:ext cx="3937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4" name="[stage3_title]"/>
          <p:cNvSpPr txBox="1"/>
          <p:nvPr/>
        </p:nvSpPr>
        <p:spPr>
          <a:xfrm>
            <a:off x="5969000" y="1879600"/>
            <a:ext cx="118745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规模复制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61000" y="2362200"/>
            <a:ext cx="164465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61000" y="2501900"/>
            <a:ext cx="190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00" b="0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▣</a:t>
            </a:r>
          </a:p>
        </p:txBody>
      </p:sp>
      <p:sp>
        <p:nvSpPr>
          <p:cNvPr id="47" name="[stage3_date]"/>
          <p:cNvSpPr txBox="1"/>
          <p:nvPr/>
        </p:nvSpPr>
        <p:spPr>
          <a:xfrm>
            <a:off x="5702300" y="2489200"/>
            <a:ext cx="142875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2026.01 - 2026.06</a:t>
            </a:r>
          </a:p>
        </p:txBody>
      </p:sp>
      <p:sp>
        <p:nvSpPr>
          <p:cNvPr id="48" name="[stage3_body]"/>
          <p:cNvSpPr txBox="1"/>
          <p:nvPr/>
        </p:nvSpPr>
        <p:spPr>
          <a:xfrm>
            <a:off x="5499100" y="2806700"/>
            <a:ext cx="156845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标准化方案与交付复制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扩大覆盖与生态合作</a:t>
            </a:r>
          </a:p>
        </p:txBody>
      </p:sp>
      <p:pic>
        <p:nvPicPr>
          <p:cNvPr id="49" name="Picture 48" descr="stage3_visual_defa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700" y="3403600"/>
            <a:ext cx="1574800" cy="96520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5511800" y="4394200"/>
            <a:ext cx="1543050" cy="292100"/>
          </a:xfrm>
          <a:prstGeom prst="roundRect">
            <a:avLst>
              <a:gd name="adj" fmla="val 5000"/>
            </a:avLst>
          </a:prstGeom>
          <a:solidFill>
            <a:srgbClr val="FFF2E3"/>
          </a:solidFill>
          <a:ln w="635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511800" y="4394200"/>
            <a:ext cx="457200" cy="292100"/>
          </a:xfrm>
          <a:prstGeom prst="roundRect">
            <a:avLst>
              <a:gd name="adj" fmla="val 5000"/>
            </a:avLst>
          </a:prstGeom>
          <a:solidFill>
            <a:srgbClr val="D98200"/>
          </a:solidFill>
          <a:ln w="635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62600" y="4413250"/>
            <a:ext cx="355600" cy="25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KPI</a:t>
            </a:r>
          </a:p>
        </p:txBody>
      </p:sp>
      <p:sp>
        <p:nvSpPr>
          <p:cNvPr id="53" name="[stage3_kpi]"/>
          <p:cNvSpPr txBox="1"/>
          <p:nvPr/>
        </p:nvSpPr>
        <p:spPr>
          <a:xfrm>
            <a:off x="5994400" y="4457700"/>
            <a:ext cx="121285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3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覆盖客户数 ≥100 家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302500" y="2819400"/>
            <a:ext cx="279400" cy="0"/>
          </a:xfrm>
          <a:prstGeom prst="line">
            <a:avLst/>
          </a:prstGeom>
          <a:ln w="5334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972300" y="1358900"/>
            <a:ext cx="9779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8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阶段评审 Gate 3</a:t>
            </a:r>
          </a:p>
        </p:txBody>
      </p:sp>
      <p:sp>
        <p:nvSpPr>
          <p:cNvPr id="56" name="Oval 55"/>
          <p:cNvSpPr/>
          <p:nvPr/>
        </p:nvSpPr>
        <p:spPr>
          <a:xfrm>
            <a:off x="7251700" y="1587500"/>
            <a:ext cx="266700" cy="266700"/>
          </a:xfrm>
          <a:prstGeom prst="ellipse">
            <a:avLst/>
          </a:prstGeom>
          <a:solidFill>
            <a:srgbClr val="0B2F86"/>
          </a:solidFill>
          <a:ln w="1016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77100" y="1587500"/>
            <a:ext cx="2286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08900" y="1714500"/>
            <a:ext cx="1587500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835900" y="1866900"/>
            <a:ext cx="444500" cy="3683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016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61300" y="1898650"/>
            <a:ext cx="3937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61" name="[stage4_title]"/>
          <p:cNvSpPr txBox="1"/>
          <p:nvPr/>
        </p:nvSpPr>
        <p:spPr>
          <a:xfrm>
            <a:off x="8318500" y="1879600"/>
            <a:ext cx="8509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持续运营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886700" y="2362200"/>
            <a:ext cx="12319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886700" y="2501900"/>
            <a:ext cx="190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00" b="0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▣</a:t>
            </a:r>
          </a:p>
        </p:txBody>
      </p:sp>
      <p:sp>
        <p:nvSpPr>
          <p:cNvPr id="64" name="[stage4_date]"/>
          <p:cNvSpPr txBox="1"/>
          <p:nvPr/>
        </p:nvSpPr>
        <p:spPr>
          <a:xfrm>
            <a:off x="8128000" y="2489200"/>
            <a:ext cx="1016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2026.07 - 持续</a:t>
            </a:r>
          </a:p>
        </p:txBody>
      </p:sp>
      <p:sp>
        <p:nvSpPr>
          <p:cNvPr id="65" name="[stage4_body]"/>
          <p:cNvSpPr txBox="1"/>
          <p:nvPr/>
        </p:nvSpPr>
        <p:spPr>
          <a:xfrm>
            <a:off x="7924800" y="2806700"/>
            <a:ext cx="11557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持续优化运营与客户成功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构建长期运营与价值闭环</a:t>
            </a:r>
          </a:p>
        </p:txBody>
      </p:sp>
      <p:pic>
        <p:nvPicPr>
          <p:cNvPr id="66" name="Picture 65" descr="stage4_visual_defa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1300" y="3403600"/>
            <a:ext cx="1346200" cy="965200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7937500" y="4394200"/>
            <a:ext cx="1130300" cy="292100"/>
          </a:xfrm>
          <a:prstGeom prst="roundRect">
            <a:avLst>
              <a:gd name="adj" fmla="val 5000"/>
            </a:avLst>
          </a:prstGeom>
          <a:solidFill>
            <a:srgbClr val="E7F7F7"/>
          </a:solidFill>
          <a:ln w="635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937500" y="4394200"/>
            <a:ext cx="457200" cy="292100"/>
          </a:xfrm>
          <a:prstGeom prst="roundRect">
            <a:avLst>
              <a:gd name="adj" fmla="val 5000"/>
            </a:avLst>
          </a:prstGeom>
          <a:solidFill>
            <a:srgbClr val="078D98"/>
          </a:solidFill>
          <a:ln w="635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88300" y="4413250"/>
            <a:ext cx="355600" cy="25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KPI</a:t>
            </a:r>
          </a:p>
        </p:txBody>
      </p:sp>
      <p:sp>
        <p:nvSpPr>
          <p:cNvPr id="70" name="[stage4_kpi]"/>
          <p:cNvSpPr txBox="1"/>
          <p:nvPr/>
        </p:nvSpPr>
        <p:spPr>
          <a:xfrm>
            <a:off x="8369300" y="4457700"/>
            <a:ext cx="8509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客户续约率 ≥90%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461500" y="1295400"/>
            <a:ext cx="2438400" cy="18669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461500" y="1295400"/>
            <a:ext cx="2438400" cy="3302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889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461500" y="1524000"/>
            <a:ext cx="2438400" cy="101600"/>
          </a:xfrm>
          <a:prstGeom prst="rect">
            <a:avLst/>
          </a:prstGeom>
          <a:solidFill>
            <a:srgbClr val="0B2F86"/>
          </a:solidFill>
          <a:ln w="635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resource_header_icon_defau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5800" y="1339850"/>
            <a:ext cx="317500" cy="22225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931400" y="1339850"/>
            <a:ext cx="1143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资源约束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9639300" y="2019300"/>
            <a:ext cx="21336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9677400" y="1714500"/>
            <a:ext cx="2286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○</a:t>
            </a:r>
          </a:p>
        </p:txBody>
      </p:sp>
      <p:sp>
        <p:nvSpPr>
          <p:cNvPr id="78" name="[res1_title]"/>
          <p:cNvSpPr txBox="1"/>
          <p:nvPr/>
        </p:nvSpPr>
        <p:spPr>
          <a:xfrm>
            <a:off x="9944100" y="1739900"/>
            <a:ext cx="5588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人力资源</a:t>
            </a:r>
          </a:p>
        </p:txBody>
      </p:sp>
      <p:sp>
        <p:nvSpPr>
          <p:cNvPr id="79" name="[res1_body]"/>
          <p:cNvSpPr txBox="1"/>
          <p:nvPr/>
        </p:nvSpPr>
        <p:spPr>
          <a:xfrm>
            <a:off x="10541000" y="1739900"/>
            <a:ext cx="1206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核心团队 ≤25 人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639300" y="2362200"/>
            <a:ext cx="21336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9677400" y="2057400"/>
            <a:ext cx="2286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○</a:t>
            </a:r>
          </a:p>
        </p:txBody>
      </p:sp>
      <p:sp>
        <p:nvSpPr>
          <p:cNvPr id="82" name="[res2_title]"/>
          <p:cNvSpPr txBox="1"/>
          <p:nvPr/>
        </p:nvSpPr>
        <p:spPr>
          <a:xfrm>
            <a:off x="9944100" y="2082800"/>
            <a:ext cx="5588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预算约束</a:t>
            </a:r>
          </a:p>
        </p:txBody>
      </p:sp>
      <p:sp>
        <p:nvSpPr>
          <p:cNvPr id="83" name="[res2_body]"/>
          <p:cNvSpPr txBox="1"/>
          <p:nvPr/>
        </p:nvSpPr>
        <p:spPr>
          <a:xfrm>
            <a:off x="10541000" y="2082800"/>
            <a:ext cx="1206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总预算 ≤1200 万元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9639300" y="2705100"/>
            <a:ext cx="21336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9677400" y="2400300"/>
            <a:ext cx="2286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○</a:t>
            </a:r>
          </a:p>
        </p:txBody>
      </p:sp>
      <p:sp>
        <p:nvSpPr>
          <p:cNvPr id="86" name="[res3_title]"/>
          <p:cNvSpPr txBox="1"/>
          <p:nvPr/>
        </p:nvSpPr>
        <p:spPr>
          <a:xfrm>
            <a:off x="9944100" y="2425700"/>
            <a:ext cx="5588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基础设施</a:t>
            </a:r>
          </a:p>
        </p:txBody>
      </p:sp>
      <p:sp>
        <p:nvSpPr>
          <p:cNvPr id="87" name="[res3_body]"/>
          <p:cNvSpPr txBox="1"/>
          <p:nvPr/>
        </p:nvSpPr>
        <p:spPr>
          <a:xfrm>
            <a:off x="10541000" y="2425700"/>
            <a:ext cx="1206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算力资源按需使用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9639300" y="3048000"/>
            <a:ext cx="21336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9677400" y="2743200"/>
            <a:ext cx="2286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○</a:t>
            </a:r>
          </a:p>
        </p:txBody>
      </p:sp>
      <p:sp>
        <p:nvSpPr>
          <p:cNvPr id="90" name="[res4_title]"/>
          <p:cNvSpPr txBox="1"/>
          <p:nvPr/>
        </p:nvSpPr>
        <p:spPr>
          <a:xfrm>
            <a:off x="9944100" y="2768600"/>
            <a:ext cx="5588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工具平台</a:t>
            </a:r>
          </a:p>
        </p:txBody>
      </p:sp>
      <p:sp>
        <p:nvSpPr>
          <p:cNvPr id="91" name="[res4_body]"/>
          <p:cNvSpPr txBox="1"/>
          <p:nvPr/>
        </p:nvSpPr>
        <p:spPr>
          <a:xfrm>
            <a:off x="10541000" y="2768600"/>
            <a:ext cx="1206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复用现有平台能力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461500" y="3238500"/>
            <a:ext cx="2438400" cy="1816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9461500" y="3238500"/>
            <a:ext cx="2438400" cy="330200"/>
          </a:xfrm>
          <a:prstGeom prst="roundRect">
            <a:avLst>
              <a:gd name="adj" fmla="val 5000"/>
            </a:avLst>
          </a:prstGeom>
          <a:solidFill>
            <a:srgbClr val="B80606"/>
          </a:solidFill>
          <a:ln w="889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461500" y="3467100"/>
            <a:ext cx="2438400" cy="101600"/>
          </a:xfrm>
          <a:prstGeom prst="rect">
            <a:avLst/>
          </a:prstGeom>
          <a:solidFill>
            <a:srgbClr val="B80606"/>
          </a:solidFill>
          <a:ln w="635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risk_header_icon_defau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5800" y="3340100"/>
            <a:ext cx="317500" cy="27940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9931400" y="3282950"/>
            <a:ext cx="1143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关键风险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9639300" y="3949700"/>
            <a:ext cx="21336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9677400" y="3657600"/>
            <a:ext cx="2286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○</a:t>
            </a:r>
          </a:p>
        </p:txBody>
      </p:sp>
      <p:sp>
        <p:nvSpPr>
          <p:cNvPr id="99" name="[risk1_title]"/>
          <p:cNvSpPr txBox="1"/>
          <p:nvPr/>
        </p:nvSpPr>
        <p:spPr>
          <a:xfrm>
            <a:off x="9944100" y="3683000"/>
            <a:ext cx="5588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技术风险</a:t>
            </a:r>
          </a:p>
        </p:txBody>
      </p:sp>
      <p:sp>
        <p:nvSpPr>
          <p:cNvPr id="100" name="[risk1_body]"/>
          <p:cNvSpPr txBox="1"/>
          <p:nvPr/>
        </p:nvSpPr>
        <p:spPr>
          <a:xfrm>
            <a:off x="10541000" y="3683000"/>
            <a:ext cx="12065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核心技术达成不及预期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9639300" y="4292600"/>
            <a:ext cx="21336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9677400" y="4000500"/>
            <a:ext cx="2286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○</a:t>
            </a:r>
          </a:p>
        </p:txBody>
      </p:sp>
      <p:sp>
        <p:nvSpPr>
          <p:cNvPr id="103" name="[risk2_title]"/>
          <p:cNvSpPr txBox="1"/>
          <p:nvPr/>
        </p:nvSpPr>
        <p:spPr>
          <a:xfrm>
            <a:off x="9944100" y="4025900"/>
            <a:ext cx="5588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市场风险</a:t>
            </a:r>
          </a:p>
        </p:txBody>
      </p:sp>
      <p:sp>
        <p:nvSpPr>
          <p:cNvPr id="104" name="[risk2_body]"/>
          <p:cNvSpPr txBox="1"/>
          <p:nvPr/>
        </p:nvSpPr>
        <p:spPr>
          <a:xfrm>
            <a:off x="10541000" y="4025900"/>
            <a:ext cx="12065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客户需求变化或接受度低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9639300" y="4635500"/>
            <a:ext cx="21336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9677400" y="4343400"/>
            <a:ext cx="2286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○</a:t>
            </a:r>
          </a:p>
        </p:txBody>
      </p:sp>
      <p:sp>
        <p:nvSpPr>
          <p:cNvPr id="107" name="[risk3_title]"/>
          <p:cNvSpPr txBox="1"/>
          <p:nvPr/>
        </p:nvSpPr>
        <p:spPr>
          <a:xfrm>
            <a:off x="9944100" y="4368800"/>
            <a:ext cx="5588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交付风险</a:t>
            </a:r>
          </a:p>
        </p:txBody>
      </p:sp>
      <p:sp>
        <p:nvSpPr>
          <p:cNvPr id="108" name="[risk3_body]"/>
          <p:cNvSpPr txBox="1"/>
          <p:nvPr/>
        </p:nvSpPr>
        <p:spPr>
          <a:xfrm>
            <a:off x="10541000" y="4368800"/>
            <a:ext cx="12065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集成复杂度与交付延期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9639300" y="4978400"/>
            <a:ext cx="21336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9677400" y="4686300"/>
            <a:ext cx="2286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○</a:t>
            </a:r>
          </a:p>
        </p:txBody>
      </p:sp>
      <p:sp>
        <p:nvSpPr>
          <p:cNvPr id="111" name="[risk4_title]"/>
          <p:cNvSpPr txBox="1"/>
          <p:nvPr/>
        </p:nvSpPr>
        <p:spPr>
          <a:xfrm>
            <a:off x="9944100" y="4711700"/>
            <a:ext cx="5588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成本风险</a:t>
            </a:r>
          </a:p>
        </p:txBody>
      </p:sp>
      <p:sp>
        <p:nvSpPr>
          <p:cNvPr id="112" name="[risk4_body]"/>
          <p:cNvSpPr txBox="1"/>
          <p:nvPr/>
        </p:nvSpPr>
        <p:spPr>
          <a:xfrm>
            <a:off x="10541000" y="4711700"/>
            <a:ext cx="12065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成本超预期影响利润率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41300" y="5346700"/>
            <a:ext cx="11709400" cy="1257300"/>
          </a:xfrm>
          <a:prstGeom prst="roundRect">
            <a:avLst>
              <a:gd name="adj" fmla="val 5000"/>
            </a:avLst>
          </a:prstGeom>
          <a:solidFill>
            <a:srgbClr val="01254D"/>
          </a:solidFill>
          <a:ln w="10160">
            <a:solidFill>
              <a:srgbClr val="01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4" name="Picture 113" descr="bottom_goal_icon_defau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5486400"/>
            <a:ext cx="723900" cy="774700"/>
          </a:xfrm>
          <a:prstGeom prst="rect">
            <a:avLst/>
          </a:prstGeom>
        </p:spPr>
      </p:pic>
      <p:sp>
        <p:nvSpPr>
          <p:cNvPr id="115" name="[summary_title]"/>
          <p:cNvSpPr txBox="1"/>
          <p:nvPr/>
        </p:nvSpPr>
        <p:spPr>
          <a:xfrm>
            <a:off x="1257300" y="5486400"/>
            <a:ext cx="2349500" cy="292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总体目标与结论</a:t>
            </a:r>
          </a:p>
        </p:txBody>
      </p:sp>
      <p:sp>
        <p:nvSpPr>
          <p:cNvPr id="116" name="[summary_body]"/>
          <p:cNvSpPr txBox="1"/>
          <p:nvPr/>
        </p:nvSpPr>
        <p:spPr>
          <a:xfrm>
            <a:off x="1257300" y="5829300"/>
            <a:ext cx="24765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通过分阶段、设计门槛的路线规划，逐步验证与放大价值，构建可复制的产品与交付体系。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191000" y="5575300"/>
            <a:ext cx="0" cy="8255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604000" y="5575300"/>
            <a:ext cx="0" cy="8255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067800" y="5575300"/>
            <a:ext cx="0" cy="8255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0" name="Picture 119" descr="bottom_metric1_icon_defaul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2300" y="5613400"/>
            <a:ext cx="698500" cy="647700"/>
          </a:xfrm>
          <a:prstGeom prst="rect">
            <a:avLst/>
          </a:prstGeom>
        </p:spPr>
      </p:pic>
      <p:sp>
        <p:nvSpPr>
          <p:cNvPr id="121" name="[metric1_title]"/>
          <p:cNvSpPr txBox="1"/>
          <p:nvPr/>
        </p:nvSpPr>
        <p:spPr>
          <a:xfrm>
            <a:off x="5245100" y="5524500"/>
            <a:ext cx="1460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19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预期收入（首年）</a:t>
            </a:r>
          </a:p>
        </p:txBody>
      </p:sp>
      <p:sp>
        <p:nvSpPr>
          <p:cNvPr id="122" name="[metric1_value]"/>
          <p:cNvSpPr txBox="1"/>
          <p:nvPr/>
        </p:nvSpPr>
        <p:spPr>
          <a:xfrm>
            <a:off x="5245100" y="5791200"/>
            <a:ext cx="1460500" cy="330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8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≥1.2 亿元</a:t>
            </a:r>
          </a:p>
        </p:txBody>
      </p:sp>
      <p:sp>
        <p:nvSpPr>
          <p:cNvPr id="123" name="[metric1_note]"/>
          <p:cNvSpPr txBox="1"/>
          <p:nvPr/>
        </p:nvSpPr>
        <p:spPr>
          <a:xfrm>
            <a:off x="5245100" y="6134100"/>
            <a:ext cx="14605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规模化交付后</a:t>
            </a:r>
          </a:p>
        </p:txBody>
      </p:sp>
      <p:pic>
        <p:nvPicPr>
          <p:cNvPr id="124" name="Picture 123" descr="bottom_metric2_icon_defaul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70700" y="5613400"/>
            <a:ext cx="698500" cy="647700"/>
          </a:xfrm>
          <a:prstGeom prst="rect">
            <a:avLst/>
          </a:prstGeom>
        </p:spPr>
      </p:pic>
      <p:sp>
        <p:nvSpPr>
          <p:cNvPr id="125" name="[metric2_title]"/>
          <p:cNvSpPr txBox="1"/>
          <p:nvPr/>
        </p:nvSpPr>
        <p:spPr>
          <a:xfrm>
            <a:off x="7683500" y="5524500"/>
            <a:ext cx="1460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19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投资回收期</a:t>
            </a:r>
          </a:p>
        </p:txBody>
      </p:sp>
      <p:sp>
        <p:nvSpPr>
          <p:cNvPr id="126" name="[metric2_value]"/>
          <p:cNvSpPr txBox="1"/>
          <p:nvPr/>
        </p:nvSpPr>
        <p:spPr>
          <a:xfrm>
            <a:off x="7683500" y="5791200"/>
            <a:ext cx="1460500" cy="330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8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≤18 个月</a:t>
            </a:r>
          </a:p>
        </p:txBody>
      </p:sp>
      <p:sp>
        <p:nvSpPr>
          <p:cNvPr id="127" name="[metric2_note]"/>
          <p:cNvSpPr txBox="1"/>
          <p:nvPr/>
        </p:nvSpPr>
        <p:spPr>
          <a:xfrm>
            <a:off x="7683500" y="6134100"/>
            <a:ext cx="14605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预计周期</a:t>
            </a:r>
          </a:p>
        </p:txBody>
      </p:sp>
      <p:pic>
        <p:nvPicPr>
          <p:cNvPr id="128" name="Picture 127" descr="bottom_metric3_icon_defaul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1000" y="5613400"/>
            <a:ext cx="698500" cy="647700"/>
          </a:xfrm>
          <a:prstGeom prst="rect">
            <a:avLst/>
          </a:prstGeom>
        </p:spPr>
      </p:pic>
      <p:sp>
        <p:nvSpPr>
          <p:cNvPr id="129" name="[metric3_title]"/>
          <p:cNvSpPr txBox="1"/>
          <p:nvPr/>
        </p:nvSpPr>
        <p:spPr>
          <a:xfrm>
            <a:off x="10083800" y="5524500"/>
            <a:ext cx="1460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19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目标毛利率</a:t>
            </a:r>
          </a:p>
        </p:txBody>
      </p:sp>
      <p:sp>
        <p:nvSpPr>
          <p:cNvPr id="130" name="[metric3_value]"/>
          <p:cNvSpPr txBox="1"/>
          <p:nvPr/>
        </p:nvSpPr>
        <p:spPr>
          <a:xfrm>
            <a:off x="10083800" y="5791200"/>
            <a:ext cx="1460500" cy="330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8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≥35%</a:t>
            </a:r>
          </a:p>
        </p:txBody>
      </p:sp>
      <p:sp>
        <p:nvSpPr>
          <p:cNvPr id="131" name="[metric3_note]"/>
          <p:cNvSpPr txBox="1"/>
          <p:nvPr/>
        </p:nvSpPr>
        <p:spPr>
          <a:xfrm>
            <a:off x="10083800" y="6134100"/>
            <a:ext cx="14605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长期运营目标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
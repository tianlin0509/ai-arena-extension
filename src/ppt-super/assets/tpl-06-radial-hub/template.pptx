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盘古大模型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盘古大模型: 1 个 L0 基座辐射 6 大行业场景, 定制成本下降 90%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4254500" y="1784350"/>
            <a:ext cx="1841500" cy="1485900"/>
          </a:xfrm>
          <a:prstGeom prst="line">
            <a:avLst/>
          </a:prstGeom>
          <a:ln w="15240">
            <a:solidFill>
              <a:srgbClr val="1F4E7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96000" y="1784350"/>
            <a:ext cx="1841500" cy="1485900"/>
          </a:xfrm>
          <a:prstGeom prst="line">
            <a:avLst/>
          </a:prstGeom>
          <a:ln w="15240">
            <a:solidFill>
              <a:srgbClr val="1F4E7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6000" y="3270250"/>
            <a:ext cx="3683000" cy="0"/>
          </a:xfrm>
          <a:prstGeom prst="line">
            <a:avLst/>
          </a:prstGeom>
          <a:ln w="15240">
            <a:solidFill>
              <a:srgbClr val="1F4E7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000" y="3270250"/>
            <a:ext cx="1841500" cy="1485900"/>
          </a:xfrm>
          <a:prstGeom prst="line">
            <a:avLst/>
          </a:prstGeom>
          <a:ln w="15240">
            <a:solidFill>
              <a:srgbClr val="1F4E7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254500" y="3270250"/>
            <a:ext cx="1841500" cy="1485900"/>
          </a:xfrm>
          <a:prstGeom prst="line">
            <a:avLst/>
          </a:prstGeom>
          <a:ln w="15240">
            <a:solidFill>
              <a:srgbClr val="1F4E7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413000" y="3270250"/>
            <a:ext cx="3683000" cy="0"/>
          </a:xfrm>
          <a:prstGeom prst="line">
            <a:avLst/>
          </a:prstGeom>
          <a:ln w="15240">
            <a:solidFill>
              <a:srgbClr val="1F4E7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984750" y="2159000"/>
            <a:ext cx="2222500" cy="2222500"/>
          </a:xfrm>
          <a:prstGeom prst="ellipse">
            <a:avLst/>
          </a:prstGeom>
          <a:noFill/>
          <a:ln w="1270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11750" y="2286000"/>
            <a:ext cx="1968500" cy="1968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0750" y="2508250"/>
            <a:ext cx="190500" cy="190500"/>
          </a:xfrm>
          <a:prstGeom prst="rect">
            <a:avLst/>
          </a:prstGeom>
          <a:solidFill>
            <a:srgbClr val="FFFFFF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1550" y="2559050"/>
            <a:ext cx="88900" cy="88900"/>
          </a:xfrm>
          <a:prstGeom prst="rect">
            <a:avLst/>
          </a:prstGeom>
          <a:solidFill>
            <a:srgbClr val="DEEAF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032500" y="2463800"/>
            <a:ext cx="0" cy="4445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2500" y="2698750"/>
            <a:ext cx="0" cy="4445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56300" y="2540000"/>
            <a:ext cx="44450" cy="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540000"/>
            <a:ext cx="44450" cy="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6000" y="2463800"/>
            <a:ext cx="0" cy="4445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6000" y="2698750"/>
            <a:ext cx="0" cy="4445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56300" y="2603500"/>
            <a:ext cx="44450" cy="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91250" y="2603500"/>
            <a:ext cx="44450" cy="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59500" y="2463800"/>
            <a:ext cx="0" cy="4445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59500" y="2698750"/>
            <a:ext cx="0" cy="4445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56300" y="2667000"/>
            <a:ext cx="44450" cy="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2667000"/>
            <a:ext cx="44450" cy="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[core_name]"/>
          <p:cNvSpPr txBox="1"/>
          <p:nvPr/>
        </p:nvSpPr>
        <p:spPr>
          <a:xfrm>
            <a:off x="5207000" y="2794000"/>
            <a:ext cx="17780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盘古大模型 5.0</a:t>
            </a:r>
          </a:p>
        </p:txBody>
      </p:sp>
      <p:sp>
        <p:nvSpPr>
          <p:cNvPr id="29" name="[core_sub]"/>
          <p:cNvSpPr txBox="1"/>
          <p:nvPr/>
        </p:nvSpPr>
        <p:spPr>
          <a:xfrm>
            <a:off x="5207000" y="3111500"/>
            <a:ext cx="1778000" cy="406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L0 基座+L1 行业+L2 场景</a:t>
            </a:r>
          </a:p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三层解耦架构</a:t>
            </a:r>
          </a:p>
        </p:txBody>
      </p:sp>
      <p:sp>
        <p:nvSpPr>
          <p:cNvPr id="30" name="Hexagon 29"/>
          <p:cNvSpPr/>
          <p:nvPr/>
        </p:nvSpPr>
        <p:spPr>
          <a:xfrm>
            <a:off x="3429000" y="1054100"/>
            <a:ext cx="1651000" cy="1460500"/>
          </a:xfrm>
          <a:prstGeom prst="hexagon">
            <a:avLst/>
          </a:prstGeom>
          <a:solidFill>
            <a:srgbClr val="DEEAF6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116840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Microsoft YaHei"/>
                <a:ea typeface="Microsoft YaHei"/>
              </a:rPr>
              <a:t>⚙</a:t>
            </a:r>
          </a:p>
        </p:txBody>
      </p:sp>
      <p:sp>
        <p:nvSpPr>
          <p:cNvPr id="32" name="[sat1_name]"/>
          <p:cNvSpPr txBox="1"/>
          <p:nvPr/>
        </p:nvSpPr>
        <p:spPr>
          <a:xfrm>
            <a:off x="3619500" y="1517650"/>
            <a:ext cx="127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F4E79"/>
                </a:solidFill>
                <a:latin typeface="Microsoft YaHei"/>
                <a:ea typeface="Microsoft YaHei"/>
              </a:rPr>
              <a:t>智能矿山</a:t>
            </a:r>
          </a:p>
        </p:txBody>
      </p:sp>
      <p:sp>
        <p:nvSpPr>
          <p:cNvPr id="33" name="[sat1_desc]"/>
          <p:cNvSpPr txBox="1"/>
          <p:nvPr/>
        </p:nvSpPr>
        <p:spPr>
          <a:xfrm>
            <a:off x="3594100" y="1733550"/>
            <a:ext cx="1320800" cy="495299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掘进-主运-洗选全流程 AI 化, 井下作业人员减少 30%</a:t>
            </a:r>
          </a:p>
        </p:txBody>
      </p:sp>
      <p:sp>
        <p:nvSpPr>
          <p:cNvPr id="34" name="Hexagon 33"/>
          <p:cNvSpPr/>
          <p:nvPr/>
        </p:nvSpPr>
        <p:spPr>
          <a:xfrm>
            <a:off x="7112000" y="1054100"/>
            <a:ext cx="1651000" cy="1460500"/>
          </a:xfrm>
          <a:prstGeom prst="hexagon">
            <a:avLst/>
          </a:prstGeom>
          <a:solidFill>
            <a:srgbClr val="DEEAF6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7800" y="116840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1F4E79"/>
                </a:solidFill>
                <a:latin typeface="Microsoft YaHei"/>
                <a:ea typeface="Microsoft YaHei"/>
              </a:rPr>
              <a:t>☁</a:t>
            </a:r>
          </a:p>
        </p:txBody>
      </p:sp>
      <p:sp>
        <p:nvSpPr>
          <p:cNvPr id="36" name="[sat2_name]"/>
          <p:cNvSpPr txBox="1"/>
          <p:nvPr/>
        </p:nvSpPr>
        <p:spPr>
          <a:xfrm>
            <a:off x="7302500" y="1517650"/>
            <a:ext cx="127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F4E79"/>
                </a:solidFill>
                <a:latin typeface="Microsoft YaHei"/>
                <a:ea typeface="Microsoft YaHei"/>
              </a:rPr>
              <a:t>气象预报</a:t>
            </a:r>
          </a:p>
        </p:txBody>
      </p:sp>
      <p:sp>
        <p:nvSpPr>
          <p:cNvPr id="37" name="[sat2_desc]"/>
          <p:cNvSpPr txBox="1"/>
          <p:nvPr/>
        </p:nvSpPr>
        <p:spPr>
          <a:xfrm>
            <a:off x="7277100" y="1733550"/>
            <a:ext cx="1320800" cy="495299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1 小时级临近预报, 台风路径预测精度超传统数值模式</a:t>
            </a:r>
          </a:p>
        </p:txBody>
      </p:sp>
      <p:sp>
        <p:nvSpPr>
          <p:cNvPr id="38" name="Hexagon 37"/>
          <p:cNvSpPr/>
          <p:nvPr/>
        </p:nvSpPr>
        <p:spPr>
          <a:xfrm>
            <a:off x="8953500" y="2540000"/>
            <a:ext cx="1651000" cy="1460500"/>
          </a:xfrm>
          <a:prstGeom prst="hexagon">
            <a:avLst/>
          </a:prstGeom>
          <a:solidFill>
            <a:srgbClr val="DEEAF6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39300" y="2673350"/>
            <a:ext cx="279400" cy="279400"/>
          </a:xfrm>
          <a:prstGeom prst="ellipse">
            <a:avLst/>
          </a:prstGeom>
          <a:noFill/>
          <a:ln w="1651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92385" y="2726436"/>
            <a:ext cx="173228" cy="173228"/>
          </a:xfrm>
          <a:prstGeom prst="ellipse">
            <a:avLst/>
          </a:prstGeom>
          <a:noFill/>
          <a:ln w="1651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39883" y="2773934"/>
            <a:ext cx="78232" cy="78232"/>
          </a:xfrm>
          <a:prstGeom prst="ellipse">
            <a:avLst/>
          </a:prstGeom>
          <a:noFill/>
          <a:ln w="1651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[sat3_name]"/>
          <p:cNvSpPr txBox="1"/>
          <p:nvPr/>
        </p:nvSpPr>
        <p:spPr>
          <a:xfrm>
            <a:off x="9144000" y="3003550"/>
            <a:ext cx="127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F4E79"/>
                </a:solidFill>
                <a:latin typeface="Microsoft YaHei"/>
                <a:ea typeface="Microsoft YaHei"/>
              </a:rPr>
              <a:t>药物研发</a:t>
            </a:r>
          </a:p>
        </p:txBody>
      </p:sp>
      <p:sp>
        <p:nvSpPr>
          <p:cNvPr id="43" name="[sat3_desc]"/>
          <p:cNvSpPr txBox="1"/>
          <p:nvPr/>
        </p:nvSpPr>
        <p:spPr>
          <a:xfrm>
            <a:off x="9118600" y="3219450"/>
            <a:ext cx="1320800" cy="495299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先导药物筛选周期由数月缩短至 1 周, 成本降 70%</a:t>
            </a:r>
          </a:p>
        </p:txBody>
      </p:sp>
      <p:sp>
        <p:nvSpPr>
          <p:cNvPr id="44" name="Hexagon 43"/>
          <p:cNvSpPr/>
          <p:nvPr/>
        </p:nvSpPr>
        <p:spPr>
          <a:xfrm>
            <a:off x="7112000" y="4025900"/>
            <a:ext cx="1651000" cy="1460500"/>
          </a:xfrm>
          <a:prstGeom prst="hexagon">
            <a:avLst/>
          </a:prstGeom>
          <a:solidFill>
            <a:srgbClr val="DEEAF6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exagon 44"/>
          <p:cNvSpPr/>
          <p:nvPr/>
        </p:nvSpPr>
        <p:spPr>
          <a:xfrm rot="5400000">
            <a:off x="7797800" y="4159249"/>
            <a:ext cx="240284" cy="279400"/>
          </a:xfrm>
          <a:prstGeom prst="hexagon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97800" y="4159249"/>
            <a:ext cx="240284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7" name="[sat4_name]"/>
          <p:cNvSpPr txBox="1"/>
          <p:nvPr/>
        </p:nvSpPr>
        <p:spPr>
          <a:xfrm>
            <a:off x="7302500" y="4489450"/>
            <a:ext cx="127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F4E79"/>
                </a:solidFill>
                <a:latin typeface="Microsoft YaHei"/>
                <a:ea typeface="Microsoft YaHei"/>
              </a:rPr>
              <a:t>金融风控</a:t>
            </a:r>
          </a:p>
        </p:txBody>
      </p:sp>
      <p:sp>
        <p:nvSpPr>
          <p:cNvPr id="48" name="[sat4_desc]"/>
          <p:cNvSpPr txBox="1"/>
          <p:nvPr/>
        </p:nvSpPr>
        <p:spPr>
          <a:xfrm>
            <a:off x="7277100" y="4705350"/>
            <a:ext cx="1320800" cy="495299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风控报告自动生成, 单据审核处理效率提升 9 倍</a:t>
            </a:r>
          </a:p>
        </p:txBody>
      </p:sp>
      <p:sp>
        <p:nvSpPr>
          <p:cNvPr id="49" name="Hexagon 48"/>
          <p:cNvSpPr/>
          <p:nvPr/>
        </p:nvSpPr>
        <p:spPr>
          <a:xfrm>
            <a:off x="3429000" y="4025900"/>
            <a:ext cx="1651000" cy="1460500"/>
          </a:xfrm>
          <a:prstGeom prst="hexagon">
            <a:avLst/>
          </a:prstGeom>
          <a:solidFill>
            <a:srgbClr val="DEEAF6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414655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F4E79"/>
                </a:solidFill>
                <a:latin typeface="Microsoft YaHei"/>
                <a:ea typeface="Microsoft YaHei"/>
              </a:rPr>
              <a:t>⚡</a:t>
            </a:r>
          </a:p>
        </p:txBody>
      </p:sp>
      <p:sp>
        <p:nvSpPr>
          <p:cNvPr id="51" name="[sat5_name]"/>
          <p:cNvSpPr txBox="1"/>
          <p:nvPr/>
        </p:nvSpPr>
        <p:spPr>
          <a:xfrm>
            <a:off x="3619500" y="4489450"/>
            <a:ext cx="127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F4E79"/>
                </a:solidFill>
                <a:latin typeface="Microsoft YaHei"/>
                <a:ea typeface="Microsoft YaHei"/>
              </a:rPr>
              <a:t>智能制造</a:t>
            </a:r>
          </a:p>
        </p:txBody>
      </p:sp>
      <p:sp>
        <p:nvSpPr>
          <p:cNvPr id="52" name="[sat5_desc]"/>
          <p:cNvSpPr txBox="1"/>
          <p:nvPr/>
        </p:nvSpPr>
        <p:spPr>
          <a:xfrm>
            <a:off x="3594100" y="4705350"/>
            <a:ext cx="1320800" cy="495299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千变量排产求解 10 分钟出最优解, 产线利用率 +15%</a:t>
            </a:r>
          </a:p>
        </p:txBody>
      </p:sp>
      <p:sp>
        <p:nvSpPr>
          <p:cNvPr id="53" name="Hexagon 52"/>
          <p:cNvSpPr/>
          <p:nvPr/>
        </p:nvSpPr>
        <p:spPr>
          <a:xfrm>
            <a:off x="1587500" y="2540000"/>
            <a:ext cx="1651000" cy="1460500"/>
          </a:xfrm>
          <a:prstGeom prst="hexagon">
            <a:avLst/>
          </a:prstGeom>
          <a:solidFill>
            <a:srgbClr val="DEEAF6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81250" y="2667000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266950" y="2870200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495550" y="2870200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H="1">
            <a:off x="2298700" y="2698750"/>
            <a:ext cx="114300" cy="203200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413000" y="2698750"/>
            <a:ext cx="114300" cy="203200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298700" y="2901950"/>
            <a:ext cx="228600" cy="0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[sat6_name]"/>
          <p:cNvSpPr txBox="1"/>
          <p:nvPr/>
        </p:nvSpPr>
        <p:spPr>
          <a:xfrm>
            <a:off x="1778000" y="3003550"/>
            <a:ext cx="127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F4E79"/>
                </a:solidFill>
                <a:latin typeface="Microsoft YaHei"/>
                <a:ea typeface="Microsoft YaHei"/>
              </a:rPr>
              <a:t>铁路检测</a:t>
            </a:r>
          </a:p>
        </p:txBody>
      </p:sp>
      <p:sp>
        <p:nvSpPr>
          <p:cNvPr id="61" name="[sat6_desc]"/>
          <p:cNvSpPr txBox="1"/>
          <p:nvPr/>
        </p:nvSpPr>
        <p:spPr>
          <a:xfrm>
            <a:off x="1752600" y="3219450"/>
            <a:ext cx="1320800" cy="495299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TFDS 货车故障图像识别准确率 99.8%, 替代人工看图</a:t>
            </a:r>
          </a:p>
        </p:txBody>
      </p:sp>
      <p:sp>
        <p:nvSpPr>
          <p:cNvPr id="62" name="[method_title]"/>
          <p:cNvSpPr txBox="1"/>
          <p:nvPr/>
        </p:nvSpPr>
        <p:spPr>
          <a:xfrm>
            <a:off x="5143500" y="901700"/>
            <a:ext cx="19050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F4E79"/>
                </a:solidFill>
                <a:latin typeface="Microsoft YaHei"/>
                <a:ea typeface="Microsoft YaHei"/>
              </a:rPr>
              <a:t>规模复制方法论</a:t>
            </a:r>
          </a:p>
        </p:txBody>
      </p:sp>
      <p:sp>
        <p:nvSpPr>
          <p:cNvPr id="63" name="[method_bullets]"/>
          <p:cNvSpPr txBox="1"/>
          <p:nvPr/>
        </p:nvSpPr>
        <p:spPr>
          <a:xfrm>
            <a:off x="5219700" y="1092200"/>
            <a:ext cx="1778000" cy="7620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• L0: 千亿参数通用基座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• L1: 行业语料增量精调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• L2: 场景轻量化适配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• 工具链低代码快速交付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19700" y="4521200"/>
            <a:ext cx="1752600" cy="292100"/>
          </a:xfrm>
          <a:prstGeom prst="roundRect">
            <a:avLst/>
          </a:prstGeom>
          <a:solidFill>
            <a:srgbClr val="DEEAF6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[path_step1]"/>
          <p:cNvSpPr txBox="1"/>
          <p:nvPr/>
        </p:nvSpPr>
        <p:spPr>
          <a:xfrm>
            <a:off x="5219700" y="4521200"/>
            <a:ext cx="17526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1F4E79"/>
                </a:solidFill>
                <a:latin typeface="Microsoft YaHei"/>
                <a:ea typeface="Microsoft YaHei"/>
              </a:rPr>
              <a:t>场景准入: 价值数据双评估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096000" y="4813300"/>
            <a:ext cx="0" cy="127000"/>
          </a:xfrm>
          <a:prstGeom prst="line">
            <a:avLst/>
          </a:prstGeom>
          <a:ln w="1778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5219700" y="4940300"/>
            <a:ext cx="1752600" cy="292100"/>
          </a:xfrm>
          <a:prstGeom prst="roundRect">
            <a:avLst/>
          </a:prstGeom>
          <a:solidFill>
            <a:srgbClr val="DEEAF6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[path_step2]"/>
          <p:cNvSpPr txBox="1"/>
          <p:nvPr/>
        </p:nvSpPr>
        <p:spPr>
          <a:xfrm>
            <a:off x="5219700" y="4940300"/>
            <a:ext cx="17526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1F4E79"/>
                </a:solidFill>
                <a:latin typeface="Microsoft YaHei"/>
                <a:ea typeface="Microsoft YaHei"/>
              </a:rPr>
              <a:t>行业精调: 语料治理增量训练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096000" y="5232400"/>
            <a:ext cx="0" cy="127000"/>
          </a:xfrm>
          <a:prstGeom prst="line">
            <a:avLst/>
          </a:prstGeom>
          <a:ln w="1778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219700" y="5359400"/>
            <a:ext cx="1752600" cy="292100"/>
          </a:xfrm>
          <a:prstGeom prst="roundRect">
            <a:avLst/>
          </a:prstGeom>
          <a:solidFill>
            <a:srgbClr val="DEEAF6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[path_step3]"/>
          <p:cNvSpPr txBox="1"/>
          <p:nvPr/>
        </p:nvSpPr>
        <p:spPr>
          <a:xfrm>
            <a:off x="5219700" y="5359400"/>
            <a:ext cx="17526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1F4E79"/>
                </a:solidFill>
                <a:latin typeface="Microsoft YaHei"/>
                <a:ea typeface="Microsoft YaHei"/>
              </a:rPr>
              <a:t>规模复制: 模板化交付≤2周</a:t>
            </a:r>
          </a:p>
        </p:txBody>
      </p:sp>
      <p:sp>
        <p:nvSpPr>
          <p:cNvPr id="72" name="[support_title]"/>
          <p:cNvSpPr txBox="1"/>
          <p:nvPr/>
        </p:nvSpPr>
        <p:spPr>
          <a:xfrm>
            <a:off x="533400" y="4178300"/>
            <a:ext cx="15875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4E79"/>
                </a:solidFill>
                <a:latin typeface="Microsoft YaHei"/>
                <a:ea typeface="Microsoft YaHei"/>
              </a:rPr>
              <a:t>规模复制三保障</a:t>
            </a:r>
          </a:p>
        </p:txBody>
      </p:sp>
      <p:sp>
        <p:nvSpPr>
          <p:cNvPr id="73" name="[support_bullets]"/>
          <p:cNvSpPr txBox="1"/>
          <p:nvPr/>
        </p:nvSpPr>
        <p:spPr>
          <a:xfrm>
            <a:off x="533400" y="4368800"/>
            <a:ext cx="1587500" cy="7493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规模复制由三重保障托底: 200 余人专业服务团队负责驻场交付, 行业语料经合规体系全程治理, 伙伴生态联合交付并持续沉淀场景模板资产。</a:t>
            </a:r>
          </a:p>
        </p:txBody>
      </p:sp>
      <p:sp>
        <p:nvSpPr>
          <p:cNvPr id="74" name="[growth_chart_title]"/>
          <p:cNvSpPr txBox="1"/>
          <p:nvPr/>
        </p:nvSpPr>
        <p:spPr>
          <a:xfrm>
            <a:off x="10287000" y="4102099"/>
            <a:ext cx="15240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F4E79"/>
                </a:solidFill>
                <a:latin typeface="Microsoft YaHei"/>
                <a:ea typeface="Microsoft YaHei"/>
              </a:rPr>
              <a:t>复制场景数 (个)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0325100" y="5118100"/>
            <a:ext cx="14224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0467340" y="4932172"/>
            <a:ext cx="237066" cy="185928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48806" y="4767072"/>
            <a:ext cx="474133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120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48806" y="5156200"/>
            <a:ext cx="474133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941473" y="4715256"/>
            <a:ext cx="237066" cy="40284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822940" y="4550156"/>
            <a:ext cx="474133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260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22940" y="5156200"/>
            <a:ext cx="474133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415606" y="4498340"/>
            <a:ext cx="237066" cy="61975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297073" y="4333240"/>
            <a:ext cx="474133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400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97073" y="5156200"/>
            <a:ext cx="474133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8000" y="952500"/>
            <a:ext cx="1333500" cy="35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609600" y="1244600"/>
            <a:ext cx="241300" cy="0"/>
          </a:xfrm>
          <a:prstGeom prst="line">
            <a:avLst/>
          </a:prstGeom>
          <a:ln w="15240">
            <a:solidFill>
              <a:srgbClr val="B9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09600" y="1003300"/>
            <a:ext cx="0" cy="241300"/>
          </a:xfrm>
          <a:prstGeom prst="line">
            <a:avLst/>
          </a:prstGeom>
          <a:ln w="15240">
            <a:solidFill>
              <a:srgbClr val="B9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31536" y="1036204"/>
            <a:ext cx="197427" cy="175491"/>
          </a:xfrm>
          <a:prstGeom prst="line">
            <a:avLst/>
          </a:prstGeom>
          <a:ln w="20320">
            <a:solidFill>
              <a:srgbClr val="B90A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[stat1]"/>
          <p:cNvSpPr txBox="1"/>
          <p:nvPr/>
        </p:nvSpPr>
        <p:spPr>
          <a:xfrm>
            <a:off x="889000" y="952500"/>
            <a:ext cx="9144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90A0A"/>
                </a:solidFill>
                <a:latin typeface="Microsoft YaHei"/>
                <a:ea typeface="Microsoft YaHei"/>
              </a:rPr>
              <a:t>覆盖行业 30+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08000" y="1435100"/>
            <a:ext cx="1333500" cy="35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09600" y="148590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9600" y="1474931"/>
            <a:ext cx="2413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90A0A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93" name="[stat2]"/>
          <p:cNvSpPr txBox="1"/>
          <p:nvPr/>
        </p:nvSpPr>
        <p:spPr>
          <a:xfrm>
            <a:off x="889000" y="1435100"/>
            <a:ext cx="9144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90A0A"/>
                </a:solidFill>
                <a:latin typeface="Microsoft YaHei"/>
                <a:ea typeface="Microsoft YaHei"/>
              </a:rPr>
              <a:t>复制场景 400+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668000" y="952500"/>
            <a:ext cx="1016000" cy="40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0A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668000" y="952500"/>
            <a:ext cx="1016000" cy="406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B90A0A"/>
                </a:solidFill>
                <a:latin typeface="Microsoft YaHei"/>
                <a:ea typeface="Microsoft YaHei"/>
              </a:rPr>
              <a:t>×N 规模复制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350500" y="1485900"/>
            <a:ext cx="1333500" cy="35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452100" y="1525731"/>
            <a:ext cx="2413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1" i="0">
                <a:solidFill>
                  <a:srgbClr val="B90A0A"/>
                </a:solidFill>
                <a:latin typeface="Microsoft YaHei"/>
                <a:ea typeface="Microsoft YaHei"/>
              </a:rPr>
              <a:t>⚡</a:t>
            </a:r>
          </a:p>
        </p:txBody>
      </p:sp>
      <p:sp>
        <p:nvSpPr>
          <p:cNvPr id="98" name="[stat3]"/>
          <p:cNvSpPr txBox="1"/>
          <p:nvPr/>
        </p:nvSpPr>
        <p:spPr>
          <a:xfrm>
            <a:off x="10731500" y="1485900"/>
            <a:ext cx="9144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90A0A"/>
                </a:solidFill>
                <a:latin typeface="Microsoft YaHei"/>
                <a:ea typeface="Microsoft YaHei"/>
              </a:rPr>
              <a:t>上线周期 -80%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350500" y="1968500"/>
            <a:ext cx="1333500" cy="35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452100" y="2019300"/>
            <a:ext cx="241300" cy="7677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452100" y="2096077"/>
            <a:ext cx="241300" cy="7677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52100" y="2172854"/>
            <a:ext cx="241300" cy="7677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[stat4]"/>
          <p:cNvSpPr txBox="1"/>
          <p:nvPr/>
        </p:nvSpPr>
        <p:spPr>
          <a:xfrm>
            <a:off x="10731500" y="1968500"/>
            <a:ext cx="9144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90A0A"/>
                </a:solidFill>
                <a:latin typeface="Microsoft YaHei"/>
                <a:ea typeface="Microsoft YaHei"/>
              </a:rPr>
              <a:t>精调语料 10TB+</a:t>
            </a:r>
          </a:p>
        </p:txBody>
      </p:sp>
      <p:sp>
        <p:nvSpPr>
          <p:cNvPr id="104" name="[footnote]"/>
          <p:cNvSpPr txBox="1"/>
          <p:nvPr/>
        </p:nvSpPr>
        <p:spPr>
          <a:xfrm>
            <a:off x="508000" y="5435600"/>
            <a:ext cx="29210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* 基于盘古 5.0, 数据截至 2026H1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541000" y="5537200"/>
            <a:ext cx="381000" cy="0"/>
          </a:xfrm>
          <a:prstGeom prst="line">
            <a:avLst/>
          </a:prstGeom>
          <a:ln w="15240">
            <a:solidFill>
              <a:srgbClr val="1F4E7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960100" y="5448300"/>
            <a:ext cx="762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能力辐射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1000" y="5816600"/>
            <a:ext cx="1143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81000" y="5816600"/>
            <a:ext cx="50800" cy="4826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[value_concl]"/>
          <p:cNvSpPr txBox="1"/>
          <p:nvPr/>
        </p:nvSpPr>
        <p:spPr>
          <a:xfrm>
            <a:off x="584200" y="5816600"/>
            <a:ext cx="86360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F4E79"/>
                </a:solidFill>
                <a:latin typeface="Microsoft YaHei"/>
                <a:ea typeface="Microsoft YaHei"/>
              </a:rPr>
              <a:t>一个基座模型 × 行业语料精调 → N 场景规模复制, 单场景定制成本下降 90%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398000" y="5905500"/>
            <a:ext cx="2222500" cy="3048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[kpi1]"/>
          <p:cNvSpPr txBox="1"/>
          <p:nvPr/>
        </p:nvSpPr>
        <p:spPr>
          <a:xfrm>
            <a:off x="9398000" y="5905500"/>
            <a:ext cx="2222500" cy="304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单场景定制成本 -90%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
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[chip]"/>
          <p:cNvSpPr txBox="1"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算力底座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1473200" y="228600"/>
            <a:ext cx="92075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90A0A"/>
                </a:solidFill>
                <a:latin typeface="Microsoft YaHei"/>
                <a:ea typeface="Microsoft YaHei"/>
              </a:rPr>
              <a:t>Atlas 900 A3 SuperCluster: 万卡级训练集群, 有效算力利用率提升至 45%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366500" y="304800"/>
            <a:ext cx="419100" cy="241300"/>
          </a:xfrm>
          <a:prstGeom prst="line">
            <a:avLst/>
          </a:prstGeom>
          <a:ln w="2286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[pos_lead]"/>
          <p:cNvSpPr txBox="1"/>
          <p:nvPr/>
        </p:nvSpPr>
        <p:spPr>
          <a:xfrm>
            <a:off x="3937000" y="914400"/>
            <a:ext cx="4318000" cy="520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F4E79"/>
                </a:solidFill>
                <a:latin typeface="Microsoft YaHei"/>
                <a:ea typeface="Microsoft YaHei"/>
              </a:rPr>
              <a:t>面向万亿参数大模型训练的新一代 AI 算力底座,</a:t>
            </a:r>
          </a:p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F4E79"/>
                </a:solidFill>
                <a:latin typeface="Microsoft YaHei"/>
                <a:ea typeface="Microsoft YaHei"/>
              </a:rPr>
              <a:t>算/网/存/电全栈协同设计, 开箱即训</a:t>
            </a:r>
          </a:p>
        </p:txBody>
      </p:sp>
      <p:sp>
        <p:nvSpPr>
          <p:cNvPr id="7" name="[center_img]"/>
          <p:cNvSpPr/>
          <p:nvPr/>
        </p:nvSpPr>
        <p:spPr>
          <a:xfrm>
            <a:off x="3937000" y="1587500"/>
            <a:ext cx="4318000" cy="304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7000" y="3009900"/>
            <a:ext cx="4318000" cy="203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</a:rPr>
              <a:t>AI 配图区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1333500"/>
            <a:ext cx="3175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1109" y="1500909"/>
            <a:ext cx="173181" cy="173181"/>
          </a:xfrm>
          <a:prstGeom prst="rect">
            <a:avLst/>
          </a:prstGeom>
          <a:solidFill>
            <a:srgbClr val="FFFFFF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7290" y="1547090"/>
            <a:ext cx="80818" cy="80818"/>
          </a:xfrm>
          <a:prstGeom prst="rect">
            <a:avLst/>
          </a:prstGeom>
          <a:solidFill>
            <a:srgbClr val="DEEAF6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89972" y="1460500"/>
            <a:ext cx="0" cy="40409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9972" y="1674090"/>
            <a:ext cx="0" cy="4041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20700" y="1529772"/>
            <a:ext cx="40409" cy="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4290" y="1529772"/>
            <a:ext cx="40410" cy="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7700" y="1460500"/>
            <a:ext cx="0" cy="40409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7700" y="1674090"/>
            <a:ext cx="0" cy="4041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0700" y="1587500"/>
            <a:ext cx="40409" cy="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4290" y="1587500"/>
            <a:ext cx="40410" cy="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5427" y="1460500"/>
            <a:ext cx="0" cy="40409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05427" y="1674090"/>
            <a:ext cx="0" cy="4041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0700" y="1645227"/>
            <a:ext cx="40409" cy="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4290" y="1645227"/>
            <a:ext cx="40410" cy="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[c1_name]"/>
          <p:cNvSpPr txBox="1"/>
          <p:nvPr/>
        </p:nvSpPr>
        <p:spPr>
          <a:xfrm>
            <a:off x="863600" y="1447800"/>
            <a:ext cx="25400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62626"/>
                </a:solidFill>
                <a:latin typeface="Microsoft YaHei"/>
                <a:ea typeface="Microsoft YaHei"/>
              </a:rPr>
              <a:t>澎湃算力</a:t>
            </a:r>
          </a:p>
        </p:txBody>
      </p:sp>
      <p:sp>
        <p:nvSpPr>
          <p:cNvPr id="25" name="[c1_desc]"/>
          <p:cNvSpPr txBox="1"/>
          <p:nvPr/>
        </p:nvSpPr>
        <p:spPr>
          <a:xfrm>
            <a:off x="520700" y="1816100"/>
            <a:ext cx="2895600" cy="482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Microsoft YaHei"/>
                <a:ea typeface="Microsoft YaHei"/>
              </a:rPr>
              <a:t>单集群 8192 张昇腾卡构成超节点, 训练算力达 256 PFLOPS,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Microsoft YaHei"/>
                <a:ea typeface="Microsoft YaHei"/>
              </a:rPr>
              <a:t>支持万亿参数 MoE 模型全参数训练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0700" y="2387600"/>
            <a:ext cx="28956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20700" y="2489200"/>
            <a:ext cx="1524000" cy="2794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[c1_kpi]"/>
          <p:cNvSpPr txBox="1"/>
          <p:nvPr/>
        </p:nvSpPr>
        <p:spPr>
          <a:xfrm>
            <a:off x="520700" y="2489200"/>
            <a:ext cx="15240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62626"/>
                </a:solidFill>
                <a:latin typeface="Microsoft YaHei"/>
                <a:ea typeface="Microsoft YaHei"/>
              </a:rPr>
              <a:t>256 PFLOPS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36000" y="1333500"/>
            <a:ext cx="3175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73836" y="1454727"/>
            <a:ext cx="57727" cy="57727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69927" y="1639454"/>
            <a:ext cx="57727" cy="57727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77745" y="1639454"/>
            <a:ext cx="57727" cy="57727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>
            <a:off x="8798790" y="1483590"/>
            <a:ext cx="103910" cy="184728"/>
          </a:xfrm>
          <a:prstGeom prst="line">
            <a:avLst/>
          </a:prstGeom>
          <a:ln w="1270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902700" y="1483590"/>
            <a:ext cx="103909" cy="184728"/>
          </a:xfrm>
          <a:prstGeom prst="line">
            <a:avLst/>
          </a:prstGeom>
          <a:ln w="1270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798790" y="1668318"/>
            <a:ext cx="207819" cy="0"/>
          </a:xfrm>
          <a:prstGeom prst="line">
            <a:avLst/>
          </a:prstGeom>
          <a:ln w="1270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[c2_name]"/>
          <p:cNvSpPr txBox="1"/>
          <p:nvPr/>
        </p:nvSpPr>
        <p:spPr>
          <a:xfrm>
            <a:off x="9118600" y="1447800"/>
            <a:ext cx="25400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62626"/>
                </a:solidFill>
                <a:latin typeface="Microsoft YaHei"/>
                <a:ea typeface="Microsoft YaHei"/>
              </a:rPr>
              <a:t>高速互联</a:t>
            </a:r>
          </a:p>
        </p:txBody>
      </p:sp>
      <p:sp>
        <p:nvSpPr>
          <p:cNvPr id="37" name="[c2_desc]"/>
          <p:cNvSpPr txBox="1"/>
          <p:nvPr/>
        </p:nvSpPr>
        <p:spPr>
          <a:xfrm>
            <a:off x="8775700" y="1816100"/>
            <a:ext cx="2895600" cy="482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Microsoft YaHei"/>
                <a:ea typeface="Microsoft YaHei"/>
              </a:rPr>
              <a:t>灵衢总线实现卡间 392GB/s 全互联, 跨节点通信时延降低 60%,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Microsoft YaHei"/>
                <a:ea typeface="Microsoft YaHei"/>
              </a:rPr>
              <a:t>打破集群规模扩展的互联墙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775700" y="2387600"/>
            <a:ext cx="28956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775700" y="2489200"/>
            <a:ext cx="1524000" cy="2794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[c2_kpi]"/>
          <p:cNvSpPr txBox="1"/>
          <p:nvPr/>
        </p:nvSpPr>
        <p:spPr>
          <a:xfrm>
            <a:off x="8775700" y="2489200"/>
            <a:ext cx="15240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62626"/>
                </a:solidFill>
                <a:latin typeface="Microsoft YaHei"/>
                <a:ea typeface="Microsoft YaHei"/>
              </a:rPr>
              <a:t>带宽 392GB/s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3302000"/>
            <a:ext cx="3175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0700" y="3411681"/>
            <a:ext cx="254000" cy="254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F4E79"/>
                </a:solidFill>
                <a:latin typeface="Microsoft YaHei"/>
                <a:ea typeface="Microsoft YaHei"/>
              </a:rPr>
              <a:t>⚙</a:t>
            </a:r>
          </a:p>
        </p:txBody>
      </p:sp>
      <p:sp>
        <p:nvSpPr>
          <p:cNvPr id="43" name="[c3_name]"/>
          <p:cNvSpPr txBox="1"/>
          <p:nvPr/>
        </p:nvSpPr>
        <p:spPr>
          <a:xfrm>
            <a:off x="863600" y="3416300"/>
            <a:ext cx="25400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62626"/>
                </a:solidFill>
                <a:latin typeface="Microsoft YaHei"/>
                <a:ea typeface="Microsoft YaHei"/>
              </a:rPr>
              <a:t>软硬协同</a:t>
            </a:r>
          </a:p>
        </p:txBody>
      </p:sp>
      <p:sp>
        <p:nvSpPr>
          <p:cNvPr id="44" name="[c3_desc]"/>
          <p:cNvSpPr txBox="1"/>
          <p:nvPr/>
        </p:nvSpPr>
        <p:spPr>
          <a:xfrm>
            <a:off x="520700" y="3784600"/>
            <a:ext cx="2895600" cy="482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Microsoft YaHei"/>
                <a:ea typeface="Microsoft YaHei"/>
              </a:rPr>
              <a:t>CANN 算子深度优化 + MindSpore 并行策略自动搜索,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Microsoft YaHei"/>
                <a:ea typeface="Microsoft YaHei"/>
              </a:rPr>
              <a:t>大模型训练 MFU 从 30% 提升至 45%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20700" y="4356100"/>
            <a:ext cx="28956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20700" y="4457700"/>
            <a:ext cx="1524000" cy="2794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[c3_kpi]"/>
          <p:cNvSpPr txBox="1"/>
          <p:nvPr/>
        </p:nvSpPr>
        <p:spPr>
          <a:xfrm>
            <a:off x="520700" y="4457700"/>
            <a:ext cx="15240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62626"/>
                </a:solidFill>
                <a:latin typeface="Microsoft YaHei"/>
                <a:ea typeface="Microsoft YaHei"/>
              </a:rPr>
              <a:t>MFU 达 45%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36000" y="3302000"/>
            <a:ext cx="3175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Hexagon 48"/>
          <p:cNvSpPr/>
          <p:nvPr/>
        </p:nvSpPr>
        <p:spPr>
          <a:xfrm rot="5400000">
            <a:off x="8775700" y="3429000"/>
            <a:ext cx="218439" cy="254000"/>
          </a:xfrm>
          <a:prstGeom prst="hexagon">
            <a:avLst/>
          </a:prstGeom>
          <a:solidFill>
            <a:srgbClr val="FFFFFF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5700" y="3429000"/>
            <a:ext cx="218439" cy="254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51" name="[c4_name]"/>
          <p:cNvSpPr txBox="1"/>
          <p:nvPr/>
        </p:nvSpPr>
        <p:spPr>
          <a:xfrm>
            <a:off x="9118600" y="3416300"/>
            <a:ext cx="25400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62626"/>
                </a:solidFill>
                <a:latin typeface="Microsoft YaHei"/>
                <a:ea typeface="Microsoft YaHei"/>
              </a:rPr>
              <a:t>稳定可靠</a:t>
            </a:r>
          </a:p>
        </p:txBody>
      </p:sp>
      <p:sp>
        <p:nvSpPr>
          <p:cNvPr id="52" name="[c4_desc]"/>
          <p:cNvSpPr txBox="1"/>
          <p:nvPr/>
        </p:nvSpPr>
        <p:spPr>
          <a:xfrm>
            <a:off x="8775700" y="3784600"/>
            <a:ext cx="2895600" cy="482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Microsoft YaHei"/>
                <a:ea typeface="Microsoft YaHei"/>
              </a:rPr>
              <a:t>全链路故障秒级感知, 断点续训自动恢复小于 10 分钟,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Microsoft YaHei"/>
                <a:ea typeface="Microsoft YaHei"/>
              </a:rPr>
              <a:t>支撑千卡任务 30 天连续训练无中断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775700" y="4356100"/>
            <a:ext cx="28956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8775700" y="4457700"/>
            <a:ext cx="1524000" cy="2794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[c4_kpi]"/>
          <p:cNvSpPr txBox="1"/>
          <p:nvPr/>
        </p:nvSpPr>
        <p:spPr>
          <a:xfrm>
            <a:off x="8775700" y="4457700"/>
            <a:ext cx="15240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62626"/>
                </a:solidFill>
                <a:latin typeface="Microsoft YaHei"/>
                <a:ea typeface="Microsoft YaHei"/>
              </a:rPr>
              <a:t>恢复 &lt;10min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3556000" y="2159000"/>
            <a:ext cx="381000" cy="31750"/>
          </a:xfrm>
          <a:prstGeom prst="line">
            <a:avLst/>
          </a:prstGeom>
          <a:ln w="1524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3905249" y="2127250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3556000" y="4064000"/>
            <a:ext cx="381000" cy="95249"/>
          </a:xfrm>
          <a:prstGeom prst="line">
            <a:avLst/>
          </a:prstGeom>
          <a:ln w="1524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3905249" y="4032250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 flipH="1" flipV="1">
            <a:off x="8255000" y="2159000"/>
            <a:ext cx="381000" cy="31750"/>
          </a:xfrm>
          <a:prstGeom prst="line">
            <a:avLst/>
          </a:prstGeom>
          <a:ln w="1524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8223250" y="2127250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H="1" flipV="1">
            <a:off x="8255000" y="4064000"/>
            <a:ext cx="381000" cy="95249"/>
          </a:xfrm>
          <a:prstGeom prst="line">
            <a:avLst/>
          </a:prstGeom>
          <a:ln w="1524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8223250" y="4032250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[img_caption]"/>
          <p:cNvSpPr txBox="1"/>
          <p:nvPr/>
        </p:nvSpPr>
        <p:spPr>
          <a:xfrm>
            <a:off x="3937000" y="4711700"/>
            <a:ext cx="4318000" cy="2159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图: Atlas 900 A3 SuperCluster 液冷整机柜集群机房实景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37000" y="5029200"/>
            <a:ext cx="1333500" cy="3302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[img_kpi1]"/>
          <p:cNvSpPr txBox="1"/>
          <p:nvPr/>
        </p:nvSpPr>
        <p:spPr>
          <a:xfrm>
            <a:off x="3937000" y="5029200"/>
            <a:ext cx="1333500" cy="330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62626"/>
                </a:solidFill>
                <a:latin typeface="Microsoft YaHei"/>
                <a:ea typeface="Microsoft YaHei"/>
              </a:rPr>
              <a:t>单集群 8192 卡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29250" y="5029200"/>
            <a:ext cx="1333500" cy="3302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[img_kpi2]"/>
          <p:cNvSpPr txBox="1"/>
          <p:nvPr/>
        </p:nvSpPr>
        <p:spPr>
          <a:xfrm>
            <a:off x="5429250" y="5029200"/>
            <a:ext cx="1333500" cy="330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62626"/>
                </a:solidFill>
                <a:latin typeface="Microsoft YaHei"/>
                <a:ea typeface="Microsoft YaHei"/>
              </a:rPr>
              <a:t>训练 MFU 45%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921500" y="5029200"/>
            <a:ext cx="1333500" cy="3302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[img_kpi3]"/>
          <p:cNvSpPr txBox="1"/>
          <p:nvPr/>
        </p:nvSpPr>
        <p:spPr>
          <a:xfrm>
            <a:off x="6921500" y="5029200"/>
            <a:ext cx="1333500" cy="330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62626"/>
                </a:solidFill>
                <a:latin typeface="Microsoft YaHei"/>
                <a:ea typeface="Microsoft YaHei"/>
              </a:rPr>
              <a:t>故障恢复 &lt;10min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1000" y="5511800"/>
            <a:ext cx="11430000" cy="609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81000" y="5511800"/>
            <a:ext cx="38100" cy="6096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[concl]"/>
          <p:cNvSpPr txBox="1"/>
          <p:nvPr/>
        </p:nvSpPr>
        <p:spPr>
          <a:xfrm>
            <a:off x="584200" y="5588000"/>
            <a:ext cx="9398000" cy="4572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</a:rPr>
              <a:t>以超节点架构同时打破算力墙与互联墙, 支撑万亿参数模型 30 天连续训练, 下一步向 3.2 万卡集群规模演进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160000" y="5638800"/>
            <a:ext cx="1524000" cy="3556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[concl_kpi]"/>
          <p:cNvSpPr txBox="1"/>
          <p:nvPr/>
        </p:nvSpPr>
        <p:spPr>
          <a:xfrm>
            <a:off x="10160000" y="5638800"/>
            <a:ext cx="15240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262626"/>
                </a:solidFill>
                <a:latin typeface="Microsoft YaHei"/>
                <a:ea typeface="Microsoft YaHei"/>
              </a:rPr>
              <a:t>已商用 11 个集群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
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1000" y="279400"/>
            <a:ext cx="952500" cy="2794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[chip]"/>
          <p:cNvSpPr txBox="1"/>
          <p:nvPr/>
        </p:nvSpPr>
        <p:spPr>
          <a:xfrm>
            <a:off x="381000" y="279400"/>
            <a:ext cx="9525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自智网络</a:t>
            </a:r>
          </a:p>
        </p:txBody>
      </p:sp>
      <p:sp>
        <p:nvSpPr>
          <p:cNvPr id="4" name="[title_main]"/>
          <p:cNvSpPr txBox="1"/>
          <p:nvPr/>
        </p:nvSpPr>
        <p:spPr>
          <a:xfrm>
            <a:off x="1473200" y="228600"/>
            <a:ext cx="9207500" cy="3683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B90A0A"/>
                </a:solidFill>
                <a:latin typeface="Microsoft YaHei"/>
                <a:ea typeface="Microsoft YaHei"/>
              </a:rPr>
              <a:t>自智网络演进: L3 条件自治规模商用, 2028 迈向 L4 高度自治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1366500" y="304800"/>
            <a:ext cx="419100" cy="241300"/>
          </a:xfrm>
          <a:prstGeom prst="line">
            <a:avLst/>
          </a:prstGeom>
          <a:ln w="22860">
            <a:solidFill>
              <a:srgbClr val="B90A0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98500" y="6102350"/>
            <a:ext cx="8191500" cy="0"/>
          </a:xfrm>
          <a:prstGeom prst="line">
            <a:avLst/>
          </a:prstGeom>
          <a:ln w="12700">
            <a:solidFill>
              <a:srgbClr val="BFBF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762000" y="4699000"/>
            <a:ext cx="1568450" cy="1397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762500"/>
            <a:ext cx="1568450" cy="254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 i="0">
                <a:solidFill>
                  <a:srgbClr val="262626"/>
                </a:solidFill>
                <a:latin typeface="Microsoft YaHei"/>
                <a:ea typeface="Microsoft YaHei"/>
              </a:rPr>
              <a:t>L1</a:t>
            </a:r>
          </a:p>
        </p:txBody>
      </p:sp>
      <p:sp>
        <p:nvSpPr>
          <p:cNvPr id="9" name="[lv1_name]"/>
          <p:cNvSpPr txBox="1"/>
          <p:nvPr/>
        </p:nvSpPr>
        <p:spPr>
          <a:xfrm>
            <a:off x="825500" y="5029200"/>
            <a:ext cx="1441450" cy="203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262626"/>
                </a:solidFill>
                <a:latin typeface="Microsoft YaHei"/>
                <a:ea typeface="Microsoft YaHei"/>
              </a:rPr>
              <a:t>辅助运维</a:t>
            </a:r>
          </a:p>
        </p:txBody>
      </p:sp>
      <p:sp>
        <p:nvSpPr>
          <p:cNvPr id="10" name="[lv1_desc]"/>
          <p:cNvSpPr txBox="1"/>
          <p:nvPr/>
        </p:nvSpPr>
        <p:spPr>
          <a:xfrm>
            <a:off x="787400" y="3810000"/>
            <a:ext cx="1517650" cy="838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595959"/>
                </a:solidFill>
                <a:latin typeface="Microsoft YaHei"/>
                <a:ea typeface="Microsoft YaHei"/>
              </a:rPr>
              <a:t>人工为主, 系统仅提供数据采集与监控工具, 排障依赖个人经验, 跨部门工单流转周期以天计</a:t>
            </a:r>
          </a:p>
        </p:txBody>
      </p:sp>
      <p:sp>
        <p:nvSpPr>
          <p:cNvPr id="11" name="Oval 10"/>
          <p:cNvSpPr/>
          <p:nvPr/>
        </p:nvSpPr>
        <p:spPr>
          <a:xfrm>
            <a:off x="1490344" y="5613400"/>
            <a:ext cx="111760" cy="11176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ord 11"/>
          <p:cNvSpPr/>
          <p:nvPr/>
        </p:nvSpPr>
        <p:spPr>
          <a:xfrm>
            <a:off x="1431925" y="5739130"/>
            <a:ext cx="228600" cy="223520"/>
          </a:xfrm>
          <a:prstGeom prst="chord">
            <a:avLst>
              <a:gd name="adj1" fmla="val 18000000"/>
              <a:gd name="adj2" fmla="val 0"/>
            </a:avLst>
          </a:prstGeom>
          <a:solidFill>
            <a:srgbClr val="FFFFFF"/>
          </a:solidFill>
          <a:ln w="1778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6159500"/>
            <a:ext cx="1568450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595959"/>
                </a:solidFill>
                <a:latin typeface="Microsoft YaHei"/>
                <a:ea typeface="Microsoft YaHei"/>
              </a:rPr>
              <a:t>2023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68550" y="3937000"/>
            <a:ext cx="1568450" cy="2159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68550" y="4000500"/>
            <a:ext cx="1568450" cy="254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 i="0">
                <a:solidFill>
                  <a:srgbClr val="262626"/>
                </a:solidFill>
                <a:latin typeface="Microsoft YaHei"/>
                <a:ea typeface="Microsoft YaHei"/>
              </a:rPr>
              <a:t>L2</a:t>
            </a:r>
          </a:p>
        </p:txBody>
      </p:sp>
      <p:sp>
        <p:nvSpPr>
          <p:cNvPr id="16" name="[lv2_name]"/>
          <p:cNvSpPr txBox="1"/>
          <p:nvPr/>
        </p:nvSpPr>
        <p:spPr>
          <a:xfrm>
            <a:off x="2432050" y="4267200"/>
            <a:ext cx="1441450" cy="203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262626"/>
                </a:solidFill>
                <a:latin typeface="Microsoft YaHei"/>
                <a:ea typeface="Microsoft YaHei"/>
              </a:rPr>
              <a:t>部分自治</a:t>
            </a:r>
          </a:p>
        </p:txBody>
      </p:sp>
      <p:sp>
        <p:nvSpPr>
          <p:cNvPr id="17" name="[lv2_desc]"/>
          <p:cNvSpPr txBox="1"/>
          <p:nvPr/>
        </p:nvSpPr>
        <p:spPr>
          <a:xfrm>
            <a:off x="2393950" y="3048000"/>
            <a:ext cx="1517650" cy="838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595959"/>
                </a:solidFill>
                <a:latin typeface="Microsoft YaHei"/>
                <a:ea typeface="Microsoft YaHei"/>
              </a:rPr>
              <a:t>高频重复任务脚本化执行, 配置下发与例行巡检自动化, 故障定界仍依赖专家经验, 夜间值守压力大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51175" y="4851400"/>
            <a:ext cx="203200" cy="279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3089275" y="4927600"/>
            <a:ext cx="127000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89275" y="4991100"/>
            <a:ext cx="127000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089275" y="5054600"/>
            <a:ext cx="127000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[lv2_metric_label]"/>
          <p:cNvSpPr txBox="1"/>
          <p:nvPr/>
        </p:nvSpPr>
        <p:spPr>
          <a:xfrm>
            <a:off x="2368550" y="5207000"/>
            <a:ext cx="1568450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icrosoft YaHei"/>
                <a:ea typeface="Microsoft YaHei"/>
              </a:rPr>
              <a:t>现网渗透率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68550" y="5359400"/>
            <a:ext cx="1568450" cy="254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100" b="1" i="0">
                <a:solidFill>
                  <a:srgbClr val="262626"/>
                </a:solidFill>
                <a:latin typeface="Microsoft YaHei"/>
                <a:ea typeface="Microsoft YaHei"/>
              </a:rPr>
              <a:t>68%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68550" y="6159500"/>
            <a:ext cx="1568450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595959"/>
                </a:solidFill>
                <a:latin typeface="Microsoft YaHei"/>
                <a:ea typeface="Microsoft YaHei"/>
              </a:rPr>
              <a:t>2024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5100" y="3175000"/>
            <a:ext cx="1568450" cy="2921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5100" y="3238500"/>
            <a:ext cx="1568450" cy="254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L3</a:t>
            </a:r>
          </a:p>
        </p:txBody>
      </p:sp>
      <p:sp>
        <p:nvSpPr>
          <p:cNvPr id="27" name="[lv3_name]"/>
          <p:cNvSpPr txBox="1"/>
          <p:nvPr/>
        </p:nvSpPr>
        <p:spPr>
          <a:xfrm>
            <a:off x="4038600" y="3505200"/>
            <a:ext cx="1441450" cy="203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</a:rPr>
              <a:t>条件自治</a:t>
            </a:r>
          </a:p>
        </p:txBody>
      </p:sp>
      <p:sp>
        <p:nvSpPr>
          <p:cNvPr id="28" name="[lv3_desc]"/>
          <p:cNvSpPr txBox="1"/>
          <p:nvPr/>
        </p:nvSpPr>
        <p:spPr>
          <a:xfrm>
            <a:off x="4064000" y="3759199"/>
            <a:ext cx="1390650" cy="6096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FFFFFF"/>
                </a:solidFill>
                <a:latin typeface="Microsoft YaHei"/>
                <a:ea typeface="Microsoft YaHei"/>
              </a:rPr>
              <a:t>意图驱动闭环: 已知场景自动决策、自动执行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9625" y="4527550"/>
            <a:ext cx="2794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800" b="1" i="0">
                <a:solidFill>
                  <a:srgbClr val="FFFFFF"/>
                </a:solidFill>
                <a:latin typeface="Microsoft YaHei"/>
                <a:ea typeface="Microsoft YaHei"/>
              </a:rPr>
              <a:t>⚙</a:t>
            </a:r>
          </a:p>
        </p:txBody>
      </p:sp>
      <p:sp>
        <p:nvSpPr>
          <p:cNvPr id="30" name="[lv3_metric_label]"/>
          <p:cNvSpPr txBox="1"/>
          <p:nvPr/>
        </p:nvSpPr>
        <p:spPr>
          <a:xfrm>
            <a:off x="3975100" y="5207000"/>
            <a:ext cx="1568450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</a:rPr>
              <a:t>现网渗透率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75100" y="5359400"/>
            <a:ext cx="1568450" cy="254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</a:rPr>
              <a:t>30%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5100" y="6159500"/>
            <a:ext cx="1568450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595959"/>
                </a:solidFill>
                <a:latin typeface="Microsoft YaHei"/>
                <a:ea typeface="Microsoft YaHei"/>
              </a:rPr>
              <a:t>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81650" y="2413000"/>
            <a:ext cx="1568450" cy="3683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81650" y="2476500"/>
            <a:ext cx="1568450" cy="254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L4</a:t>
            </a:r>
          </a:p>
        </p:txBody>
      </p:sp>
      <p:sp>
        <p:nvSpPr>
          <p:cNvPr id="35" name="[lv4_name]"/>
          <p:cNvSpPr txBox="1"/>
          <p:nvPr/>
        </p:nvSpPr>
        <p:spPr>
          <a:xfrm>
            <a:off x="5645150" y="2743200"/>
            <a:ext cx="1441450" cy="203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</a:rPr>
              <a:t>高度自治</a:t>
            </a:r>
          </a:p>
        </p:txBody>
      </p:sp>
      <p:sp>
        <p:nvSpPr>
          <p:cNvPr id="36" name="[lv4_desc]"/>
          <p:cNvSpPr txBox="1"/>
          <p:nvPr/>
        </p:nvSpPr>
        <p:spPr>
          <a:xfrm>
            <a:off x="5670550" y="2997200"/>
            <a:ext cx="1390650" cy="1219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FFFFFF"/>
                </a:solidFill>
                <a:latin typeface="Microsoft YaHei"/>
                <a:ea typeface="Microsoft YaHei"/>
              </a:rPr>
              <a:t>全场景预测性自优化, 风险提前识别与规避, 人员仅处理少量例外事件, 跨域协同决策由系统自主完成, 例外工单占比 &lt;5%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6175" y="4508500"/>
            <a:ext cx="2794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</a:rPr>
              <a:t>⚡</a:t>
            </a:r>
          </a:p>
        </p:txBody>
      </p:sp>
      <p:sp>
        <p:nvSpPr>
          <p:cNvPr id="38" name="[lv4_metric_label]"/>
          <p:cNvSpPr txBox="1"/>
          <p:nvPr/>
        </p:nvSpPr>
        <p:spPr>
          <a:xfrm>
            <a:off x="5581650" y="5207000"/>
            <a:ext cx="1568450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</a:rPr>
              <a:t>现网渗透率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81650" y="5359400"/>
            <a:ext cx="1568450" cy="254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</a:rPr>
              <a:t>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81650" y="6159500"/>
            <a:ext cx="1568450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595959"/>
                </a:solidFill>
                <a:latin typeface="Microsoft YaHei"/>
                <a:ea typeface="Microsoft YaHei"/>
              </a:rPr>
              <a:t>2026-27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88200" y="1651000"/>
            <a:ext cx="1568450" cy="44450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88200" y="1714500"/>
            <a:ext cx="1568450" cy="254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L5</a:t>
            </a:r>
          </a:p>
        </p:txBody>
      </p:sp>
      <p:sp>
        <p:nvSpPr>
          <p:cNvPr id="43" name="[lv5_name]"/>
          <p:cNvSpPr txBox="1"/>
          <p:nvPr/>
        </p:nvSpPr>
        <p:spPr>
          <a:xfrm>
            <a:off x="7251700" y="1981199"/>
            <a:ext cx="1441450" cy="203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 i="0">
                <a:solidFill>
                  <a:srgbClr val="FFFFFF"/>
                </a:solidFill>
                <a:latin typeface="Microsoft YaHei"/>
                <a:ea typeface="Microsoft YaHei"/>
              </a:rPr>
              <a:t>完全自治</a:t>
            </a:r>
          </a:p>
        </p:txBody>
      </p:sp>
      <p:sp>
        <p:nvSpPr>
          <p:cNvPr id="44" name="[lv5_desc]"/>
          <p:cNvSpPr txBox="1"/>
          <p:nvPr/>
        </p:nvSpPr>
        <p:spPr>
          <a:xfrm>
            <a:off x="7277100" y="2235200"/>
            <a:ext cx="1390650" cy="12192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FFFFFF"/>
                </a:solidFill>
                <a:latin typeface="Microsoft YaHei"/>
                <a:ea typeface="Microsoft YaHei"/>
              </a:rPr>
              <a:t>跨域自学习自演进, 网络全生命周期零人工干预, 新业务开通、故障恢复、能效优化全部自治完成, 体验劣化自动预防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32724" y="3613150"/>
            <a:ext cx="2794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800" b="1" i="0">
                <a:solidFill>
                  <a:srgbClr val="FFFFFF"/>
                </a:solidFill>
                <a:latin typeface="Microsoft YaHei"/>
                <a:ea typeface="Microsoft YaHei"/>
              </a:rPr>
              <a:t>☁</a:t>
            </a:r>
          </a:p>
        </p:txBody>
      </p:sp>
      <p:sp>
        <p:nvSpPr>
          <p:cNvPr id="46" name="[lv5_metric_label]"/>
          <p:cNvSpPr txBox="1"/>
          <p:nvPr/>
        </p:nvSpPr>
        <p:spPr>
          <a:xfrm>
            <a:off x="7188200" y="5207000"/>
            <a:ext cx="1568450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00" b="0" i="0">
                <a:solidFill>
                  <a:srgbClr val="FFFFFF"/>
                </a:solidFill>
                <a:latin typeface="Microsoft YaHei"/>
                <a:ea typeface="Microsoft YaHei"/>
              </a:rPr>
              <a:t>现网渗透率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88200" y="5359400"/>
            <a:ext cx="1568450" cy="254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</a:rPr>
              <a:t>TBD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88200" y="6159500"/>
            <a:ext cx="1568450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595959"/>
                </a:solidFill>
                <a:latin typeface="Microsoft YaHei"/>
                <a:ea typeface="Microsoft YaHei"/>
              </a:rPr>
              <a:t>2028+</a:t>
            </a:r>
          </a:p>
        </p:txBody>
      </p:sp>
      <p:sp>
        <p:nvSpPr>
          <p:cNvPr id="49" name="[lv5_traits]"/>
          <p:cNvSpPr txBox="1"/>
          <p:nvPr/>
        </p:nvSpPr>
        <p:spPr>
          <a:xfrm>
            <a:off x="7277100" y="4089400"/>
            <a:ext cx="1390650" cy="952500"/>
          </a:xfrm>
          <a:prstGeom prst="rect">
            <a:avLst/>
          </a:prstGeom>
          <a:noFill/>
        </p:spPr>
        <p:txBody>
          <a:bodyPr wrap="square" lIns="19050" rIns="19050" tIns="19050" bIns="1905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FFFFF"/>
                </a:solidFill>
                <a:latin typeface="Microsoft YaHei"/>
                <a:ea typeface="Microsoft YaHei"/>
              </a:rPr>
              <a:t>网络具备自学习与自演进能力, 策略自动生成、模型在线进化, 全程零接触无人值守, 跨域端到端协同自治, 体验劣化自动预防。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924300" y="3124200"/>
            <a:ext cx="1670050" cy="3009900"/>
          </a:xfrm>
          <a:prstGeom prst="roundRect">
            <a:avLst/>
          </a:prstGeom>
          <a:noFill/>
          <a:ln w="22860">
            <a:solidFill>
              <a:srgbClr val="B90A0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873499" y="2667000"/>
            <a:ext cx="1778000" cy="30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90A0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[current_pos]"/>
          <p:cNvSpPr txBox="1"/>
          <p:nvPr/>
        </p:nvSpPr>
        <p:spPr>
          <a:xfrm>
            <a:off x="3873499" y="2667000"/>
            <a:ext cx="1778000" cy="3048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B90A0A"/>
                </a:solidFill>
                <a:latin typeface="Microsoft YaHei"/>
                <a:ea typeface="Microsoft YaHei"/>
              </a:rPr>
              <a:t>当前: L3 条件自治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762500" y="2984500"/>
            <a:ext cx="0" cy="165100"/>
          </a:xfrm>
          <a:prstGeom prst="line">
            <a:avLst/>
          </a:prstGeom>
          <a:ln w="20320">
            <a:solidFill>
              <a:srgbClr val="B90A0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[trend_chart_title]"/>
          <p:cNvSpPr txBox="1"/>
          <p:nvPr/>
        </p:nvSpPr>
        <p:spPr>
          <a:xfrm>
            <a:off x="825500" y="876300"/>
            <a:ext cx="2730500" cy="1778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1F4E79"/>
                </a:solidFill>
                <a:latin typeface="Microsoft YaHei"/>
                <a:ea typeface="Microsoft YaHei"/>
              </a:rPr>
              <a:t>全网自动化率趋势 (%)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14400" y="2286000"/>
            <a:ext cx="2552700" cy="0"/>
          </a:xfrm>
          <a:prstGeom prst="line">
            <a:avLst/>
          </a:prstGeom>
          <a:ln w="1016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14400" y="1143000"/>
            <a:ext cx="0" cy="1143000"/>
          </a:xfrm>
          <a:prstGeom prst="line">
            <a:avLst/>
          </a:prstGeom>
          <a:ln w="1016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079500" y="1944076"/>
            <a:ext cx="568325" cy="146539"/>
          </a:xfrm>
          <a:prstGeom prst="line">
            <a:avLst/>
          </a:prstGeom>
          <a:ln w="228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647825" y="1748692"/>
            <a:ext cx="568325" cy="195384"/>
          </a:xfrm>
          <a:prstGeom prst="line">
            <a:avLst/>
          </a:prstGeom>
          <a:ln w="228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16150" y="1582615"/>
            <a:ext cx="568325" cy="166077"/>
          </a:xfrm>
          <a:prstGeom prst="line">
            <a:avLst/>
          </a:prstGeom>
          <a:ln w="228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784475" y="1406769"/>
            <a:ext cx="568325" cy="175846"/>
          </a:xfrm>
          <a:prstGeom prst="line">
            <a:avLst/>
          </a:prstGeom>
          <a:ln w="228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1047749" y="2058865"/>
            <a:ext cx="63500" cy="6350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7100" y="1900115"/>
            <a:ext cx="304800" cy="127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262626"/>
                </a:solidFill>
                <a:latin typeface="Microsoft YaHei"/>
                <a:ea typeface="Microsoft YaHei"/>
              </a:rPr>
              <a:t>20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9000" y="2324100"/>
            <a:ext cx="381000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2023</a:t>
            </a:r>
          </a:p>
        </p:txBody>
      </p:sp>
      <p:sp>
        <p:nvSpPr>
          <p:cNvPr id="64" name="Oval 63"/>
          <p:cNvSpPr/>
          <p:nvPr/>
        </p:nvSpPr>
        <p:spPr>
          <a:xfrm>
            <a:off x="1616075" y="1912326"/>
            <a:ext cx="63500" cy="6350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495425" y="1753576"/>
            <a:ext cx="304800" cy="127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262626"/>
                </a:solidFill>
                <a:latin typeface="Microsoft YaHei"/>
                <a:ea typeface="Microsoft YaHei"/>
              </a:rPr>
              <a:t>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457325" y="2324100"/>
            <a:ext cx="381000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2024</a:t>
            </a:r>
          </a:p>
        </p:txBody>
      </p:sp>
      <p:sp>
        <p:nvSpPr>
          <p:cNvPr id="67" name="Oval 66"/>
          <p:cNvSpPr/>
          <p:nvPr/>
        </p:nvSpPr>
        <p:spPr>
          <a:xfrm>
            <a:off x="2184400" y="1716942"/>
            <a:ext cx="63500" cy="6350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063750" y="1558192"/>
            <a:ext cx="304800" cy="127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262626"/>
                </a:solidFill>
                <a:latin typeface="Microsoft YaHei"/>
                <a:ea typeface="Microsoft YaHei"/>
              </a:rPr>
              <a:t>55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25650" y="2324100"/>
            <a:ext cx="381000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2025</a:t>
            </a:r>
          </a:p>
        </p:txBody>
      </p:sp>
      <p:sp>
        <p:nvSpPr>
          <p:cNvPr id="70" name="Oval 69"/>
          <p:cNvSpPr/>
          <p:nvPr/>
        </p:nvSpPr>
        <p:spPr>
          <a:xfrm>
            <a:off x="2752725" y="1550865"/>
            <a:ext cx="63500" cy="6350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632075" y="1392115"/>
            <a:ext cx="304800" cy="127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262626"/>
                </a:solidFill>
                <a:latin typeface="Microsoft YaHei"/>
                <a:ea typeface="Microsoft YaHei"/>
              </a:rPr>
              <a:t>72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93975" y="2324100"/>
            <a:ext cx="381000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2026</a:t>
            </a:r>
          </a:p>
        </p:txBody>
      </p:sp>
      <p:sp>
        <p:nvSpPr>
          <p:cNvPr id="73" name="Oval 72"/>
          <p:cNvSpPr/>
          <p:nvPr/>
        </p:nvSpPr>
        <p:spPr>
          <a:xfrm>
            <a:off x="3321050" y="1375019"/>
            <a:ext cx="63500" cy="6350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200400" y="1216269"/>
            <a:ext cx="304800" cy="127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262626"/>
                </a:solidFill>
                <a:latin typeface="Microsoft YaHei"/>
                <a:ea typeface="Microsoft YaHei"/>
              </a:rPr>
              <a:t>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162300" y="2324100"/>
            <a:ext cx="381000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2027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25500" y="2628900"/>
            <a:ext cx="1301750" cy="279400"/>
          </a:xfrm>
          <a:prstGeom prst="round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[left_kpi1]"/>
          <p:cNvSpPr txBox="1"/>
          <p:nvPr/>
        </p:nvSpPr>
        <p:spPr>
          <a:xfrm>
            <a:off x="825500" y="2628900"/>
            <a:ext cx="130175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262626"/>
                </a:solidFill>
                <a:latin typeface="Microsoft YaHei"/>
                <a:ea typeface="Microsoft YaHei"/>
              </a:rPr>
              <a:t>人工干预 -55%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254250" y="2628900"/>
            <a:ext cx="1301750" cy="279400"/>
          </a:xfrm>
          <a:prstGeom prst="round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[left_kpi2]"/>
          <p:cNvSpPr txBox="1"/>
          <p:nvPr/>
        </p:nvSpPr>
        <p:spPr>
          <a:xfrm>
            <a:off x="2254250" y="2628900"/>
            <a:ext cx="130175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 i="0">
                <a:solidFill>
                  <a:srgbClr val="262626"/>
                </a:solidFill>
                <a:latin typeface="Microsoft YaHei"/>
                <a:ea typeface="Microsoft YaHei"/>
              </a:rPr>
              <a:t>可用率 99.99%</a:t>
            </a:r>
          </a:p>
        </p:txBody>
      </p:sp>
      <p:sp>
        <p:nvSpPr>
          <p:cNvPr id="80" name="[driver_title]"/>
          <p:cNvSpPr txBox="1"/>
          <p:nvPr/>
        </p:nvSpPr>
        <p:spPr>
          <a:xfrm>
            <a:off x="787400" y="2984500"/>
            <a:ext cx="1543050" cy="1651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 i="0">
                <a:solidFill>
                  <a:srgbClr val="1F4E79"/>
                </a:solidFill>
                <a:latin typeface="Microsoft YaHei"/>
                <a:ea typeface="Microsoft YaHei"/>
              </a:rPr>
              <a:t>演进三大驱动力</a:t>
            </a:r>
          </a:p>
        </p:txBody>
      </p:sp>
      <p:sp>
        <p:nvSpPr>
          <p:cNvPr id="81" name="[driver_bullets]"/>
          <p:cNvSpPr txBox="1"/>
          <p:nvPr/>
        </p:nvSpPr>
        <p:spPr>
          <a:xfrm>
            <a:off x="787400" y="3175000"/>
            <a:ext cx="1543050" cy="584200"/>
          </a:xfrm>
          <a:prstGeom prst="rect">
            <a:avLst/>
          </a:prstGeom>
          <a:noFill/>
        </p:spPr>
        <p:txBody>
          <a:bodyPr wrap="square" lIns="19050" rIns="19050" tIns="19050" bIns="1905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大模型原生网元、数字孪生仿真底座与意图驱动闭环管理三股力量, 共同推动自治等级持续跃迁。</a:t>
            </a:r>
          </a:p>
        </p:txBody>
      </p:sp>
      <p:cxnSp>
        <p:nvCxnSpPr>
          <p:cNvPr id="82" name="Connector 81"/>
          <p:cNvCxnSpPr/>
          <p:nvPr/>
        </p:nvCxnSpPr>
        <p:spPr>
          <a:xfrm flipV="1">
            <a:off x="3683000" y="1143000"/>
            <a:ext cx="3619500" cy="1270000"/>
          </a:xfrm>
          <a:prstGeom prst="line">
            <a:avLst/>
          </a:prstGeom>
          <a:ln w="22860">
            <a:solidFill>
              <a:srgbClr val="B90A0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[trend_note]"/>
          <p:cNvSpPr txBox="1"/>
          <p:nvPr/>
        </p:nvSpPr>
        <p:spPr>
          <a:xfrm>
            <a:off x="5270500" y="1244600"/>
            <a:ext cx="1905000" cy="1778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95959"/>
                </a:solidFill>
                <a:latin typeface="Microsoft YaHei"/>
                <a:ea typeface="Microsoft YaHei"/>
              </a:rPr>
              <a:t>自治能力持续演进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366000" y="1244600"/>
            <a:ext cx="1333500" cy="2921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90A0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[target_note]"/>
          <p:cNvSpPr txBox="1"/>
          <p:nvPr/>
        </p:nvSpPr>
        <p:spPr>
          <a:xfrm>
            <a:off x="7366000" y="1244600"/>
            <a:ext cx="1333500" cy="2921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1" i="0">
                <a:solidFill>
                  <a:srgbClr val="B90A0A"/>
                </a:solidFill>
                <a:latin typeface="Microsoft YaHei"/>
                <a:ea typeface="Microsoft YaHei"/>
              </a:rPr>
              <a:t>2028: L4 规模商用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017000" y="825500"/>
            <a:ext cx="2794000" cy="5397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017000" y="825500"/>
            <a:ext cx="2794000" cy="2667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017000" y="825500"/>
            <a:ext cx="38100" cy="2667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131300" y="825500"/>
            <a:ext cx="2628900" cy="266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262626"/>
                </a:solidFill>
                <a:latin typeface="Microsoft YaHei"/>
                <a:ea typeface="Microsoft YaHei"/>
              </a:rPr>
              <a:t>关键举措</a:t>
            </a:r>
          </a:p>
        </p:txBody>
      </p:sp>
      <p:sp>
        <p:nvSpPr>
          <p:cNvPr id="90" name="[actions_bullets]"/>
          <p:cNvSpPr txBox="1"/>
          <p:nvPr/>
        </p:nvSpPr>
        <p:spPr>
          <a:xfrm>
            <a:off x="9182100" y="1219200"/>
            <a:ext cx="2476500" cy="2413000"/>
          </a:xfrm>
          <a:prstGeom prst="rect">
            <a:avLst/>
          </a:prstGeom>
          <a:noFill/>
        </p:spPr>
        <p:txBody>
          <a:bodyPr wrap="square" lIns="19050" rIns="19050" tIns="19050" bIns="1905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icrosoft YaHei"/>
                <a:ea typeface="Microsoft YaHei"/>
              </a:rPr>
              <a:t>• 数字孪生底座: 全网资源与状态实时建模, 高危变更一律仿真先行验证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icrosoft YaHei"/>
                <a:ea typeface="Microsoft YaHei"/>
              </a:rPr>
              <a:t>• 意图引擎: 业务意图自动翻译为网络策略并闭环校验, 准确率达 92%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icrosoft YaHei"/>
                <a:ea typeface="Microsoft YaHei"/>
              </a:rPr>
              <a:t>• AI Agent 编排: 故障自愈覆盖 Top50 高频场景, MTTR 下降 68%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icrosoft YaHei"/>
                <a:ea typeface="Microsoft YaHei"/>
              </a:rPr>
              <a:t>• 故障预测: 基于时序特征提前 4 小时预警, 准确率 89%, 重大事故同比减半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icrosoft YaHei"/>
                <a:ea typeface="Microsoft YaHei"/>
              </a:rPr>
              <a:t>• 变更风控: 高危操作自动拦截+灰度放行, 事故率 -75%, 沉淀 12 万工单语料精调大模型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182100" y="3708400"/>
            <a:ext cx="1168400" cy="266700"/>
          </a:xfrm>
          <a:prstGeom prst="round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[kpi1]"/>
          <p:cNvSpPr txBox="1"/>
          <p:nvPr/>
        </p:nvSpPr>
        <p:spPr>
          <a:xfrm>
            <a:off x="9182100" y="3708400"/>
            <a:ext cx="1168400" cy="266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262626"/>
                </a:solidFill>
                <a:latin typeface="Microsoft YaHei"/>
                <a:ea typeface="Microsoft YaHei"/>
              </a:rPr>
              <a:t>OPEX -35%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452100" y="3708400"/>
            <a:ext cx="1168400" cy="266700"/>
          </a:xfrm>
          <a:prstGeom prst="round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[kpi2]"/>
          <p:cNvSpPr txBox="1"/>
          <p:nvPr/>
        </p:nvSpPr>
        <p:spPr>
          <a:xfrm>
            <a:off x="10452100" y="3708400"/>
            <a:ext cx="1168400" cy="266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262626"/>
                </a:solidFill>
                <a:latin typeface="Microsoft YaHei"/>
                <a:ea typeface="Microsoft YaHei"/>
              </a:rPr>
              <a:t>MTTR -68%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017000" y="4127500"/>
            <a:ext cx="2794000" cy="2667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017000" y="4127500"/>
            <a:ext cx="38100" cy="2667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[right_chart_title]"/>
          <p:cNvSpPr txBox="1"/>
          <p:nvPr/>
        </p:nvSpPr>
        <p:spPr>
          <a:xfrm>
            <a:off x="9131300" y="4127500"/>
            <a:ext cx="2628900" cy="266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262626"/>
                </a:solidFill>
                <a:latin typeface="Microsoft YaHei"/>
                <a:ea typeface="Microsoft YaHei"/>
              </a:rPr>
              <a:t>各等级故障自愈率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9245600" y="5829300"/>
            <a:ext cx="2349500" cy="0"/>
          </a:xfrm>
          <a:prstGeom prst="line">
            <a:avLst/>
          </a:prstGeom>
          <a:ln w="1016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9386570" y="5665670"/>
            <a:ext cx="234949" cy="163629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269095" y="5500570"/>
            <a:ext cx="469899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262626"/>
                </a:solidFill>
                <a:latin typeface="Microsoft YaHei"/>
                <a:ea typeface="Microsoft YaHei"/>
              </a:rPr>
              <a:t>15%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269095" y="5867400"/>
            <a:ext cx="469899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L1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856470" y="5447497"/>
            <a:ext cx="234949" cy="381802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738995" y="5282397"/>
            <a:ext cx="469899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262626"/>
                </a:solidFill>
                <a:latin typeface="Microsoft YaHei"/>
                <a:ea typeface="Microsoft YaHei"/>
              </a:rPr>
              <a:t>35%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738995" y="5867400"/>
            <a:ext cx="469899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L2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0326370" y="5174782"/>
            <a:ext cx="234949" cy="654517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08895" y="5009682"/>
            <a:ext cx="469899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262626"/>
                </a:solidFill>
                <a:latin typeface="Microsoft YaHei"/>
                <a:ea typeface="Microsoft YaHei"/>
              </a:rPr>
              <a:t>60%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08895" y="5867400"/>
            <a:ext cx="469899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L3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796270" y="4934792"/>
            <a:ext cx="234949" cy="894507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678795" y="4769692"/>
            <a:ext cx="469899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262626"/>
                </a:solidFill>
                <a:latin typeface="Microsoft YaHei"/>
                <a:ea typeface="Microsoft YaHei"/>
              </a:rPr>
              <a:t>82%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78795" y="5867400"/>
            <a:ext cx="469899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L4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1266170" y="4792980"/>
            <a:ext cx="234949" cy="103632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1148695" y="4627880"/>
            <a:ext cx="469899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262626"/>
                </a:solidFill>
                <a:latin typeface="Microsoft YaHei"/>
                <a:ea typeface="Microsoft YaHei"/>
              </a:rPr>
              <a:t>95%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148695" y="5867400"/>
            <a:ext cx="469899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L5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
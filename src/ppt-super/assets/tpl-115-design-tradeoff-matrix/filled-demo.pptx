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[title_main]"/>
          <p:cNvSpPr txBox="1"/>
          <p:nvPr/>
        </p:nvSpPr>
        <p:spPr>
          <a:xfrm>
            <a:off x="203200" y="342900"/>
            <a:ext cx="114935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在精度、时延、内存与鲁棒性间存在显著权衡，需按场景优先级做工程取舍</a:t>
            </a:r>
          </a:p>
        </p:txBody>
      </p:sp>
      <p:sp>
        <p:nvSpPr>
          <p:cNvPr id="3" name="[subtitle]"/>
          <p:cNvSpPr txBox="1"/>
          <p:nvPr/>
        </p:nvSpPr>
        <p:spPr>
          <a:xfrm>
            <a:off x="215900" y="749300"/>
            <a:ext cx="109220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基于多方案对比与约束分析，四大核心指标呈非线性制约关系；需结合目标约束与部署条件选择最优组合。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92200"/>
            <a:ext cx="66675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[matrix_title]"/>
          <p:cNvSpPr txBox="1"/>
          <p:nvPr/>
        </p:nvSpPr>
        <p:spPr>
          <a:xfrm>
            <a:off x="1778000" y="1270000"/>
            <a:ext cx="3746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技术设计权衡矩阵（相对优先级与典型影响方向）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9000" y="4603750"/>
            <a:ext cx="5765800" cy="0"/>
          </a:xfrm>
          <a:prstGeom prst="line">
            <a:avLst/>
          </a:prstGeom>
          <a:ln w="2286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35000" y="1587500"/>
            <a:ext cx="0" cy="2832100"/>
          </a:xfrm>
          <a:prstGeom prst="line">
            <a:avLst/>
          </a:prstGeom>
          <a:ln w="2286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2451100"/>
            <a:ext cx="8255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精度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6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(Accuracy)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2000" y="4699000"/>
            <a:ext cx="1587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时延（Latency）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1651000"/>
            <a:ext cx="2889250" cy="149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1651000"/>
            <a:ext cx="2889250" cy="3683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[q1_title]"/>
          <p:cNvSpPr txBox="1"/>
          <p:nvPr/>
        </p:nvSpPr>
        <p:spPr>
          <a:xfrm>
            <a:off x="1397000" y="1720850"/>
            <a:ext cx="2190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高精度 低时延</a:t>
            </a:r>
          </a:p>
        </p:txBody>
      </p:sp>
      <p:sp>
        <p:nvSpPr>
          <p:cNvPr id="13" name="[q1_body]"/>
          <p:cNvSpPr txBox="1"/>
          <p:nvPr/>
        </p:nvSpPr>
        <p:spPr>
          <a:xfrm>
            <a:off x="1270000" y="2235200"/>
            <a:ext cx="21272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依赖轻量模型与高效算子融合，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需要强特征表达与蒸馏策略支撑。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8250" y="1651000"/>
            <a:ext cx="2889250" cy="149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8250" y="1651000"/>
            <a:ext cx="2889250" cy="368300"/>
          </a:xfrm>
          <a:prstGeom prst="rect">
            <a:avLst/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[q2_title]"/>
          <p:cNvSpPr txBox="1"/>
          <p:nvPr/>
        </p:nvSpPr>
        <p:spPr>
          <a:xfrm>
            <a:off x="4286250" y="1720850"/>
            <a:ext cx="2190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高精度 高时延</a:t>
            </a:r>
          </a:p>
        </p:txBody>
      </p:sp>
      <p:sp>
        <p:nvSpPr>
          <p:cNvPr id="17" name="[q2_body]"/>
          <p:cNvSpPr txBox="1"/>
          <p:nvPr/>
        </p:nvSpPr>
        <p:spPr>
          <a:xfrm>
            <a:off x="4159250" y="2235200"/>
            <a:ext cx="21272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追求最优精度，采用大模型与复杂模块，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适用于离线/非实时场景。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000" y="3143250"/>
            <a:ext cx="288925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9000" y="3143250"/>
            <a:ext cx="2889250" cy="368300"/>
          </a:xfrm>
          <a:prstGeom prst="rect">
            <a:avLst/>
          </a:prstGeom>
          <a:solidFill>
            <a:srgbClr val="7E8794"/>
          </a:solidFill>
          <a:ln w="12700">
            <a:solidFill>
              <a:srgbClr val="7E8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[q3_title]"/>
          <p:cNvSpPr txBox="1"/>
          <p:nvPr/>
        </p:nvSpPr>
        <p:spPr>
          <a:xfrm>
            <a:off x="1397000" y="3213100"/>
            <a:ext cx="2190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低精度 低时延</a:t>
            </a:r>
          </a:p>
        </p:txBody>
      </p:sp>
      <p:sp>
        <p:nvSpPr>
          <p:cNvPr id="21" name="[q3_body]"/>
          <p:cNvSpPr txBox="1"/>
          <p:nvPr/>
        </p:nvSpPr>
        <p:spPr>
          <a:xfrm>
            <a:off x="1270000" y="3727450"/>
            <a:ext cx="21272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极致低延迟与低资源占用，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适用于资源受限场景，精度受限。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78250" y="3143250"/>
            <a:ext cx="288925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78250" y="3143250"/>
            <a:ext cx="2889250" cy="368300"/>
          </a:xfrm>
          <a:prstGeom prst="rect">
            <a:avLst/>
          </a:prstGeom>
          <a:solidFill>
            <a:srgbClr val="F16918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[q4_title]"/>
          <p:cNvSpPr txBox="1"/>
          <p:nvPr/>
        </p:nvSpPr>
        <p:spPr>
          <a:xfrm>
            <a:off x="4286250" y="3213100"/>
            <a:ext cx="2190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低精度 高时延</a:t>
            </a:r>
          </a:p>
        </p:txBody>
      </p:sp>
      <p:sp>
        <p:nvSpPr>
          <p:cNvPr id="25" name="[q4_body]"/>
          <p:cNvSpPr txBox="1"/>
          <p:nvPr/>
        </p:nvSpPr>
        <p:spPr>
          <a:xfrm>
            <a:off x="4159250" y="3727450"/>
            <a:ext cx="21272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配置未充分优化导致效率偏低，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不推荐作为默认选型方向。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78250" y="1651000"/>
            <a:ext cx="0" cy="295275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9000" y="3143250"/>
            <a:ext cx="5778500" cy="0"/>
          </a:xfrm>
          <a:prstGeom prst="line">
            <a:avLst/>
          </a:prstGeom>
          <a:ln w="12700">
            <a:solidFill>
              <a:srgbClr val="DDE6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0750" y="4851400"/>
            <a:ext cx="1079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推荐区域（主推）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851400"/>
            <a:ext cx="1079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可选区域（积极）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8250" y="4851400"/>
            <a:ext cx="1333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不推荐（精度不足）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700" y="4851400"/>
            <a:ext cx="1270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不推荐（效率低）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5500" y="1092200"/>
            <a:ext cx="479425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75500" y="1092200"/>
            <a:ext cx="4794250" cy="3556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5500" y="1333500"/>
            <a:ext cx="4794250" cy="114300"/>
          </a:xfrm>
          <a:prstGeom prst="rect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[basis_title]"/>
          <p:cNvSpPr txBox="1"/>
          <p:nvPr/>
        </p:nvSpPr>
        <p:spPr>
          <a:xfrm>
            <a:off x="7289800" y="1143000"/>
            <a:ext cx="456565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选型依据与工程取舍</a:t>
            </a:r>
          </a:p>
        </p:txBody>
      </p:sp>
      <p:sp>
        <p:nvSpPr>
          <p:cNvPr id="36" name="[basis_body]"/>
          <p:cNvSpPr txBox="1"/>
          <p:nvPr/>
        </p:nvSpPr>
        <p:spPr>
          <a:xfrm>
            <a:off x="7416800" y="1574800"/>
            <a:ext cx="4127500" cy="2171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精度优先：采用高容量模型 + 多尺度特征，代价为时延与内存增加。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时延优先：依赖结构剪枝、算子融合与量化，精度存在可控损失。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内存受限：优先激活复用、分块计算与低秩近似，避免 OOM 风险。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鲁棒优先：引入对抗训练与不确定性建模，需额外计算开销。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场景驱动：依据实时性、资源预算与稳定性要求确定指标优先级。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zh-CN" altLang="zh-CN" sz="965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工程取舍：在约束条件下寻找帕累托前沿方案，并预留迭代优化空间。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16800" y="4013200"/>
            <a:ext cx="1905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4200" y="4013200"/>
            <a:ext cx="19050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[small1_title]"/>
          <p:cNvSpPr txBox="1"/>
          <p:nvPr/>
        </p:nvSpPr>
        <p:spPr>
          <a:xfrm>
            <a:off x="7696200" y="41529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帕累托前沿方案数</a:t>
            </a:r>
          </a:p>
        </p:txBody>
      </p:sp>
      <p:sp>
        <p:nvSpPr>
          <p:cNvPr id="40" name="[small1_value]"/>
          <p:cNvSpPr txBox="1"/>
          <p:nvPr/>
        </p:nvSpPr>
        <p:spPr>
          <a:xfrm>
            <a:off x="7962900" y="4368800"/>
            <a:ext cx="812800" cy="393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1" name="[small1_note]"/>
          <p:cNvSpPr txBox="1"/>
          <p:nvPr/>
        </p:nvSpPr>
        <p:spPr>
          <a:xfrm>
            <a:off x="7772400" y="4737100"/>
            <a:ext cx="1206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在约束内</a:t>
            </a:r>
          </a:p>
        </p:txBody>
      </p:sp>
      <p:sp>
        <p:nvSpPr>
          <p:cNvPr id="42" name="[small2_title]"/>
          <p:cNvSpPr txBox="1"/>
          <p:nvPr/>
        </p:nvSpPr>
        <p:spPr>
          <a:xfrm>
            <a:off x="9753600" y="41529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8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可达最优区域占比</a:t>
            </a:r>
          </a:p>
        </p:txBody>
      </p:sp>
      <p:sp>
        <p:nvSpPr>
          <p:cNvPr id="43" name="[small2_value]"/>
          <p:cNvSpPr txBox="1"/>
          <p:nvPr/>
        </p:nvSpPr>
        <p:spPr>
          <a:xfrm>
            <a:off x="10020300" y="4368800"/>
            <a:ext cx="812800" cy="393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78%</a:t>
            </a:r>
          </a:p>
        </p:txBody>
      </p:sp>
      <p:sp>
        <p:nvSpPr>
          <p:cNvPr id="44" name="[small2_note]"/>
          <p:cNvSpPr txBox="1"/>
          <p:nvPr/>
        </p:nvSpPr>
        <p:spPr>
          <a:xfrm>
            <a:off x="9829800" y="4737100"/>
            <a:ext cx="1206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满足约束的配置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5511800"/>
            <a:ext cx="11734800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79500" y="5638800"/>
            <a:ext cx="27305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31900" y="5854700"/>
            <a:ext cx="292100" cy="2921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84478" y="5907278"/>
            <a:ext cx="186944" cy="186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8293" y="5951093"/>
            <a:ext cx="99314" cy="993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363345" y="5986145"/>
            <a:ext cx="29210" cy="2921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1407160" y="5883910"/>
            <a:ext cx="87630" cy="8763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59738" y="5883910"/>
            <a:ext cx="35052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94790" y="5883910"/>
            <a:ext cx="0" cy="35052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[metric1_title]"/>
          <p:cNvSpPr txBox="1"/>
          <p:nvPr/>
        </p:nvSpPr>
        <p:spPr>
          <a:xfrm>
            <a:off x="1625600" y="5765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精度（Acc@1）</a:t>
            </a:r>
          </a:p>
        </p:txBody>
      </p:sp>
      <p:sp>
        <p:nvSpPr>
          <p:cNvPr id="55" name="[metric1_value]"/>
          <p:cNvSpPr txBox="1"/>
          <p:nvPr/>
        </p:nvSpPr>
        <p:spPr>
          <a:xfrm>
            <a:off x="1574800" y="5905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93.1%</a:t>
            </a:r>
          </a:p>
        </p:txBody>
      </p:sp>
      <p:sp>
        <p:nvSpPr>
          <p:cNvPr id="56" name="[metric1_note]"/>
          <p:cNvSpPr txBox="1"/>
          <p:nvPr/>
        </p:nvSpPr>
        <p:spPr>
          <a:xfrm>
            <a:off x="1295400" y="62166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95% CI: [91.2%, 94.7%]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99000" y="5638800"/>
            <a:ext cx="27305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64100" y="5880100"/>
            <a:ext cx="292100" cy="2921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5010150" y="5944362"/>
            <a:ext cx="0" cy="81788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10150" y="6026150"/>
            <a:ext cx="64262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[metric2_title]"/>
          <p:cNvSpPr txBox="1"/>
          <p:nvPr/>
        </p:nvSpPr>
        <p:spPr>
          <a:xfrm>
            <a:off x="5245100" y="5765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时延（P95, ms）</a:t>
            </a:r>
          </a:p>
        </p:txBody>
      </p:sp>
      <p:sp>
        <p:nvSpPr>
          <p:cNvPr id="62" name="[metric2_value]"/>
          <p:cNvSpPr txBox="1"/>
          <p:nvPr/>
        </p:nvSpPr>
        <p:spPr>
          <a:xfrm>
            <a:off x="5194300" y="5905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27.3 ms</a:t>
            </a:r>
          </a:p>
        </p:txBody>
      </p:sp>
      <p:sp>
        <p:nvSpPr>
          <p:cNvPr id="63" name="[metric2_note]"/>
          <p:cNvSpPr txBox="1"/>
          <p:nvPr/>
        </p:nvSpPr>
        <p:spPr>
          <a:xfrm>
            <a:off x="4914900" y="62166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A100 FP16, batch=32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18500" y="5638800"/>
            <a:ext cx="27305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>
            <a:off x="8521700" y="5892800"/>
            <a:ext cx="266700" cy="24003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80374" y="59194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67" name="[metric3_title]"/>
          <p:cNvSpPr txBox="1"/>
          <p:nvPr/>
        </p:nvSpPr>
        <p:spPr>
          <a:xfrm>
            <a:off x="8864600" y="5765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内存占用（峰值, GB）</a:t>
            </a:r>
          </a:p>
        </p:txBody>
      </p:sp>
      <p:sp>
        <p:nvSpPr>
          <p:cNvPr id="68" name="[metric3_value]"/>
          <p:cNvSpPr txBox="1"/>
          <p:nvPr/>
        </p:nvSpPr>
        <p:spPr>
          <a:xfrm>
            <a:off x="8813800" y="5905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7.8 GB</a:t>
            </a:r>
          </a:p>
        </p:txBody>
      </p:sp>
      <p:sp>
        <p:nvSpPr>
          <p:cNvPr id="69" name="[metric3_note]"/>
          <p:cNvSpPr txBox="1"/>
          <p:nvPr/>
        </p:nvSpPr>
        <p:spPr>
          <a:xfrm>
            <a:off x="8534400" y="62166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序列长度 4K，显存峰值统计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
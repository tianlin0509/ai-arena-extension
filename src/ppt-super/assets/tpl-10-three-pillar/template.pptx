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[chip]"/>
          <p:cNvSpPr txBox="1"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智算中心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1473200" y="228600"/>
            <a:ext cx="9207500" cy="368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B90A0A"/>
                </a:solidFill>
                <a:latin typeface="Microsoft YaHei"/>
                <a:ea typeface="Microsoft YaHei"/>
              </a:rPr>
              <a:t>E级智算中心三柱体系: 训练效率 ×2.3, 故障自愈率 91%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1366500" y="304800"/>
            <a:ext cx="419100" cy="241300"/>
          </a:xfrm>
          <a:prstGeom prst="line">
            <a:avLst/>
          </a:prstGeom>
          <a:ln w="2286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1000" y="857250"/>
            <a:ext cx="11430000" cy="533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[roof_goal]"/>
          <p:cNvSpPr txBox="1"/>
          <p:nvPr/>
        </p:nvSpPr>
        <p:spPr>
          <a:xfrm>
            <a:off x="635000" y="857250"/>
            <a:ext cx="10922000" cy="533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总目标: 建成 E 级智算中心, 支撑千亿参数大模型训练常态化运行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09800" y="1390650"/>
            <a:ext cx="0" cy="247650"/>
          </a:xfrm>
          <a:prstGeom prst="line">
            <a:avLst/>
          </a:prstGeom>
          <a:ln w="2540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6000" y="1390650"/>
            <a:ext cx="0" cy="247650"/>
          </a:xfrm>
          <a:prstGeom prst="line">
            <a:avLst/>
          </a:prstGeom>
          <a:ln w="2540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982200" y="1390650"/>
            <a:ext cx="0" cy="247650"/>
          </a:xfrm>
          <a:prstGeom prst="line">
            <a:avLst/>
          </a:prstGeom>
          <a:ln w="2540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1000" y="1651000"/>
            <a:ext cx="3657600" cy="393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1000" y="1651000"/>
            <a:ext cx="3657600" cy="3683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1000" y="1841500"/>
            <a:ext cx="3657600" cy="177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899" y="1701800"/>
            <a:ext cx="2667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</a:p>
        </p:txBody>
      </p:sp>
      <p:sp>
        <p:nvSpPr>
          <p:cNvPr id="15" name="[pillar1_name]"/>
          <p:cNvSpPr txBox="1"/>
          <p:nvPr/>
        </p:nvSpPr>
        <p:spPr>
          <a:xfrm>
            <a:off x="736600" y="1651000"/>
            <a:ext cx="2946400" cy="368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异构算力底座</a:t>
            </a:r>
          </a:p>
        </p:txBody>
      </p:sp>
      <p:sp>
        <p:nvSpPr>
          <p:cNvPr id="16" name="[pillar1_bullets]"/>
          <p:cNvSpPr txBox="1"/>
          <p:nvPr/>
        </p:nvSpPr>
        <p:spPr>
          <a:xfrm>
            <a:off x="546100" y="2133600"/>
            <a:ext cx="3327400" cy="16002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</a:rPr>
              <a:t>算力底座以 Atlas 900 A3 集群为核心, 单集群提供 4000P 稠密算力, 通过训推一体调度将算力利用率从 58% 提升至 86%, 昇腾与鲲鹏资源池化纳管率达 92%。机房采用全液冷方案, PUE 由 1.42 降至 1.12; 断点续训 10 分钟内恢复, 已支撑千卡集群连续稳定训练 30 天, 弹性扩缩容使峰值算力 10 分钟就位, 碎片算力利用率再提升 21%。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93800" y="3835400"/>
            <a:ext cx="2032000" cy="2921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[pillar1_kpi]"/>
          <p:cNvSpPr txBox="1"/>
          <p:nvPr/>
        </p:nvSpPr>
        <p:spPr>
          <a:xfrm>
            <a:off x="1193800" y="3835400"/>
            <a:ext cx="2032000" cy="292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</a:rPr>
              <a:t>算力利用率 86%</a:t>
            </a:r>
          </a:p>
        </p:txBody>
      </p:sp>
      <p:sp>
        <p:nvSpPr>
          <p:cNvPr id="19" name="[pillar1_note]"/>
          <p:cNvSpPr txBox="1"/>
          <p:nvPr/>
        </p:nvSpPr>
        <p:spPr>
          <a:xfrm>
            <a:off x="546100" y="4203700"/>
            <a:ext cx="3327400" cy="2159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已支撑 3 个千亿参数模型全流程训练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000" y="4572000"/>
            <a:ext cx="31496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079913" y="4772313"/>
            <a:ext cx="259772" cy="259772"/>
          </a:xfrm>
          <a:prstGeom prst="rect">
            <a:avLst/>
          </a:prstGeom>
          <a:solidFill>
            <a:srgbClr val="FFFFFF"/>
          </a:solidFill>
          <a:ln w="1778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49186" y="4841586"/>
            <a:ext cx="121227" cy="121227"/>
          </a:xfrm>
          <a:prstGeom prst="rect">
            <a:avLst/>
          </a:prstGeom>
          <a:solidFill>
            <a:srgbClr val="DEEAF6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123209" y="4711700"/>
            <a:ext cx="0" cy="60613"/>
          </a:xfrm>
          <a:prstGeom prst="line">
            <a:avLst/>
          </a:prstGeom>
          <a:ln w="1143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123209" y="5032086"/>
            <a:ext cx="0" cy="60614"/>
          </a:xfrm>
          <a:prstGeom prst="line">
            <a:avLst/>
          </a:prstGeom>
          <a:ln w="1143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019300" y="4815609"/>
            <a:ext cx="60613" cy="0"/>
          </a:xfrm>
          <a:prstGeom prst="line">
            <a:avLst/>
          </a:prstGeom>
          <a:ln w="1143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339686" y="4815609"/>
            <a:ext cx="60614" cy="0"/>
          </a:xfrm>
          <a:prstGeom prst="line">
            <a:avLst/>
          </a:prstGeom>
          <a:ln w="1143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209800" y="4711700"/>
            <a:ext cx="0" cy="60613"/>
          </a:xfrm>
          <a:prstGeom prst="line">
            <a:avLst/>
          </a:prstGeom>
          <a:ln w="1143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209800" y="5032086"/>
            <a:ext cx="0" cy="60614"/>
          </a:xfrm>
          <a:prstGeom prst="line">
            <a:avLst/>
          </a:prstGeom>
          <a:ln w="1143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19300" y="4902200"/>
            <a:ext cx="60613" cy="0"/>
          </a:xfrm>
          <a:prstGeom prst="line">
            <a:avLst/>
          </a:prstGeom>
          <a:ln w="1143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339686" y="4902200"/>
            <a:ext cx="60614" cy="0"/>
          </a:xfrm>
          <a:prstGeom prst="line">
            <a:avLst/>
          </a:prstGeom>
          <a:ln w="1143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296390" y="4711700"/>
            <a:ext cx="0" cy="60613"/>
          </a:xfrm>
          <a:prstGeom prst="line">
            <a:avLst/>
          </a:prstGeom>
          <a:ln w="1143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296390" y="5032086"/>
            <a:ext cx="0" cy="60614"/>
          </a:xfrm>
          <a:prstGeom prst="line">
            <a:avLst/>
          </a:prstGeom>
          <a:ln w="1143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019300" y="4988790"/>
            <a:ext cx="60613" cy="0"/>
          </a:xfrm>
          <a:prstGeom prst="line">
            <a:avLst/>
          </a:prstGeom>
          <a:ln w="1143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339686" y="4988790"/>
            <a:ext cx="60614" cy="0"/>
          </a:xfrm>
          <a:prstGeom prst="line">
            <a:avLst/>
          </a:prstGeom>
          <a:ln w="1143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701800" y="5130800"/>
            <a:ext cx="1016000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CHIP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67200" y="1651000"/>
            <a:ext cx="3657600" cy="393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267200" y="1651000"/>
            <a:ext cx="3657600" cy="3683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67200" y="1841500"/>
            <a:ext cx="3657600" cy="177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56100" y="1701800"/>
            <a:ext cx="2667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</a:p>
        </p:txBody>
      </p:sp>
      <p:sp>
        <p:nvSpPr>
          <p:cNvPr id="40" name="[pillar2_name]"/>
          <p:cNvSpPr txBox="1"/>
          <p:nvPr/>
        </p:nvSpPr>
        <p:spPr>
          <a:xfrm>
            <a:off x="4622800" y="1651000"/>
            <a:ext cx="2946400" cy="368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高速参数互联</a:t>
            </a:r>
          </a:p>
        </p:txBody>
      </p:sp>
      <p:sp>
        <p:nvSpPr>
          <p:cNvPr id="41" name="[pillar2_bullets]"/>
          <p:cNvSpPr txBox="1"/>
          <p:nvPr/>
        </p:nvSpPr>
        <p:spPr>
          <a:xfrm>
            <a:off x="4432300" y="2133600"/>
            <a:ext cx="3327400" cy="16002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</a:rPr>
              <a:t>参数面采用 RoCE 无损以太与 400GE 全互联组网, NSLB 网络级负载均衡使链路利用率稳定在 95% 以上, iLossless 拥塞控制将长尾时延压降 73%。万卡组网线性度保持 92% 以上, 通信开销占比控制在 18% 以内; 参数面、业务面与带外管理三网分离, 光模块故障预测使链路闪断率下降 90%, 拓扑感知通信编排让 AllReduce 集合通信提速 1.8 倍。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80000" y="3835400"/>
            <a:ext cx="2032000" cy="2921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[pillar2_kpi]"/>
          <p:cNvSpPr txBox="1"/>
          <p:nvPr/>
        </p:nvSpPr>
        <p:spPr>
          <a:xfrm>
            <a:off x="5080000" y="3835400"/>
            <a:ext cx="2032000" cy="292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</a:rPr>
              <a:t>组网线性度 ≥92%</a:t>
            </a:r>
          </a:p>
        </p:txBody>
      </p:sp>
      <p:sp>
        <p:nvSpPr>
          <p:cNvPr id="44" name="[pillar2_note]"/>
          <p:cNvSpPr txBox="1"/>
          <p:nvPr/>
        </p:nvSpPr>
        <p:spPr>
          <a:xfrm>
            <a:off x="4432300" y="4203700"/>
            <a:ext cx="3327400" cy="2159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与算力/存储联合调优, 端到端无瓶颈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21200" y="4572000"/>
            <a:ext cx="31496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052704" y="4703040"/>
            <a:ext cx="86590" cy="8659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896840" y="4980131"/>
            <a:ext cx="86590" cy="8659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08568" y="4980131"/>
            <a:ext cx="86590" cy="8659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H="1">
            <a:off x="5940136" y="4746336"/>
            <a:ext cx="155864" cy="277091"/>
          </a:xfrm>
          <a:prstGeom prst="line">
            <a:avLst/>
          </a:prstGeom>
          <a:ln w="1270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096000" y="4746336"/>
            <a:ext cx="155863" cy="277091"/>
          </a:xfrm>
          <a:prstGeom prst="line">
            <a:avLst/>
          </a:prstGeom>
          <a:ln w="1270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940136" y="5023427"/>
            <a:ext cx="311727" cy="0"/>
          </a:xfrm>
          <a:prstGeom prst="line">
            <a:avLst/>
          </a:prstGeom>
          <a:ln w="1270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588000" y="5130800"/>
            <a:ext cx="1016000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NET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53399" y="1651000"/>
            <a:ext cx="3657600" cy="393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153399" y="1651000"/>
            <a:ext cx="3657600" cy="3683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53399" y="1841500"/>
            <a:ext cx="3657600" cy="177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42300" y="1701800"/>
            <a:ext cx="2667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</a:p>
        </p:txBody>
      </p:sp>
      <p:sp>
        <p:nvSpPr>
          <p:cNvPr id="57" name="[pillar3_name]"/>
          <p:cNvSpPr txBox="1"/>
          <p:nvPr/>
        </p:nvSpPr>
        <p:spPr>
          <a:xfrm>
            <a:off x="8509000" y="1651000"/>
            <a:ext cx="2946400" cy="368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安全可信运营</a:t>
            </a:r>
          </a:p>
        </p:txBody>
      </p:sp>
      <p:sp>
        <p:nvSpPr>
          <p:cNvPr id="58" name="[pillar3_bullets]"/>
          <p:cNvSpPr txBox="1"/>
          <p:nvPr/>
        </p:nvSpPr>
        <p:spPr>
          <a:xfrm>
            <a:off x="8318499" y="2133600"/>
            <a:ext cx="3327400" cy="16002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</a:rPr>
              <a:t>运营体系实现训练数据全链路加密与密态计算 100% 覆盖, 模型资产嵌入水印并对权重外发实施防泄漏审计, 同时满足等保 2.0 四级与 AI 安全围栏双合规要求。故障自愈编排将 MTTR 由 4 小时压缩至 22 分钟, 算力租户硬隔离保持越权访问零事件; 全栈可观测覆盖 5000 余项秒级采集指标, 红蓝对抗常态化演练确保高危漏洞 24 小时内闭环。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66200" y="3835400"/>
            <a:ext cx="2032000" cy="2921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[pillar3_kpi]"/>
          <p:cNvSpPr txBox="1"/>
          <p:nvPr/>
        </p:nvSpPr>
        <p:spPr>
          <a:xfrm>
            <a:off x="8966200" y="3835400"/>
            <a:ext cx="2032000" cy="292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</a:rPr>
              <a:t>MTTR 压缩 91%</a:t>
            </a:r>
          </a:p>
        </p:txBody>
      </p:sp>
      <p:sp>
        <p:nvSpPr>
          <p:cNvPr id="61" name="[pillar3_note]"/>
          <p:cNvSpPr txBox="1"/>
          <p:nvPr/>
        </p:nvSpPr>
        <p:spPr>
          <a:xfrm>
            <a:off x="8318499" y="4203700"/>
            <a:ext cx="3327400" cy="2159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通过安全运营中心年度审计认证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407400" y="4572000"/>
            <a:ext cx="31496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Hexagon 62"/>
          <p:cNvSpPr/>
          <p:nvPr/>
        </p:nvSpPr>
        <p:spPr>
          <a:xfrm rot="5400000">
            <a:off x="9791700" y="4711700"/>
            <a:ext cx="327660" cy="381000"/>
          </a:xfrm>
          <a:prstGeom prst="hexagon">
            <a:avLst/>
          </a:prstGeom>
          <a:solidFill>
            <a:srgbClr val="FFFFFF"/>
          </a:solidFill>
          <a:ln w="1778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91700" y="4711700"/>
            <a:ext cx="327660" cy="381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100" b="1" i="0">
                <a:solidFill>
                  <a:srgbClr val="2E75B6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74200" y="5130800"/>
            <a:ext cx="1016000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SHIELD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81000" y="5746750"/>
            <a:ext cx="11430000" cy="5080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81000" y="5746750"/>
            <a:ext cx="50800" cy="5080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09600" y="5861050"/>
            <a:ext cx="279400" cy="889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09600" y="5949950"/>
            <a:ext cx="279400" cy="889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09600" y="6038850"/>
            <a:ext cx="279400" cy="889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[base_support]"/>
          <p:cNvSpPr txBox="1"/>
          <p:nvPr/>
        </p:nvSpPr>
        <p:spPr>
          <a:xfrm>
            <a:off x="1079500" y="5746750"/>
            <a:ext cx="10541000" cy="508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</a:rPr>
              <a:t>统一数据底座: 湖仓一体 + 全链路血缘治理, 数据合规审计覆盖率 100%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
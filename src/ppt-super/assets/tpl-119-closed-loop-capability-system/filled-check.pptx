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66700" y="266700"/>
            <a:ext cx="50800" cy="292100"/>
          </a:xfrm>
          <a:prstGeom prst="rect">
            <a:avLst/>
          </a:prstGeom>
          <a:solidFill>
            <a:srgbClr val="B80606"/>
          </a:solidFill>
          <a:ln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06400" y="165100"/>
            <a:ext cx="26670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5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系统闭环 / 能力域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419100" y="292100"/>
            <a:ext cx="9144000" cy="431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24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系统闭环：感知、决策、执行与反馈协同优化</a:t>
            </a:r>
          </a:p>
        </p:txBody>
      </p:sp>
      <p:sp>
        <p:nvSpPr>
          <p:cNvPr id="5" name="[subtitle]"/>
          <p:cNvSpPr txBox="1"/>
          <p:nvPr/>
        </p:nvSpPr>
        <p:spPr>
          <a:xfrm>
            <a:off x="431800" y="762000"/>
            <a:ext cx="95250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构建端到端闭环体系，持续驱动业务价值与系统能力双提升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66700" y="1041400"/>
            <a:ext cx="11645900" cy="0"/>
          </a:xfrm>
          <a:prstGeom prst="line">
            <a:avLst/>
          </a:prstGeom>
          <a:ln w="12700">
            <a:solidFill>
              <a:srgbClr val="DDE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77800" y="1168400"/>
            <a:ext cx="1917700" cy="353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put_header_icon_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1320800"/>
            <a:ext cx="215900" cy="22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11200" y="1320800"/>
            <a:ext cx="9525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输入条件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500" y="1714500"/>
            <a:ext cx="1612900" cy="73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nput1_icon_defa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00" y="1943100"/>
            <a:ext cx="342900" cy="317500"/>
          </a:xfrm>
          <a:prstGeom prst="rect">
            <a:avLst/>
          </a:prstGeom>
        </p:spPr>
      </p:pic>
      <p:sp>
        <p:nvSpPr>
          <p:cNvPr id="12" name="[input1_title]"/>
          <p:cNvSpPr txBox="1"/>
          <p:nvPr/>
        </p:nvSpPr>
        <p:spPr>
          <a:xfrm>
            <a:off x="800100" y="1854200"/>
            <a:ext cx="10414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数据输入</a:t>
            </a:r>
          </a:p>
        </p:txBody>
      </p:sp>
      <p:sp>
        <p:nvSpPr>
          <p:cNvPr id="13" name="[input1_body]"/>
          <p:cNvSpPr txBox="1"/>
          <p:nvPr/>
        </p:nvSpPr>
        <p:spPr>
          <a:xfrm>
            <a:off x="800100" y="2057400"/>
            <a:ext cx="10414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业务、设备与外部数据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多源接入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7500" y="2641600"/>
            <a:ext cx="1612900" cy="73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nput2_icon_defa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300" y="2984500"/>
            <a:ext cx="317500" cy="317500"/>
          </a:xfrm>
          <a:prstGeom prst="rect">
            <a:avLst/>
          </a:prstGeom>
        </p:spPr>
      </p:pic>
      <p:sp>
        <p:nvSpPr>
          <p:cNvPr id="16" name="[input2_title]"/>
          <p:cNvSpPr txBox="1"/>
          <p:nvPr/>
        </p:nvSpPr>
        <p:spPr>
          <a:xfrm>
            <a:off x="800100" y="2781300"/>
            <a:ext cx="10414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业务目标</a:t>
            </a:r>
          </a:p>
        </p:txBody>
      </p:sp>
      <p:sp>
        <p:nvSpPr>
          <p:cNvPr id="17" name="[input2_body]"/>
          <p:cNvSpPr txBox="1"/>
          <p:nvPr/>
        </p:nvSpPr>
        <p:spPr>
          <a:xfrm>
            <a:off x="800100" y="2984500"/>
            <a:ext cx="10414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目标拆解为可衡量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可执行指标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7500" y="3568700"/>
            <a:ext cx="1612900" cy="736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nput3_icon_defau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00" y="3937000"/>
            <a:ext cx="317500" cy="355600"/>
          </a:xfrm>
          <a:prstGeom prst="rect">
            <a:avLst/>
          </a:prstGeom>
        </p:spPr>
      </p:pic>
      <p:sp>
        <p:nvSpPr>
          <p:cNvPr id="20" name="[input3_title]"/>
          <p:cNvSpPr txBox="1"/>
          <p:nvPr/>
        </p:nvSpPr>
        <p:spPr>
          <a:xfrm>
            <a:off x="800100" y="3708400"/>
            <a:ext cx="10414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15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约束条件</a:t>
            </a:r>
          </a:p>
        </p:txBody>
      </p:sp>
      <p:sp>
        <p:nvSpPr>
          <p:cNvPr id="21" name="[input3_body]"/>
          <p:cNvSpPr txBox="1"/>
          <p:nvPr/>
        </p:nvSpPr>
        <p:spPr>
          <a:xfrm>
            <a:off x="800100" y="3911600"/>
            <a:ext cx="10414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资源、预算、合规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风险边界约束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46300" y="1219200"/>
            <a:ext cx="1854200" cy="1460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[cap1_title]"/>
          <p:cNvSpPr txBox="1"/>
          <p:nvPr/>
        </p:nvSpPr>
        <p:spPr>
          <a:xfrm>
            <a:off x="2806700" y="13462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感知能力域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349500" y="1676400"/>
            <a:ext cx="1447800" cy="0"/>
          </a:xfrm>
          <a:prstGeom prst="line">
            <a:avLst/>
          </a:prstGeom>
          <a:ln w="1524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[cap1_body]"/>
          <p:cNvSpPr txBox="1"/>
          <p:nvPr/>
        </p:nvSpPr>
        <p:spPr>
          <a:xfrm>
            <a:off x="2362200" y="1790700"/>
            <a:ext cx="14224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多源感知，全面覆盖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实时采集，精准感知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62200" y="2374900"/>
            <a:ext cx="1422400" cy="203200"/>
          </a:xfrm>
          <a:prstGeom prst="roundRect">
            <a:avLst>
              <a:gd name="adj" fmla="val 5000"/>
            </a:avLst>
          </a:prstGeom>
          <a:solidFill>
            <a:srgbClr val="E7F7F7"/>
          </a:solidFill>
          <a:ln w="635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[cap1_tag]"/>
          <p:cNvSpPr txBox="1"/>
          <p:nvPr/>
        </p:nvSpPr>
        <p:spPr>
          <a:xfrm>
            <a:off x="2425700" y="2413000"/>
            <a:ext cx="12954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全面｜实时｜精准</a:t>
            </a:r>
          </a:p>
        </p:txBody>
      </p:sp>
      <p:pic>
        <p:nvPicPr>
          <p:cNvPr id="28" name="Picture 27" descr="cap1_icon_defau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4100" y="1409700"/>
            <a:ext cx="406400" cy="3810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2146300" y="3175000"/>
            <a:ext cx="1854200" cy="1460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[cap2_title]"/>
          <p:cNvSpPr txBox="1"/>
          <p:nvPr/>
        </p:nvSpPr>
        <p:spPr>
          <a:xfrm>
            <a:off x="2806700" y="3302000"/>
            <a:ext cx="10795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反馈能力域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349500" y="3632200"/>
            <a:ext cx="1447800" cy="0"/>
          </a:xfrm>
          <a:prstGeom prst="line">
            <a:avLst/>
          </a:prstGeom>
          <a:ln w="15240">
            <a:solidFill>
              <a:srgbClr val="B806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[cap2_body]"/>
          <p:cNvSpPr txBox="1"/>
          <p:nvPr/>
        </p:nvSpPr>
        <p:spPr>
          <a:xfrm>
            <a:off x="2362200" y="3746500"/>
            <a:ext cx="14224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全链路监控与评估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经验沉淀，持续改进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62200" y="4330700"/>
            <a:ext cx="1422400" cy="20320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635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[cap2_tag]"/>
          <p:cNvSpPr txBox="1"/>
          <p:nvPr/>
        </p:nvSpPr>
        <p:spPr>
          <a:xfrm>
            <a:off x="2425700" y="4368800"/>
            <a:ext cx="12954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监控｜评估｜改进</a:t>
            </a:r>
          </a:p>
        </p:txBody>
      </p:sp>
      <p:pic>
        <p:nvPicPr>
          <p:cNvPr id="35" name="Picture 34" descr="cap2_icon_defau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4100" y="3479800"/>
            <a:ext cx="406400" cy="36830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7975600" y="1219200"/>
            <a:ext cx="1676400" cy="1460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[cap3_title]"/>
          <p:cNvSpPr txBox="1"/>
          <p:nvPr/>
        </p:nvSpPr>
        <p:spPr>
          <a:xfrm>
            <a:off x="8559800" y="1346200"/>
            <a:ext cx="9779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决策能力域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178800" y="1676400"/>
            <a:ext cx="1270000" cy="0"/>
          </a:xfrm>
          <a:prstGeom prst="line">
            <a:avLst/>
          </a:prstGeom>
          <a:ln w="1524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[cap3_body]"/>
          <p:cNvSpPr txBox="1"/>
          <p:nvPr/>
        </p:nvSpPr>
        <p:spPr>
          <a:xfrm>
            <a:off x="8191500" y="1790700"/>
            <a:ext cx="12446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数据洞察，模型驱动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方案比选，最优决策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91500" y="2374900"/>
            <a:ext cx="1244600" cy="203200"/>
          </a:xfrm>
          <a:prstGeom prst="roundRect">
            <a:avLst>
              <a:gd name="adj" fmla="val 5000"/>
            </a:avLst>
          </a:prstGeom>
          <a:solidFill>
            <a:srgbClr val="E7F7F7"/>
          </a:solidFill>
          <a:ln w="635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[cap3_tag]"/>
          <p:cNvSpPr txBox="1"/>
          <p:nvPr/>
        </p:nvSpPr>
        <p:spPr>
          <a:xfrm>
            <a:off x="8255000" y="2413000"/>
            <a:ext cx="11176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洞察｜模型｜最优</a:t>
            </a:r>
          </a:p>
        </p:txBody>
      </p:sp>
      <p:pic>
        <p:nvPicPr>
          <p:cNvPr id="42" name="Picture 41" descr="cap3_icon_defau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8800" y="1384300"/>
            <a:ext cx="304800" cy="36830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7975600" y="3175000"/>
            <a:ext cx="1676400" cy="1460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[cap4_title]"/>
          <p:cNvSpPr txBox="1"/>
          <p:nvPr/>
        </p:nvSpPr>
        <p:spPr>
          <a:xfrm>
            <a:off x="8559800" y="3302000"/>
            <a:ext cx="97790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执行能力域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178800" y="3632200"/>
            <a:ext cx="1270000" cy="0"/>
          </a:xfrm>
          <a:prstGeom prst="line">
            <a:avLst/>
          </a:prstGeom>
          <a:ln w="15240">
            <a:solidFill>
              <a:srgbClr val="D9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[cap4_body]"/>
          <p:cNvSpPr txBox="1"/>
          <p:nvPr/>
        </p:nvSpPr>
        <p:spPr>
          <a:xfrm>
            <a:off x="8191500" y="3746500"/>
            <a:ext cx="1244600" cy="368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任务分解，协同执行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8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资源匹配，过程管控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91500" y="4330700"/>
            <a:ext cx="1244600" cy="203200"/>
          </a:xfrm>
          <a:prstGeom prst="roundRect">
            <a:avLst>
              <a:gd name="adj" fmla="val 5000"/>
            </a:avLst>
          </a:prstGeom>
          <a:solidFill>
            <a:srgbClr val="FFF2E3"/>
          </a:solidFill>
          <a:ln w="635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[cap4_tag]"/>
          <p:cNvSpPr txBox="1"/>
          <p:nvPr/>
        </p:nvSpPr>
        <p:spPr>
          <a:xfrm>
            <a:off x="8255000" y="4368800"/>
            <a:ext cx="1117600" cy="1270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4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高效｜协同｜可靠</a:t>
            </a:r>
          </a:p>
        </p:txBody>
      </p:sp>
      <p:pic>
        <p:nvPicPr>
          <p:cNvPr id="49" name="Picture 48" descr="cap4_icon_defaul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66100" y="3467100"/>
            <a:ext cx="279400" cy="368300"/>
          </a:xfrm>
          <a:prstGeom prst="rect">
            <a:avLst/>
          </a:prstGeom>
        </p:spPr>
      </p:pic>
      <p:cxnSp>
        <p:nvCxnSpPr>
          <p:cNvPr id="50" name="Connector 49"/>
          <p:cNvCxnSpPr/>
          <p:nvPr/>
        </p:nvCxnSpPr>
        <p:spPr>
          <a:xfrm>
            <a:off x="4000500" y="1936750"/>
            <a:ext cx="330200" cy="0"/>
          </a:xfrm>
          <a:prstGeom prst="line">
            <a:avLst/>
          </a:prstGeom>
          <a:ln w="15240">
            <a:solidFill>
              <a:srgbClr val="AEBB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000500" y="3905250"/>
            <a:ext cx="330200" cy="0"/>
          </a:xfrm>
          <a:prstGeom prst="line">
            <a:avLst/>
          </a:prstGeom>
          <a:ln w="15240">
            <a:solidFill>
              <a:srgbClr val="AEBB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861300" y="1936750"/>
            <a:ext cx="114300" cy="0"/>
          </a:xfrm>
          <a:prstGeom prst="line">
            <a:avLst/>
          </a:prstGeom>
          <a:ln w="15240">
            <a:solidFill>
              <a:srgbClr val="AEBB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861300" y="3905250"/>
            <a:ext cx="114300" cy="0"/>
          </a:xfrm>
          <a:prstGeom prst="line">
            <a:avLst/>
          </a:prstGeom>
          <a:ln w="15240">
            <a:solidFill>
              <a:srgbClr val="AEBB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16500" y="1511300"/>
            <a:ext cx="1536700" cy="0"/>
          </a:xfrm>
          <a:prstGeom prst="line">
            <a:avLst/>
          </a:prstGeom>
          <a:ln w="101600">
            <a:solidFill>
              <a:srgbClr val="078D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188200" y="2095500"/>
            <a:ext cx="0" cy="1181100"/>
          </a:xfrm>
          <a:prstGeom prst="line">
            <a:avLst/>
          </a:prstGeom>
          <a:ln w="101600">
            <a:solidFill>
              <a:srgbClr val="0B2F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5016500" y="4064000"/>
            <a:ext cx="1536700" cy="0"/>
          </a:xfrm>
          <a:prstGeom prst="line">
            <a:avLst/>
          </a:prstGeom>
          <a:ln w="101600">
            <a:solidFill>
              <a:srgbClr val="D98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381500" y="2095500"/>
            <a:ext cx="0" cy="1181100"/>
          </a:xfrm>
          <a:prstGeom prst="line">
            <a:avLst/>
          </a:prstGeom>
          <a:ln w="101600">
            <a:solidFill>
              <a:srgbClr val="B806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4279900" y="1295400"/>
            <a:ext cx="1092200" cy="1092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78D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node1_icon_defaul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8200" y="1409700"/>
            <a:ext cx="381000" cy="266700"/>
          </a:xfrm>
          <a:prstGeom prst="rect">
            <a:avLst/>
          </a:prstGeom>
        </p:spPr>
      </p:pic>
      <p:sp>
        <p:nvSpPr>
          <p:cNvPr id="60" name="[node1_title]"/>
          <p:cNvSpPr txBox="1"/>
          <p:nvPr/>
        </p:nvSpPr>
        <p:spPr>
          <a:xfrm>
            <a:off x="4406900" y="1790700"/>
            <a:ext cx="8382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4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感知</a:t>
            </a:r>
          </a:p>
        </p:txBody>
      </p:sp>
      <p:sp>
        <p:nvSpPr>
          <p:cNvPr id="61" name="[node1_body]"/>
          <p:cNvSpPr txBox="1"/>
          <p:nvPr/>
        </p:nvSpPr>
        <p:spPr>
          <a:xfrm>
            <a:off x="4381500" y="2032000"/>
            <a:ext cx="8890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获取真实、实时数据</a:t>
            </a:r>
          </a:p>
        </p:txBody>
      </p:sp>
      <p:sp>
        <p:nvSpPr>
          <p:cNvPr id="62" name="Oval 61"/>
          <p:cNvSpPr/>
          <p:nvPr/>
        </p:nvSpPr>
        <p:spPr>
          <a:xfrm>
            <a:off x="6629400" y="1295400"/>
            <a:ext cx="1092200" cy="1092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3" name="Picture 62" descr="node2_icon_defaul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1200" y="1384300"/>
            <a:ext cx="266700" cy="279400"/>
          </a:xfrm>
          <a:prstGeom prst="rect">
            <a:avLst/>
          </a:prstGeom>
        </p:spPr>
      </p:pic>
      <p:sp>
        <p:nvSpPr>
          <p:cNvPr id="64" name="[node2_title]"/>
          <p:cNvSpPr txBox="1"/>
          <p:nvPr/>
        </p:nvSpPr>
        <p:spPr>
          <a:xfrm>
            <a:off x="6756400" y="1790700"/>
            <a:ext cx="8382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4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决策</a:t>
            </a:r>
          </a:p>
        </p:txBody>
      </p:sp>
      <p:sp>
        <p:nvSpPr>
          <p:cNvPr id="65" name="[node2_body]"/>
          <p:cNvSpPr txBox="1"/>
          <p:nvPr/>
        </p:nvSpPr>
        <p:spPr>
          <a:xfrm>
            <a:off x="6731000" y="2032000"/>
            <a:ext cx="889000" cy="2667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输出最优决策方案</a:t>
            </a:r>
          </a:p>
        </p:txBody>
      </p:sp>
      <p:sp>
        <p:nvSpPr>
          <p:cNvPr id="66" name="Oval 65"/>
          <p:cNvSpPr/>
          <p:nvPr/>
        </p:nvSpPr>
        <p:spPr>
          <a:xfrm>
            <a:off x="6629400" y="3251200"/>
            <a:ext cx="1092200" cy="1092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node3_icon_defaul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08800" y="3289300"/>
            <a:ext cx="508000" cy="495300"/>
          </a:xfrm>
          <a:prstGeom prst="rect">
            <a:avLst/>
          </a:prstGeom>
        </p:spPr>
      </p:pic>
      <p:sp>
        <p:nvSpPr>
          <p:cNvPr id="68" name="[node3_title]"/>
          <p:cNvSpPr txBox="1"/>
          <p:nvPr/>
        </p:nvSpPr>
        <p:spPr>
          <a:xfrm>
            <a:off x="6756400" y="3797300"/>
            <a:ext cx="8382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4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9" name="[node3_body]"/>
          <p:cNvSpPr txBox="1"/>
          <p:nvPr/>
        </p:nvSpPr>
        <p:spPr>
          <a:xfrm>
            <a:off x="6731000" y="4038600"/>
            <a:ext cx="889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落地执行与资源协同</a:t>
            </a:r>
          </a:p>
        </p:txBody>
      </p:sp>
      <p:sp>
        <p:nvSpPr>
          <p:cNvPr id="70" name="Oval 69"/>
          <p:cNvSpPr/>
          <p:nvPr/>
        </p:nvSpPr>
        <p:spPr>
          <a:xfrm>
            <a:off x="4279900" y="3251200"/>
            <a:ext cx="1092200" cy="1092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B806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node4_icon_defaul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46600" y="3378200"/>
            <a:ext cx="571500" cy="393700"/>
          </a:xfrm>
          <a:prstGeom prst="rect">
            <a:avLst/>
          </a:prstGeom>
        </p:spPr>
      </p:pic>
      <p:sp>
        <p:nvSpPr>
          <p:cNvPr id="72" name="[node4_title]"/>
          <p:cNvSpPr txBox="1"/>
          <p:nvPr/>
        </p:nvSpPr>
        <p:spPr>
          <a:xfrm>
            <a:off x="4406900" y="3797300"/>
            <a:ext cx="838200" cy="2413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4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73" name="[node4_body]"/>
          <p:cNvSpPr txBox="1"/>
          <p:nvPr/>
        </p:nvSpPr>
        <p:spPr>
          <a:xfrm>
            <a:off x="4381500" y="4038600"/>
            <a:ext cx="889000" cy="2413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沉淀经验驱动改进</a:t>
            </a:r>
          </a:p>
        </p:txBody>
      </p:sp>
      <p:sp>
        <p:nvSpPr>
          <p:cNvPr id="74" name="[center_title]"/>
          <p:cNvSpPr txBox="1"/>
          <p:nvPr/>
        </p:nvSpPr>
        <p:spPr>
          <a:xfrm>
            <a:off x="5461000" y="2362200"/>
            <a:ext cx="1079500" cy="317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6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闭环驱动</a:t>
            </a:r>
          </a:p>
        </p:txBody>
      </p:sp>
      <p:sp>
        <p:nvSpPr>
          <p:cNvPr id="75" name="[center_body]"/>
          <p:cNvSpPr txBox="1"/>
          <p:nvPr/>
        </p:nvSpPr>
        <p:spPr>
          <a:xfrm>
            <a:off x="5270500" y="2730500"/>
            <a:ext cx="1460500" cy="1905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19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持续优化 · 价值增长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59400" y="3035300"/>
            <a:ext cx="1397000" cy="55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▣ 以业务目标为牵引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▣ 以数据驱动为核心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▣ 以闭环迭代为路径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766300" y="1168400"/>
            <a:ext cx="2247900" cy="3530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8" name="Picture 77" descr="validation_header_icon_defaul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12400" y="1295400"/>
            <a:ext cx="254000" cy="25400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10668000" y="1320800"/>
            <a:ext cx="952500" cy="215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3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验证机制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9880600" y="1714500"/>
            <a:ext cx="2019300" cy="419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check1_icon_defaul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82200" y="1854200"/>
            <a:ext cx="304800" cy="266700"/>
          </a:xfrm>
          <a:prstGeom prst="rect">
            <a:avLst/>
          </a:prstGeom>
        </p:spPr>
      </p:pic>
      <p:sp>
        <p:nvSpPr>
          <p:cNvPr id="82" name="[check1_title]"/>
          <p:cNvSpPr txBox="1"/>
          <p:nvPr/>
        </p:nvSpPr>
        <p:spPr>
          <a:xfrm>
            <a:off x="10477500" y="1771650"/>
            <a:ext cx="10414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数据质量</a:t>
            </a:r>
          </a:p>
        </p:txBody>
      </p:sp>
      <p:sp>
        <p:nvSpPr>
          <p:cNvPr id="83" name="[check1_body]"/>
          <p:cNvSpPr txBox="1"/>
          <p:nvPr/>
        </p:nvSpPr>
        <p:spPr>
          <a:xfrm>
            <a:off x="10477500" y="1949450"/>
            <a:ext cx="10414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完整｜一致｜准确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1595100" y="1841500"/>
            <a:ext cx="190500" cy="165100"/>
          </a:xfrm>
          <a:prstGeom prst="roundRect">
            <a:avLst>
              <a:gd name="adj" fmla="val 5000"/>
            </a:avLst>
          </a:prstGeom>
          <a:solidFill>
            <a:srgbClr val="159A6B"/>
          </a:solidFill>
          <a:ln w="5080">
            <a:solidFill>
              <a:srgbClr val="15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620500" y="1841500"/>
            <a:ext cx="1397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880600" y="2260600"/>
            <a:ext cx="2019300" cy="419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check2_icon_default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982200" y="2425700"/>
            <a:ext cx="304800" cy="266700"/>
          </a:xfrm>
          <a:prstGeom prst="rect">
            <a:avLst/>
          </a:prstGeom>
        </p:spPr>
      </p:pic>
      <p:sp>
        <p:nvSpPr>
          <p:cNvPr id="88" name="[check2_title]"/>
          <p:cNvSpPr txBox="1"/>
          <p:nvPr/>
        </p:nvSpPr>
        <p:spPr>
          <a:xfrm>
            <a:off x="10477500" y="2317750"/>
            <a:ext cx="10414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业务规则</a:t>
            </a:r>
          </a:p>
        </p:txBody>
      </p:sp>
      <p:sp>
        <p:nvSpPr>
          <p:cNvPr id="89" name="[check2_body]"/>
          <p:cNvSpPr txBox="1"/>
          <p:nvPr/>
        </p:nvSpPr>
        <p:spPr>
          <a:xfrm>
            <a:off x="10477500" y="2495550"/>
            <a:ext cx="10414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规则与逻辑校验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1595100" y="2387600"/>
            <a:ext cx="190500" cy="165100"/>
          </a:xfrm>
          <a:prstGeom prst="roundRect">
            <a:avLst>
              <a:gd name="adj" fmla="val 5000"/>
            </a:avLst>
          </a:prstGeom>
          <a:solidFill>
            <a:srgbClr val="159A6B"/>
          </a:solidFill>
          <a:ln w="5080">
            <a:solidFill>
              <a:srgbClr val="15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1620500" y="2387600"/>
            <a:ext cx="1397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9880600" y="2806700"/>
            <a:ext cx="2019300" cy="419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3" name="Picture 92" descr="check3_icon_default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982200" y="2984500"/>
            <a:ext cx="304800" cy="279400"/>
          </a:xfrm>
          <a:prstGeom prst="rect">
            <a:avLst/>
          </a:prstGeom>
        </p:spPr>
      </p:pic>
      <p:sp>
        <p:nvSpPr>
          <p:cNvPr id="94" name="[check3_title]"/>
          <p:cNvSpPr txBox="1"/>
          <p:nvPr/>
        </p:nvSpPr>
        <p:spPr>
          <a:xfrm>
            <a:off x="10477500" y="2863850"/>
            <a:ext cx="10414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合规校验</a:t>
            </a:r>
          </a:p>
        </p:txBody>
      </p:sp>
      <p:sp>
        <p:nvSpPr>
          <p:cNvPr id="95" name="[check3_body]"/>
          <p:cNvSpPr txBox="1"/>
          <p:nvPr/>
        </p:nvSpPr>
        <p:spPr>
          <a:xfrm>
            <a:off x="10477500" y="3041650"/>
            <a:ext cx="10414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政策与标准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1595100" y="2933700"/>
            <a:ext cx="190500" cy="165100"/>
          </a:xfrm>
          <a:prstGeom prst="roundRect">
            <a:avLst>
              <a:gd name="adj" fmla="val 5000"/>
            </a:avLst>
          </a:prstGeom>
          <a:solidFill>
            <a:srgbClr val="159A6B"/>
          </a:solidFill>
          <a:ln w="5080">
            <a:solidFill>
              <a:srgbClr val="15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1620500" y="2933700"/>
            <a:ext cx="1397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9880600" y="3352800"/>
            <a:ext cx="2019300" cy="419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9" name="Picture 98" descr="check4_icon_default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82200" y="3543300"/>
            <a:ext cx="304800" cy="292100"/>
          </a:xfrm>
          <a:prstGeom prst="rect">
            <a:avLst/>
          </a:prstGeom>
        </p:spPr>
      </p:pic>
      <p:sp>
        <p:nvSpPr>
          <p:cNvPr id="100" name="[check4_title]"/>
          <p:cNvSpPr txBox="1"/>
          <p:nvPr/>
        </p:nvSpPr>
        <p:spPr>
          <a:xfrm>
            <a:off x="10477500" y="3409950"/>
            <a:ext cx="10414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效果验证</a:t>
            </a:r>
          </a:p>
        </p:txBody>
      </p:sp>
      <p:sp>
        <p:nvSpPr>
          <p:cNvPr id="101" name="[check4_body]"/>
          <p:cNvSpPr txBox="1"/>
          <p:nvPr/>
        </p:nvSpPr>
        <p:spPr>
          <a:xfrm>
            <a:off x="10477500" y="3587750"/>
            <a:ext cx="10414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指标与效果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1595100" y="3479800"/>
            <a:ext cx="190500" cy="165100"/>
          </a:xfrm>
          <a:prstGeom prst="roundRect">
            <a:avLst>
              <a:gd name="adj" fmla="val 5000"/>
            </a:avLst>
          </a:prstGeom>
          <a:solidFill>
            <a:srgbClr val="D98200"/>
          </a:solidFill>
          <a:ln w="5080">
            <a:solidFill>
              <a:srgbClr val="D98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1620500" y="3479800"/>
            <a:ext cx="1397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9880600" y="3898900"/>
            <a:ext cx="2019300" cy="4191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DD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check5_icon_defaul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982200" y="4102100"/>
            <a:ext cx="304800" cy="279400"/>
          </a:xfrm>
          <a:prstGeom prst="rect">
            <a:avLst/>
          </a:prstGeom>
        </p:spPr>
      </p:pic>
      <p:sp>
        <p:nvSpPr>
          <p:cNvPr id="106" name="[check5_title]"/>
          <p:cNvSpPr txBox="1"/>
          <p:nvPr/>
        </p:nvSpPr>
        <p:spPr>
          <a:xfrm>
            <a:off x="10477500" y="3956050"/>
            <a:ext cx="10414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1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风险评估</a:t>
            </a:r>
          </a:p>
        </p:txBody>
      </p:sp>
      <p:sp>
        <p:nvSpPr>
          <p:cNvPr id="107" name="[check5_body]"/>
          <p:cNvSpPr txBox="1"/>
          <p:nvPr/>
        </p:nvSpPr>
        <p:spPr>
          <a:xfrm>
            <a:off x="10477500" y="4133850"/>
            <a:ext cx="1041400" cy="139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700" b="0">
                <a:solidFill>
                  <a:srgbClr val="334056"/>
                </a:solidFill>
                <a:latin typeface="微软雅黑"/>
                <a:ea typeface="微软雅黑"/>
                <a:cs typeface="微软雅黑"/>
              </a:rPr>
              <a:t>识别与影响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1595100" y="4025900"/>
            <a:ext cx="190500" cy="165100"/>
          </a:xfrm>
          <a:prstGeom prst="roundRect">
            <a:avLst>
              <a:gd name="adj" fmla="val 5000"/>
            </a:avLst>
          </a:prstGeom>
          <a:solidFill>
            <a:srgbClr val="159A6B"/>
          </a:solidFill>
          <a:ln w="5080">
            <a:solidFill>
              <a:srgbClr val="159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1620500" y="4025900"/>
            <a:ext cx="1397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✓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071100" y="4470400"/>
            <a:ext cx="1714500" cy="1651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0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● 通过  ● 预警  ● 未通过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41300" y="5016500"/>
            <a:ext cx="28575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111" descr="kpi1_icon_default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68300" y="5283200"/>
            <a:ext cx="685800" cy="749300"/>
          </a:xfrm>
          <a:prstGeom prst="rect">
            <a:avLst/>
          </a:prstGeom>
        </p:spPr>
      </p:pic>
      <p:sp>
        <p:nvSpPr>
          <p:cNvPr id="113" name="[kpi1_title]"/>
          <p:cNvSpPr txBox="1"/>
          <p:nvPr/>
        </p:nvSpPr>
        <p:spPr>
          <a:xfrm>
            <a:off x="1168400" y="5156200"/>
            <a:ext cx="1778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6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闭环响应时效</a:t>
            </a:r>
          </a:p>
        </p:txBody>
      </p:sp>
      <p:sp>
        <p:nvSpPr>
          <p:cNvPr id="114" name="[kpi1_value]"/>
          <p:cNvSpPr txBox="1"/>
          <p:nvPr/>
        </p:nvSpPr>
        <p:spPr>
          <a:xfrm>
            <a:off x="1168400" y="5359400"/>
            <a:ext cx="17780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900" b="1">
                <a:solidFill>
                  <a:srgbClr val="078D98"/>
                </a:solidFill>
                <a:latin typeface="微软雅黑"/>
                <a:ea typeface="微软雅黑"/>
                <a:cs typeface="微软雅黑"/>
              </a:rPr>
              <a:t>38.6 分钟</a:t>
            </a:r>
          </a:p>
        </p:txBody>
      </p:sp>
      <p:sp>
        <p:nvSpPr>
          <p:cNvPr id="115" name="[kpi1_note]"/>
          <p:cNvSpPr txBox="1"/>
          <p:nvPr/>
        </p:nvSpPr>
        <p:spPr>
          <a:xfrm>
            <a:off x="1168400" y="5727700"/>
            <a:ext cx="17780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目标：≤45 分钟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3251200" y="5016500"/>
            <a:ext cx="27686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7" name="Picture 116" descr="kpi2_icon_default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390900" y="5283200"/>
            <a:ext cx="685800" cy="723900"/>
          </a:xfrm>
          <a:prstGeom prst="rect">
            <a:avLst/>
          </a:prstGeom>
        </p:spPr>
      </p:pic>
      <p:sp>
        <p:nvSpPr>
          <p:cNvPr id="118" name="[kpi2_title]"/>
          <p:cNvSpPr txBox="1"/>
          <p:nvPr/>
        </p:nvSpPr>
        <p:spPr>
          <a:xfrm>
            <a:off x="4191000" y="5156200"/>
            <a:ext cx="16764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6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决策准确率</a:t>
            </a:r>
          </a:p>
        </p:txBody>
      </p:sp>
      <p:sp>
        <p:nvSpPr>
          <p:cNvPr id="119" name="[kpi2_value]"/>
          <p:cNvSpPr txBox="1"/>
          <p:nvPr/>
        </p:nvSpPr>
        <p:spPr>
          <a:xfrm>
            <a:off x="4191000" y="5359400"/>
            <a:ext cx="16764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900" b="1">
                <a:solidFill>
                  <a:srgbClr val="0B2F86"/>
                </a:solidFill>
                <a:latin typeface="微软雅黑"/>
                <a:ea typeface="微软雅黑"/>
                <a:cs typeface="微软雅黑"/>
              </a:rPr>
              <a:t>92.7%</a:t>
            </a:r>
          </a:p>
        </p:txBody>
      </p:sp>
      <p:sp>
        <p:nvSpPr>
          <p:cNvPr id="120" name="[kpi2_note]"/>
          <p:cNvSpPr txBox="1"/>
          <p:nvPr/>
        </p:nvSpPr>
        <p:spPr>
          <a:xfrm>
            <a:off x="4191000" y="5727700"/>
            <a:ext cx="16764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目标：≥90%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159500" y="5016500"/>
            <a:ext cx="274955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2" name="Picture 121" descr="kpi3_icon_default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73800" y="5283200"/>
            <a:ext cx="723900" cy="736600"/>
          </a:xfrm>
          <a:prstGeom prst="rect">
            <a:avLst/>
          </a:prstGeom>
        </p:spPr>
      </p:pic>
      <p:sp>
        <p:nvSpPr>
          <p:cNvPr id="123" name="[kpi3_title]"/>
          <p:cNvSpPr txBox="1"/>
          <p:nvPr/>
        </p:nvSpPr>
        <p:spPr>
          <a:xfrm>
            <a:off x="7112000" y="5156200"/>
            <a:ext cx="164465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6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执行达成率</a:t>
            </a:r>
          </a:p>
        </p:txBody>
      </p:sp>
      <p:sp>
        <p:nvSpPr>
          <p:cNvPr id="124" name="[kpi3_value]"/>
          <p:cNvSpPr txBox="1"/>
          <p:nvPr/>
        </p:nvSpPr>
        <p:spPr>
          <a:xfrm>
            <a:off x="7112000" y="5359400"/>
            <a:ext cx="164465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900" b="1">
                <a:solidFill>
                  <a:srgbClr val="D98200"/>
                </a:solidFill>
                <a:latin typeface="微软雅黑"/>
                <a:ea typeface="微软雅黑"/>
                <a:cs typeface="微软雅黑"/>
              </a:rPr>
              <a:t>96.3%</a:t>
            </a:r>
          </a:p>
        </p:txBody>
      </p:sp>
      <p:sp>
        <p:nvSpPr>
          <p:cNvPr id="125" name="[kpi3_note]"/>
          <p:cNvSpPr txBox="1"/>
          <p:nvPr/>
        </p:nvSpPr>
        <p:spPr>
          <a:xfrm>
            <a:off x="7112000" y="5727700"/>
            <a:ext cx="164465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目标：≥95%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9080500" y="5016500"/>
            <a:ext cx="2908300" cy="101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7" name="Picture 126" descr="kpi4_icon_default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94800" y="5283200"/>
            <a:ext cx="774700" cy="749300"/>
          </a:xfrm>
          <a:prstGeom prst="rect">
            <a:avLst/>
          </a:prstGeom>
        </p:spPr>
      </p:pic>
      <p:sp>
        <p:nvSpPr>
          <p:cNvPr id="128" name="[kpi4_title]"/>
          <p:cNvSpPr txBox="1"/>
          <p:nvPr/>
        </p:nvSpPr>
        <p:spPr>
          <a:xfrm>
            <a:off x="10083800" y="5156200"/>
            <a:ext cx="17526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06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闭环迭代次数</a:t>
            </a:r>
          </a:p>
        </p:txBody>
      </p:sp>
      <p:sp>
        <p:nvSpPr>
          <p:cNvPr id="129" name="[kpi4_value]"/>
          <p:cNvSpPr txBox="1"/>
          <p:nvPr/>
        </p:nvSpPr>
        <p:spPr>
          <a:xfrm>
            <a:off x="10083800" y="5359400"/>
            <a:ext cx="1752600" cy="3429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1900" b="1">
                <a:solidFill>
                  <a:srgbClr val="B80606"/>
                </a:solidFill>
                <a:latin typeface="微软雅黑"/>
                <a:ea typeface="微软雅黑"/>
                <a:cs typeface="微软雅黑"/>
              </a:rPr>
              <a:t>12.8 次/周</a:t>
            </a:r>
          </a:p>
        </p:txBody>
      </p:sp>
      <p:sp>
        <p:nvSpPr>
          <p:cNvPr id="130" name="[kpi4_note]"/>
          <p:cNvSpPr txBox="1"/>
          <p:nvPr/>
        </p:nvSpPr>
        <p:spPr>
          <a:xfrm>
            <a:off x="10083800" y="5727700"/>
            <a:ext cx="1752600" cy="241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860" b="0">
                <a:solidFill>
                  <a:srgbClr val="142033"/>
                </a:solidFill>
                <a:latin typeface="微软雅黑"/>
                <a:ea typeface="微软雅黑"/>
                <a:cs typeface="微软雅黑"/>
              </a:rPr>
              <a:t>目标：≥10 次/周</a:t>
            </a:r>
          </a:p>
        </p:txBody>
      </p:sp>
      <p:pic>
        <p:nvPicPr>
          <p:cNvPr id="131" name="Picture 130" descr="footer_brand_logo_default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048500" y="6451600"/>
            <a:ext cx="1066800" cy="355600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3873500" y="6248400"/>
            <a:ext cx="4445000" cy="177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z="900" b="0">
                <a:solidFill>
                  <a:srgbClr val="637084"/>
                </a:solidFill>
                <a:latin typeface="微软雅黑"/>
                <a:ea typeface="微软雅黑"/>
                <a:cs typeface="微软雅黑"/>
              </a:rPr>
              <a:t>以闭环驱动持续优化，以数据创造业务价值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
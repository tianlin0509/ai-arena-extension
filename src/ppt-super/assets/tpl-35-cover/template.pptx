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年度汇报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从规模建网到价值变现: 5G-A 商用元年的进展与下一步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[cover_title]"/>
          <p:cNvSpPr txBox="1"/>
          <p:nvPr/>
        </p:nvSpPr>
        <p:spPr>
          <a:xfrm>
            <a:off x="381000" y="1206500"/>
            <a:ext cx="5524500" cy="1206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B90A0A"/>
                </a:solidFill>
                <a:latin typeface="Microsoft YaHei"/>
                <a:ea typeface="Microsoft YaHei"/>
              </a:rPr>
              <a:t>5G-A 价值网络</a:t>
            </a:r>
          </a:p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B90A0A"/>
                </a:solidFill>
                <a:latin typeface="Microsoft YaHei"/>
                <a:ea typeface="Microsoft YaHei"/>
              </a:rPr>
              <a:t>商用领航行动汇报</a:t>
            </a:r>
          </a:p>
        </p:txBody>
      </p:sp>
      <p:sp>
        <p:nvSpPr>
          <p:cNvPr id="7" name="[cover_subtitle]"/>
          <p:cNvSpPr txBox="1"/>
          <p:nvPr/>
        </p:nvSpPr>
        <p:spPr>
          <a:xfrm>
            <a:off x="381000" y="2514600"/>
            <a:ext cx="55245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Microsoft YaHei"/>
                <a:ea typeface="Microsoft YaHei"/>
              </a:rPr>
              <a:t>通感一体 × 无源物联 × 万兆体验, 撬动行业数字化第二增长曲线</a:t>
            </a:r>
          </a:p>
        </p:txBody>
      </p:sp>
      <p:sp>
        <p:nvSpPr>
          <p:cNvPr id="8" name="[presenter]"/>
          <p:cNvSpPr txBox="1"/>
          <p:nvPr/>
        </p:nvSpPr>
        <p:spPr>
          <a:xfrm>
            <a:off x="381000" y="3086100"/>
            <a:ext cx="29210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</a:rPr>
              <a:t>汇报人: 无线网络产品线 · 张伟</a:t>
            </a:r>
          </a:p>
        </p:txBody>
      </p:sp>
      <p:sp>
        <p:nvSpPr>
          <p:cNvPr id="9" name="[report_date]"/>
          <p:cNvSpPr txBox="1"/>
          <p:nvPr/>
        </p:nvSpPr>
        <p:spPr>
          <a:xfrm>
            <a:off x="3556000" y="3086100"/>
            <a:ext cx="19050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</a:rPr>
              <a:t>2026 年 6 月 11 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1000" y="3505200"/>
            <a:ext cx="552450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1000" y="3683000"/>
            <a:ext cx="55245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1000" y="36830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299" y="3683000"/>
            <a:ext cx="53594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汇报议程</a:t>
            </a:r>
          </a:p>
        </p:txBody>
      </p:sp>
      <p:sp>
        <p:nvSpPr>
          <p:cNvPr id="14" name="Oval 13"/>
          <p:cNvSpPr/>
          <p:nvPr/>
        </p:nvSpPr>
        <p:spPr>
          <a:xfrm>
            <a:off x="381000" y="4140200"/>
            <a:ext cx="406400" cy="406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4140200"/>
            <a:ext cx="4064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6" name="[agenda1]"/>
          <p:cNvSpPr txBox="1"/>
          <p:nvPr/>
        </p:nvSpPr>
        <p:spPr>
          <a:xfrm>
            <a:off x="939799" y="4102099"/>
            <a:ext cx="49657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</a:rPr>
              <a:t>商用进展: 30 城连续覆盖落地与年度 KPI 达成情况</a:t>
            </a:r>
          </a:p>
        </p:txBody>
      </p:sp>
      <p:sp>
        <p:nvSpPr>
          <p:cNvPr id="17" name="Oval 16"/>
          <p:cNvSpPr/>
          <p:nvPr/>
        </p:nvSpPr>
        <p:spPr>
          <a:xfrm>
            <a:off x="381000" y="4927600"/>
            <a:ext cx="406400" cy="406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000" y="4927600"/>
            <a:ext cx="4064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[agenda2]"/>
          <p:cNvSpPr txBox="1"/>
          <p:nvPr/>
        </p:nvSpPr>
        <p:spPr>
          <a:xfrm>
            <a:off x="939799" y="4889500"/>
            <a:ext cx="49657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</a:rPr>
              <a:t>价值案例: 钢铁/港口/文旅三大行业灯塔局点拆解</a:t>
            </a:r>
          </a:p>
        </p:txBody>
      </p:sp>
      <p:sp>
        <p:nvSpPr>
          <p:cNvPr id="20" name="Oval 19"/>
          <p:cNvSpPr/>
          <p:nvPr/>
        </p:nvSpPr>
        <p:spPr>
          <a:xfrm>
            <a:off x="381000" y="5715000"/>
            <a:ext cx="406400" cy="406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5715000"/>
            <a:ext cx="4064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[agenda3]"/>
          <p:cNvSpPr txBox="1"/>
          <p:nvPr/>
        </p:nvSpPr>
        <p:spPr>
          <a:xfrm>
            <a:off x="939799" y="5676900"/>
            <a:ext cx="49657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</a:rPr>
              <a:t>下一步: 2026 H2 规模变现作战计划与资源诉求</a:t>
            </a:r>
          </a:p>
        </p:txBody>
      </p:sp>
      <p:sp>
        <p:nvSpPr>
          <p:cNvPr id="23" name="[hero_img]"/>
          <p:cNvSpPr/>
          <p:nvPr/>
        </p:nvSpPr>
        <p:spPr>
          <a:xfrm>
            <a:off x="6350000" y="825500"/>
            <a:ext cx="5461000" cy="5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3263900"/>
            <a:ext cx="5461000" cy="203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0" y="6045200"/>
            <a:ext cx="5461000" cy="4445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[hero_kpi]"/>
          <p:cNvSpPr txBox="1"/>
          <p:nvPr/>
        </p:nvSpPr>
        <p:spPr>
          <a:xfrm>
            <a:off x="6350000" y="6045200"/>
            <a:ext cx="5461000" cy="444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</a:rPr>
              <a:t>5G-A 签约局点 86 个 · 商用收入 12.4 亿元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
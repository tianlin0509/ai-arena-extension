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智能体演进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研发智能化三代演进: 工具→助手→智能体, 人均效能提升 5 倍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1000" y="825500"/>
            <a:ext cx="3429000" cy="4381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825500"/>
            <a:ext cx="3429000" cy="406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[gen1_name]"/>
          <p:cNvSpPr txBox="1"/>
          <p:nvPr/>
        </p:nvSpPr>
        <p:spPr>
          <a:xfrm>
            <a:off x="381000" y="825500"/>
            <a:ext cx="3429000" cy="406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第一代 · 工具 (2020-2022)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9899" y="1320800"/>
            <a:ext cx="3251200" cy="495299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gen1_def]"/>
          <p:cNvSpPr txBox="1"/>
          <p:nvPr/>
        </p:nvSpPr>
        <p:spPr>
          <a:xfrm>
            <a:off x="558800" y="1320800"/>
            <a:ext cx="2667000" cy="495299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95959"/>
                </a:solidFill>
                <a:latin typeface="Microsoft YaHei"/>
                <a:ea typeface="Microsoft YaHei"/>
              </a:rPr>
              <a:t>被动响应式单点提效: 开发者全程主导, 工具按指令完成单一任务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4700" y="1402484"/>
            <a:ext cx="292100" cy="292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900" b="1" i="0">
                <a:solidFill>
                  <a:srgbClr val="1F4E79"/>
                </a:solidFill>
                <a:latin typeface="Microsoft YaHei"/>
                <a:ea typeface="Microsoft YaHei"/>
              </a:rPr>
              <a:t>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8000" y="1905000"/>
            <a:ext cx="31750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[gen1_bullets]"/>
          <p:cNvSpPr txBox="1"/>
          <p:nvPr/>
        </p:nvSpPr>
        <p:spPr>
          <a:xfrm>
            <a:off x="533400" y="1981199"/>
            <a:ext cx="3124200" cy="14732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第一代工具以代码补全、语法检查等单点能力为主, 无上下文记忆, 每次使用均从零开始, 提效局限于编码单一环节, 约 15%。由于仅做模式匹配而不理解业务意图, 规则库维护成本高且更新滞后, 覆盖语言与框架有限、长尾场景基本缺位, 产出质量完全依赖开发者自行把关。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1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[gen1_flow1]"/>
          <p:cNvSpPr txBox="1"/>
          <p:nvPr/>
        </p:nvSpPr>
        <p:spPr>
          <a:xfrm>
            <a:off x="5461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人下指令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85900" y="3771900"/>
            <a:ext cx="133350" cy="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63195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gen1_flow2]"/>
          <p:cNvSpPr txBox="1"/>
          <p:nvPr/>
        </p:nvSpPr>
        <p:spPr>
          <a:xfrm>
            <a:off x="163195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工具执行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71750" y="3771900"/>
            <a:ext cx="133350" cy="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7178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[gen1_flow3]"/>
          <p:cNvSpPr txBox="1"/>
          <p:nvPr/>
        </p:nvSpPr>
        <p:spPr>
          <a:xfrm>
            <a:off x="27178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人工检查</a:t>
            </a:r>
          </a:p>
        </p:txBody>
      </p:sp>
      <p:sp>
        <p:nvSpPr>
          <p:cNvPr id="22" name="[gen1_note]"/>
          <p:cNvSpPr txBox="1"/>
          <p:nvPr/>
        </p:nvSpPr>
        <p:spPr>
          <a:xfrm>
            <a:off x="533400" y="4038600"/>
            <a:ext cx="31242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典型实践: IDE 插件式补全与静态检查, 仅覆盖编码单环节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4673600"/>
            <a:ext cx="3175000" cy="3556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[gen1_level]"/>
          <p:cNvSpPr txBox="1"/>
          <p:nvPr/>
        </p:nvSpPr>
        <p:spPr>
          <a:xfrm>
            <a:off x="508000" y="4673600"/>
            <a:ext cx="31750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1F4E79"/>
                </a:solidFill>
                <a:latin typeface="Microsoft YaHei"/>
                <a:ea typeface="Microsoft YaHei"/>
              </a:rPr>
              <a:t>能力等级 L1 · 被动执行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825500"/>
            <a:ext cx="3429000" cy="4381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1500" y="825500"/>
            <a:ext cx="3429000" cy="406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[gen2_name]"/>
          <p:cNvSpPr txBox="1"/>
          <p:nvPr/>
        </p:nvSpPr>
        <p:spPr>
          <a:xfrm>
            <a:off x="4381500" y="825500"/>
            <a:ext cx="3429000" cy="406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第二代 · 助手 (2023-2024)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70400" y="1320800"/>
            <a:ext cx="3251200" cy="495299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[gen2_def]"/>
          <p:cNvSpPr txBox="1"/>
          <p:nvPr/>
        </p:nvSpPr>
        <p:spPr>
          <a:xfrm>
            <a:off x="4559300" y="1320800"/>
            <a:ext cx="2667000" cy="495299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95959"/>
                </a:solidFill>
                <a:latin typeface="Microsoft YaHei"/>
                <a:ea typeface="Microsoft YaHei"/>
              </a:rPr>
              <a:t>多轮对话人机结对: 理解工程上下文, 主动建议但人做决策</a:t>
            </a:r>
          </a:p>
        </p:txBody>
      </p:sp>
      <p:sp>
        <p:nvSpPr>
          <p:cNvPr id="30" name="Oval 29"/>
          <p:cNvSpPr/>
          <p:nvPr/>
        </p:nvSpPr>
        <p:spPr>
          <a:xfrm>
            <a:off x="7402830" y="1422400"/>
            <a:ext cx="116840" cy="1168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ord 30"/>
          <p:cNvSpPr/>
          <p:nvPr/>
        </p:nvSpPr>
        <p:spPr>
          <a:xfrm>
            <a:off x="7341754" y="1553844"/>
            <a:ext cx="238990" cy="233680"/>
          </a:xfrm>
          <a:prstGeom prst="chord">
            <a:avLst>
              <a:gd name="adj1" fmla="val 18000000"/>
              <a:gd name="adj2" fmla="val 0"/>
            </a:avLst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508500" y="1905000"/>
            <a:ext cx="31750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[gen2_bullets]"/>
          <p:cNvSpPr txBox="1"/>
          <p:nvPr/>
        </p:nvSpPr>
        <p:spPr>
          <a:xfrm>
            <a:off x="4533900" y="1981199"/>
            <a:ext cx="3124200" cy="14732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第二代助手具备跨文件上下文理解能力, 可主动给出重构建议, 覆盖需求、代码、用例多个环节, 人机结对使编码效率提升约 40%。但决策与验证仍依赖工程师, 对话式交互的意图澄清成本较高, 复杂任务需人工拆解后再分派, 同时受知识截止局限, 需要检索增强持续补盲。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466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[gen2_flow1]"/>
          <p:cNvSpPr txBox="1"/>
          <p:nvPr/>
        </p:nvSpPr>
        <p:spPr>
          <a:xfrm>
            <a:off x="45466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人提需求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0" y="3771900"/>
            <a:ext cx="133350" cy="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63245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[gen2_flow2]"/>
          <p:cNvSpPr txBox="1"/>
          <p:nvPr/>
        </p:nvSpPr>
        <p:spPr>
          <a:xfrm>
            <a:off x="563245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AI 建议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72250" y="3771900"/>
            <a:ext cx="133350" cy="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7183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[gen2_flow3]"/>
          <p:cNvSpPr txBox="1"/>
          <p:nvPr/>
        </p:nvSpPr>
        <p:spPr>
          <a:xfrm>
            <a:off x="67183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人做决策</a:t>
            </a:r>
          </a:p>
        </p:txBody>
      </p:sp>
      <p:sp>
        <p:nvSpPr>
          <p:cNvPr id="42" name="[gen2_note]"/>
          <p:cNvSpPr txBox="1"/>
          <p:nvPr/>
        </p:nvSpPr>
        <p:spPr>
          <a:xfrm>
            <a:off x="4533900" y="4038600"/>
            <a:ext cx="31242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典型实践: 对话式结对编程, 需求到用例多环节人机协作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08500" y="4673600"/>
            <a:ext cx="3175000" cy="3556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[gen2_level]"/>
          <p:cNvSpPr txBox="1"/>
          <p:nvPr/>
        </p:nvSpPr>
        <p:spPr>
          <a:xfrm>
            <a:off x="4508500" y="4673600"/>
            <a:ext cx="31750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1F4E79"/>
                </a:solidFill>
                <a:latin typeface="Microsoft YaHei"/>
                <a:ea typeface="Microsoft YaHei"/>
              </a:rPr>
              <a:t>能力等级 L2-L3 · 人机协同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81999" y="825500"/>
            <a:ext cx="3429000" cy="4381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81999" y="825500"/>
            <a:ext cx="3429000" cy="406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[gen3_name]"/>
          <p:cNvSpPr txBox="1"/>
          <p:nvPr/>
        </p:nvSpPr>
        <p:spPr>
          <a:xfrm>
            <a:off x="8381999" y="825500"/>
            <a:ext cx="3429000" cy="406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第三代 · 智能体 (2025- 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70900" y="1320800"/>
            <a:ext cx="3251200" cy="495299"/>
          </a:xfrm>
          <a:prstGeom prst="roundRect">
            <a:avLst/>
          </a:prstGeom>
          <a:solidFill>
            <a:srgbClr val="F9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[gen3_def]"/>
          <p:cNvSpPr txBox="1"/>
          <p:nvPr/>
        </p:nvSpPr>
        <p:spPr>
          <a:xfrm>
            <a:off x="8559800" y="1320800"/>
            <a:ext cx="2667000" cy="495299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95959"/>
                </a:solidFill>
                <a:latin typeface="Microsoft YaHei"/>
                <a:ea typeface="Microsoft YaHei"/>
              </a:rPr>
              <a:t>目标驱动自主闭环: 自主规划-执行-验证-修复, 人只看结果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15700" y="1409122"/>
            <a:ext cx="292100" cy="292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B90A0A"/>
                </a:solidFill>
                <a:latin typeface="Microsoft YaHei"/>
                <a:ea typeface="Microsoft YaHei"/>
              </a:rPr>
              <a:t>⚡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509000" y="1905000"/>
            <a:ext cx="31750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[gen3_bullets]"/>
          <p:cNvSpPr txBox="1"/>
          <p:nvPr/>
        </p:nvSpPr>
        <p:spPr>
          <a:xfrm>
            <a:off x="8534400" y="1981199"/>
            <a:ext cx="3124200" cy="14732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第三代智能体实现任务级自主规划与工具编排, 依托执行-验证-修复闭环完成自我纠错, 多智能体协同可端到端交付完整特性, 人均效能提升 5 倍。长任务支持持续运行与断点自动续作, 安全围栏与审计日志保障全程可追溯, 人的角色随之从执行者转向架构评审与指挥官。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471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[gen3_flow1]"/>
          <p:cNvSpPr txBox="1"/>
          <p:nvPr/>
        </p:nvSpPr>
        <p:spPr>
          <a:xfrm>
            <a:off x="85471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B90A0A"/>
                </a:solidFill>
                <a:latin typeface="Microsoft YaHei"/>
                <a:ea typeface="Microsoft YaHei"/>
              </a:rPr>
              <a:t>人定目标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486900" y="3771900"/>
            <a:ext cx="133350" cy="0"/>
          </a:xfrm>
          <a:prstGeom prst="line">
            <a:avLst/>
          </a:prstGeom>
          <a:ln w="17780">
            <a:solidFill>
              <a:srgbClr val="B90A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63295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[gen3_flow2]"/>
          <p:cNvSpPr txBox="1"/>
          <p:nvPr/>
        </p:nvSpPr>
        <p:spPr>
          <a:xfrm>
            <a:off x="963295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B90A0A"/>
                </a:solidFill>
                <a:latin typeface="Microsoft YaHei"/>
                <a:ea typeface="Microsoft YaHei"/>
              </a:rPr>
              <a:t>智能体闭环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572750" y="3771900"/>
            <a:ext cx="133350" cy="0"/>
          </a:xfrm>
          <a:prstGeom prst="line">
            <a:avLst/>
          </a:prstGeom>
          <a:ln w="17780">
            <a:solidFill>
              <a:srgbClr val="B90A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0718800" y="3632200"/>
            <a:ext cx="927100" cy="279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[gen3_flow3]"/>
          <p:cNvSpPr txBox="1"/>
          <p:nvPr/>
        </p:nvSpPr>
        <p:spPr>
          <a:xfrm>
            <a:off x="10718800" y="3632200"/>
            <a:ext cx="9271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B90A0A"/>
                </a:solidFill>
                <a:latin typeface="Microsoft YaHei"/>
                <a:ea typeface="Microsoft YaHei"/>
              </a:rPr>
              <a:t>人验收</a:t>
            </a:r>
          </a:p>
        </p:txBody>
      </p:sp>
      <p:sp>
        <p:nvSpPr>
          <p:cNvPr id="61" name="[gen3_note]"/>
          <p:cNvSpPr txBox="1"/>
          <p:nvPr/>
        </p:nvSpPr>
        <p:spPr>
          <a:xfrm>
            <a:off x="8534400" y="4038600"/>
            <a:ext cx="31242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典型实践: 特性级端到端交付, 人只评审架构与验收结果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09000" y="4673600"/>
            <a:ext cx="3175000" cy="355600"/>
          </a:xfrm>
          <a:prstGeom prst="roundRect">
            <a:avLst/>
          </a:prstGeom>
          <a:solidFill>
            <a:srgbClr val="F9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[gen3_level]"/>
          <p:cNvSpPr txBox="1"/>
          <p:nvPr/>
        </p:nvSpPr>
        <p:spPr>
          <a:xfrm>
            <a:off x="8509000" y="4673600"/>
            <a:ext cx="31750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B90A0A"/>
                </a:solidFill>
                <a:latin typeface="Microsoft YaHei"/>
                <a:ea typeface="Microsoft YaHei"/>
              </a:rPr>
              <a:t>能力等级 L4 · 自主闭环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3860800" y="2781300"/>
            <a:ext cx="469899" cy="29210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ight Arrow 64"/>
          <p:cNvSpPr/>
          <p:nvPr/>
        </p:nvSpPr>
        <p:spPr>
          <a:xfrm>
            <a:off x="7861299" y="2781300"/>
            <a:ext cx="469899" cy="292100"/>
          </a:xfrm>
          <a:prstGeom prst="rightArrow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1000" y="5410200"/>
            <a:ext cx="11430000" cy="812800"/>
          </a:xfrm>
          <a:prstGeom prst="rect">
            <a:avLst/>
          </a:prstGeom>
          <a:solidFill>
            <a:srgbClr val="F9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1000" y="5410200"/>
            <a:ext cx="38100" cy="8128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400" y="5448300"/>
            <a:ext cx="95250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B90A0A"/>
                </a:solidFill>
                <a:latin typeface="Microsoft YaHei"/>
                <a:ea typeface="Microsoft YaHei"/>
              </a:rPr>
              <a:t>演进主线</a:t>
            </a:r>
          </a:p>
        </p:txBody>
      </p:sp>
      <p:sp>
        <p:nvSpPr>
          <p:cNvPr id="69" name="[evolution_concl]"/>
          <p:cNvSpPr txBox="1"/>
          <p:nvPr/>
        </p:nvSpPr>
        <p:spPr>
          <a:xfrm>
            <a:off x="1524000" y="5435600"/>
            <a:ext cx="8381999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F4E79"/>
                </a:solidFill>
                <a:latin typeface="Microsoft YaHei"/>
                <a:ea typeface="Microsoft YaHei"/>
              </a:rPr>
              <a:t>人的角色从“操作者”→“协作者”→“指挥官”, 智能体时代研发组织与流程须同步重构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524000" y="5956300"/>
            <a:ext cx="8255000" cy="0"/>
          </a:xfrm>
          <a:prstGeom prst="line">
            <a:avLst/>
          </a:prstGeom>
          <a:ln w="1905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063750" y="5924550"/>
            <a:ext cx="63500" cy="63500"/>
          </a:xfrm>
          <a:prstGeom prst="ellipse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[milestone1]"/>
          <p:cNvSpPr txBox="1"/>
          <p:nvPr/>
        </p:nvSpPr>
        <p:spPr>
          <a:xfrm>
            <a:off x="1587500" y="6007100"/>
            <a:ext cx="10160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工具元年 2020</a:t>
            </a:r>
          </a:p>
        </p:txBody>
      </p:sp>
      <p:sp>
        <p:nvSpPr>
          <p:cNvPr id="73" name="Oval 72"/>
          <p:cNvSpPr/>
          <p:nvPr/>
        </p:nvSpPr>
        <p:spPr>
          <a:xfrm>
            <a:off x="5619750" y="5924550"/>
            <a:ext cx="63500" cy="63500"/>
          </a:xfrm>
          <a:prstGeom prst="ellipse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[milestone2]"/>
          <p:cNvSpPr txBox="1"/>
          <p:nvPr/>
        </p:nvSpPr>
        <p:spPr>
          <a:xfrm>
            <a:off x="5143500" y="6007100"/>
            <a:ext cx="10160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助手普及 2023</a:t>
            </a:r>
          </a:p>
        </p:txBody>
      </p:sp>
      <p:sp>
        <p:nvSpPr>
          <p:cNvPr id="75" name="Oval 74"/>
          <p:cNvSpPr/>
          <p:nvPr/>
        </p:nvSpPr>
        <p:spPr>
          <a:xfrm>
            <a:off x="9175750" y="5924550"/>
            <a:ext cx="63500" cy="63500"/>
          </a:xfrm>
          <a:prstGeom prst="ellipse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[milestone3]"/>
          <p:cNvSpPr txBox="1"/>
          <p:nvPr/>
        </p:nvSpPr>
        <p:spPr>
          <a:xfrm>
            <a:off x="8699500" y="6007100"/>
            <a:ext cx="10160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智能体爆发 2026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60000" y="5588000"/>
            <a:ext cx="1460500" cy="4064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[bottom_kpi]"/>
          <p:cNvSpPr txBox="1"/>
          <p:nvPr/>
        </p:nvSpPr>
        <p:spPr>
          <a:xfrm>
            <a:off x="10160000" y="5588000"/>
            <a:ext cx="1460500" cy="406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人均效能 ×5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
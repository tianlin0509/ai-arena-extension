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智能调度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473200" y="228600"/>
            <a:ext cx="92075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90A0A"/>
                </a:solidFill>
                <a:latin typeface="Microsoft YaHei"/>
                <a:ea typeface="Microsoft YaHei"/>
              </a:rPr>
              <a:t>L2 调度模型四阶段演进: 从规则基线到全网自智, 小区吞吐累计 +20%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366500" y="304800"/>
            <a:ext cx="419100" cy="241300"/>
          </a:xfrm>
          <a:prstGeom prst="line">
            <a:avLst/>
          </a:prstGeom>
          <a:ln w="2286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1000" y="952500"/>
            <a:ext cx="2514600" cy="459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000" y="952500"/>
            <a:ext cx="2514600" cy="3683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[stage1_name]"/>
          <p:cNvSpPr txBox="1"/>
          <p:nvPr/>
        </p:nvSpPr>
        <p:spPr>
          <a:xfrm>
            <a:off x="457200" y="952500"/>
            <a:ext cx="23622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基线 · 规则调度</a:t>
            </a:r>
          </a:p>
        </p:txBody>
      </p:sp>
      <p:sp>
        <p:nvSpPr>
          <p:cNvPr id="9" name="[stage1_time]"/>
          <p:cNvSpPr txBox="1"/>
          <p:nvPr/>
        </p:nvSpPr>
        <p:spPr>
          <a:xfrm>
            <a:off x="457200" y="1358900"/>
            <a:ext cx="23622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2024H2 现网基线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1566718"/>
            <a:ext cx="304800" cy="304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1F4E79"/>
                </a:solidFill>
                <a:latin typeface="Microsoft YaHei"/>
                <a:ea typeface="Microsoft YaHei"/>
              </a:rPr>
              <a:t>⚙</a:t>
            </a:r>
          </a:p>
        </p:txBody>
      </p:sp>
      <p:sp>
        <p:nvSpPr>
          <p:cNvPr id="11" name="[stage1_bullets]"/>
          <p:cNvSpPr txBox="1"/>
          <p:nvPr/>
        </p:nvSpPr>
        <p:spPr>
          <a:xfrm>
            <a:off x="495299" y="1968500"/>
            <a:ext cx="2286000" cy="1587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</a:rPr>
              <a:t>现网调度依赖专家经验参数模板, OLLA 与 MCS 采用固定门限, 单轮调优周期约两周且场景泛化能力弱。边缘用户体验波动较大, 故障回溯依赖人工日志, 小区吞吐长期停留在 1.00x 基线水平, 规则体系已触及人工优化的能力天花板, 亟需引入数据驱动的智能化手段。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3644900"/>
            <a:ext cx="1651000" cy="2667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[stage1_kpi]"/>
          <p:cNvSpPr txBox="1"/>
          <p:nvPr/>
        </p:nvSpPr>
        <p:spPr>
          <a:xfrm>
            <a:off x="812800" y="3644900"/>
            <a:ext cx="16510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人工调优 2 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5000" y="4038600"/>
            <a:ext cx="20066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[stage1_gain_label]"/>
          <p:cNvSpPr txBox="1"/>
          <p:nvPr/>
        </p:nvSpPr>
        <p:spPr>
          <a:xfrm>
            <a:off x="457200" y="4114800"/>
            <a:ext cx="23622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小区吞吐 (相对基线)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05300"/>
            <a:ext cx="23622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1F4E79"/>
                </a:solidFill>
                <a:latin typeface="Microsoft YaHei"/>
                <a:ea typeface="Microsoft YaHei"/>
              </a:rPr>
              <a:t>1.00x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826000"/>
            <a:ext cx="463550" cy="889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9350" y="4826000"/>
            <a:ext cx="463550" cy="889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63700" y="4826000"/>
            <a:ext cx="463550" cy="889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78050" y="4826000"/>
            <a:ext cx="463550" cy="889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978400"/>
            <a:ext cx="2362200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演进进度 1/4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927350" y="2971800"/>
            <a:ext cx="393700" cy="30480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52800" y="952500"/>
            <a:ext cx="2514600" cy="459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52800" y="952500"/>
            <a:ext cx="2514600" cy="36830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[stage2_name]"/>
          <p:cNvSpPr txBox="1"/>
          <p:nvPr/>
        </p:nvSpPr>
        <p:spPr>
          <a:xfrm>
            <a:off x="3429000" y="952500"/>
            <a:ext cx="23622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</a:rPr>
              <a:t>V1 · 单点 AI</a:t>
            </a:r>
          </a:p>
        </p:txBody>
      </p:sp>
      <p:sp>
        <p:nvSpPr>
          <p:cNvPr id="26" name="[stage2_time]"/>
          <p:cNvSpPr txBox="1"/>
          <p:nvPr/>
        </p:nvSpPr>
        <p:spPr>
          <a:xfrm>
            <a:off x="3429000" y="1358900"/>
            <a:ext cx="23622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2025H1 试点商用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7700" y="1573645"/>
            <a:ext cx="304800" cy="304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700" b="1" i="0">
                <a:solidFill>
                  <a:srgbClr val="1F4E79"/>
                </a:solidFill>
                <a:latin typeface="Microsoft YaHei"/>
                <a:ea typeface="Microsoft YaHei"/>
              </a:rPr>
              <a:t>⚡</a:t>
            </a:r>
          </a:p>
        </p:txBody>
      </p:sp>
      <p:sp>
        <p:nvSpPr>
          <p:cNvPr id="28" name="[stage2_bullets]"/>
          <p:cNvSpPr txBox="1"/>
          <p:nvPr/>
        </p:nvSpPr>
        <p:spPr>
          <a:xfrm>
            <a:off x="3467100" y="1968500"/>
            <a:ext cx="2286000" cy="1587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</a:rPr>
              <a:t>通过 Shapley 值筛选出 15 维核心特征, 以 AI 推理闭环替代固定规则门限, 推理时延控制在 2ms 以内。试点小区吞吐提升 7% 且掉话率持平无劣化, 模型支持周级迭代更新, 已在单站点完成独立部署验证, 证明 AI 调度在现网环境下可行且收益可量化。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84600" y="3644900"/>
            <a:ext cx="1651000" cy="2667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[stage2_kpi]"/>
          <p:cNvSpPr txBox="1"/>
          <p:nvPr/>
        </p:nvSpPr>
        <p:spPr>
          <a:xfrm>
            <a:off x="3784600" y="3644900"/>
            <a:ext cx="16510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时延 &lt;2ms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06800" y="4038600"/>
            <a:ext cx="20066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[stage2_gain_label]"/>
          <p:cNvSpPr txBox="1"/>
          <p:nvPr/>
        </p:nvSpPr>
        <p:spPr>
          <a:xfrm>
            <a:off x="3429000" y="4114800"/>
            <a:ext cx="23622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小区吞吐 (相对基线)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05300"/>
            <a:ext cx="23622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1F4E79"/>
                </a:solidFill>
                <a:latin typeface="Microsoft YaHei"/>
                <a:ea typeface="Microsoft YaHei"/>
              </a:rPr>
              <a:t>1.07x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06800" y="4826000"/>
            <a:ext cx="463550" cy="889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21150" y="4826000"/>
            <a:ext cx="463550" cy="889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35500" y="4826000"/>
            <a:ext cx="463550" cy="889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49850" y="4826000"/>
            <a:ext cx="463550" cy="889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4978400"/>
            <a:ext cx="2362200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演进进度 2/4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899150" y="2971800"/>
            <a:ext cx="393700" cy="30480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24600" y="952500"/>
            <a:ext cx="2514600" cy="459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24600" y="952500"/>
            <a:ext cx="2514600" cy="3683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[stage3_name]"/>
          <p:cNvSpPr txBox="1"/>
          <p:nvPr/>
        </p:nvSpPr>
        <p:spPr>
          <a:xfrm>
            <a:off x="6400800" y="952500"/>
            <a:ext cx="23622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V2 · 多场景泛化</a:t>
            </a:r>
          </a:p>
        </p:txBody>
      </p:sp>
      <p:sp>
        <p:nvSpPr>
          <p:cNvPr id="43" name="[stage3_time]"/>
          <p:cNvSpPr txBox="1"/>
          <p:nvPr/>
        </p:nvSpPr>
        <p:spPr>
          <a:xfrm>
            <a:off x="6400800" y="1358900"/>
            <a:ext cx="23622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2025H2 规模灰度</a:t>
            </a:r>
          </a:p>
        </p:txBody>
      </p:sp>
      <p:sp>
        <p:nvSpPr>
          <p:cNvPr id="44" name="Oval 43"/>
          <p:cNvSpPr/>
          <p:nvPr/>
        </p:nvSpPr>
        <p:spPr>
          <a:xfrm>
            <a:off x="7547263" y="1580572"/>
            <a:ext cx="69272" cy="692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422572" y="1802245"/>
            <a:ext cx="69272" cy="692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671954" y="1802245"/>
            <a:ext cx="69272" cy="692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H="1">
            <a:off x="7457209" y="1615209"/>
            <a:ext cx="124690" cy="221672"/>
          </a:xfrm>
          <a:prstGeom prst="line">
            <a:avLst/>
          </a:prstGeom>
          <a:ln w="127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581899" y="1615209"/>
            <a:ext cx="124691" cy="221672"/>
          </a:xfrm>
          <a:prstGeom prst="line">
            <a:avLst/>
          </a:prstGeom>
          <a:ln w="127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457209" y="1836881"/>
            <a:ext cx="249381" cy="0"/>
          </a:xfrm>
          <a:prstGeom prst="line">
            <a:avLst/>
          </a:prstGeom>
          <a:ln w="1270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[stage3_bullets]"/>
          <p:cNvSpPr txBox="1"/>
          <p:nvPr/>
        </p:nvSpPr>
        <p:spPr>
          <a:xfrm>
            <a:off x="6438900" y="1968500"/>
            <a:ext cx="2286000" cy="1587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</a:rPr>
              <a:t>引入多路径数据生成补齐稀缺场景样本, 区域与现网双场景联合训练, 实现一套模型覆盖多局点。规模灰度扩展至 1200 站, 小区吞吐提升 12%, 配合异常站点自动回退机制与灰度周报闭环跟踪, 保障了规模化推广全过程的安全可控与效果可见。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56400" y="3644900"/>
            <a:ext cx="1651000" cy="2667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[stage3_kpi]"/>
          <p:cNvSpPr txBox="1"/>
          <p:nvPr/>
        </p:nvSpPr>
        <p:spPr>
          <a:xfrm>
            <a:off x="6756400" y="3644900"/>
            <a:ext cx="16510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灰度 1200 站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578600" y="4038600"/>
            <a:ext cx="20066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[stage3_gain_label]"/>
          <p:cNvSpPr txBox="1"/>
          <p:nvPr/>
        </p:nvSpPr>
        <p:spPr>
          <a:xfrm>
            <a:off x="6400800" y="4114800"/>
            <a:ext cx="23622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小区吞吐 (相对基线)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305300"/>
            <a:ext cx="23622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1F4E79"/>
                </a:solidFill>
                <a:latin typeface="Microsoft YaHei"/>
                <a:ea typeface="Microsoft YaHei"/>
              </a:rPr>
              <a:t>1.12x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78600" y="4826000"/>
            <a:ext cx="463550" cy="889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92950" y="4826000"/>
            <a:ext cx="463550" cy="889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607300" y="4826000"/>
            <a:ext cx="463550" cy="889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21650" y="4826000"/>
            <a:ext cx="463550" cy="88900"/>
          </a:xfrm>
          <a:prstGeom prst="rect">
            <a:avLst/>
          </a:prstGeom>
          <a:solidFill>
            <a:srgbClr val="F2F2F2"/>
          </a:solidFill>
          <a:ln w="1016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4978400"/>
            <a:ext cx="2362200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演进进度 3/4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8870950" y="2971800"/>
            <a:ext cx="393700" cy="30480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296400" y="952500"/>
            <a:ext cx="2514600" cy="459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96400" y="952500"/>
            <a:ext cx="2514600" cy="3683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[stage4_name]"/>
          <p:cNvSpPr txBox="1"/>
          <p:nvPr/>
        </p:nvSpPr>
        <p:spPr>
          <a:xfrm>
            <a:off x="9372600" y="952500"/>
            <a:ext cx="23622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目标 · 全网自智</a:t>
            </a:r>
          </a:p>
        </p:txBody>
      </p:sp>
      <p:sp>
        <p:nvSpPr>
          <p:cNvPr id="65" name="[stage4_time]"/>
          <p:cNvSpPr txBox="1"/>
          <p:nvPr/>
        </p:nvSpPr>
        <p:spPr>
          <a:xfrm>
            <a:off x="9372600" y="1358900"/>
            <a:ext cx="23622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2026H2 全网商用</a:t>
            </a:r>
          </a:p>
        </p:txBody>
      </p:sp>
      <p:sp>
        <p:nvSpPr>
          <p:cNvPr id="66" name="Oval 65"/>
          <p:cNvSpPr/>
          <p:nvPr/>
        </p:nvSpPr>
        <p:spPr>
          <a:xfrm>
            <a:off x="10401300" y="1587500"/>
            <a:ext cx="304800" cy="304800"/>
          </a:xfrm>
          <a:prstGeom prst="ellipse">
            <a:avLst/>
          </a:prstGeom>
          <a:noFill/>
          <a:ln w="1651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459212" y="1645412"/>
            <a:ext cx="188976" cy="188976"/>
          </a:xfrm>
          <a:prstGeom prst="ellipse">
            <a:avLst/>
          </a:prstGeom>
          <a:noFill/>
          <a:ln w="1651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511028" y="1697227"/>
            <a:ext cx="85344" cy="85344"/>
          </a:xfrm>
          <a:prstGeom prst="ellipse">
            <a:avLst/>
          </a:prstGeom>
          <a:noFill/>
          <a:ln w="1651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[stage4_bullets]"/>
          <p:cNvSpPr txBox="1"/>
          <p:nvPr/>
        </p:nvSpPr>
        <p:spPr>
          <a:xfrm>
            <a:off x="9410700" y="1968500"/>
            <a:ext cx="2286000" cy="1587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  <a:ea typeface="Microsoft YaHei"/>
              </a:rPr>
              <a:t>基于长周期干扰仿真实现模型自进化, 调度与能耗联合寻优带来 9% 能效提升。配合网级数据闭环治理与模型自监控自回滚能力, 目标小区吞吐累计提升 20%, 计划 2026H2 达成全网自智商用, 完成从单点智能到全网自治的最终跨越。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28200" y="3644900"/>
            <a:ext cx="1651000" cy="2667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[stage4_kpi]"/>
          <p:cNvSpPr txBox="1"/>
          <p:nvPr/>
        </p:nvSpPr>
        <p:spPr>
          <a:xfrm>
            <a:off x="9728200" y="3644900"/>
            <a:ext cx="16510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62626"/>
                </a:solidFill>
                <a:latin typeface="Microsoft YaHei"/>
                <a:ea typeface="Microsoft YaHei"/>
              </a:rPr>
              <a:t>能效 +9%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550400" y="4038600"/>
            <a:ext cx="20066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[stage4_gain_label]"/>
          <p:cNvSpPr txBox="1"/>
          <p:nvPr/>
        </p:nvSpPr>
        <p:spPr>
          <a:xfrm>
            <a:off x="9372600" y="4114800"/>
            <a:ext cx="23622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小区吞吐 (相对基线)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72600" y="4305300"/>
            <a:ext cx="23622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B90A0A"/>
                </a:solidFill>
                <a:latin typeface="Microsoft YaHei"/>
                <a:ea typeface="Microsoft YaHei"/>
              </a:rPr>
              <a:t>1.20x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50400" y="4826000"/>
            <a:ext cx="463550" cy="889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064750" y="4826000"/>
            <a:ext cx="463550" cy="889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579100" y="4826000"/>
            <a:ext cx="463550" cy="889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093450" y="4826000"/>
            <a:ext cx="463550" cy="889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72600" y="4978400"/>
            <a:ext cx="2362200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  <a:ea typeface="Microsoft YaHei"/>
              </a:rPr>
              <a:t>演进进度 4/4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81000" y="5765800"/>
            <a:ext cx="11430000" cy="5461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81000" y="5765800"/>
            <a:ext cx="38100" cy="5461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[bottom_concl]"/>
          <p:cNvSpPr txBox="1"/>
          <p:nvPr/>
        </p:nvSpPr>
        <p:spPr>
          <a:xfrm>
            <a:off x="571500" y="5765800"/>
            <a:ext cx="8445500" cy="546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F4E79"/>
                </a:solidFill>
                <a:latin typeface="Microsoft YaHei"/>
                <a:ea typeface="Microsoft YaHei"/>
              </a:rPr>
              <a:t>总判断: 四阶段演进路径现网验证有效, V2 规模灰度全部达标, 2026H2 具备全网自智商用条件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398000" y="5880100"/>
            <a:ext cx="2222500" cy="3175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[bottom_kpi]"/>
          <p:cNvSpPr txBox="1"/>
          <p:nvPr/>
        </p:nvSpPr>
        <p:spPr>
          <a:xfrm>
            <a:off x="9398000" y="5880100"/>
            <a:ext cx="2222500" cy="317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小区吞吐累计 +20%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
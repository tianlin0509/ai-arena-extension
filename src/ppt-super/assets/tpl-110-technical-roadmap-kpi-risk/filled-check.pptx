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5100" y="114300"/>
            <a:ext cx="107950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6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结论：</a:t>
            </a:r>
          </a:p>
        </p:txBody>
      </p:sp>
      <p:sp>
        <p:nvSpPr>
          <p:cNvPr id="3" name="[title_main]"/>
          <p:cNvSpPr txBox="1"/>
          <p:nvPr/>
        </p:nvSpPr>
        <p:spPr>
          <a:xfrm>
            <a:off x="1238250" y="114300"/>
            <a:ext cx="1054100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6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分层建模与动态路由协同优化，显著提升小样本场景泛化性能</a:t>
            </a:r>
          </a:p>
        </p:txBody>
      </p:sp>
      <p:sp>
        <p:nvSpPr>
          <p:cNvPr id="4" name="[subtitle]"/>
          <p:cNvSpPr txBox="1"/>
          <p:nvPr/>
        </p:nvSpPr>
        <p:spPr>
          <a:xfrm>
            <a:off x="203200" y="584200"/>
            <a:ext cx="111760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构建从基础建模到机制验证再到开放问题的完整技术路线，形成可验证、可迭代、可扩展的研究路径。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800" y="1117600"/>
            <a:ext cx="9207500" cy="3524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[roadmap_title]"/>
          <p:cNvSpPr txBox="1"/>
          <p:nvPr/>
        </p:nvSpPr>
        <p:spPr>
          <a:xfrm>
            <a:off x="177800" y="1244600"/>
            <a:ext cx="92075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58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技术路线（从问题定义到开放研究）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500" y="1739900"/>
            <a:ext cx="1460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" y="1739900"/>
            <a:ext cx="1460500" cy="4572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500" y="2012950"/>
            <a:ext cx="1460500" cy="1905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4500" y="1828800"/>
            <a:ext cx="285750" cy="285750"/>
          </a:xfrm>
          <a:prstGeom prst="ellipse">
            <a:avLst/>
          </a:prstGeom>
          <a:solidFill>
            <a:srgbClr val="0B2F86"/>
          </a:solidFill>
          <a:ln w="228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800" y="1847850"/>
            <a:ext cx="3175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[step1_title]"/>
          <p:cNvSpPr txBox="1"/>
          <p:nvPr/>
        </p:nvSpPr>
        <p:spPr>
          <a:xfrm>
            <a:off x="723900" y="1828800"/>
            <a:ext cx="10160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基线建模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200" y="2470150"/>
            <a:ext cx="673100" cy="584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0435" y="2638425"/>
            <a:ext cx="214630" cy="1485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977582" y="2692082"/>
            <a:ext cx="49530" cy="4953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7112" y="2692082"/>
            <a:ext cx="45403" cy="37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72515" y="2671445"/>
            <a:ext cx="49530" cy="57785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[step1_body]"/>
          <p:cNvSpPr txBox="1"/>
          <p:nvPr/>
        </p:nvSpPr>
        <p:spPr>
          <a:xfrm>
            <a:off x="368300" y="3314700"/>
            <a:ext cx="1358900" cy="77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建立标准化任务表达与损失目标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形成可复现的基线模型。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54200" y="2616200"/>
            <a:ext cx="304800" cy="228600"/>
          </a:xfrm>
          <a:prstGeom prst="rightArrow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46300" y="1739900"/>
            <a:ext cx="1460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46300" y="1739900"/>
            <a:ext cx="1460500" cy="4572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46300" y="2012950"/>
            <a:ext cx="1460500" cy="1905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73300" y="1828800"/>
            <a:ext cx="285750" cy="285750"/>
          </a:xfrm>
          <a:prstGeom prst="ellipse">
            <a:avLst/>
          </a:prstGeom>
          <a:solidFill>
            <a:srgbClr val="0B2F86"/>
          </a:solidFill>
          <a:ln w="228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60600" y="1847850"/>
            <a:ext cx="3175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5" name="[step2_title]"/>
          <p:cNvSpPr txBox="1"/>
          <p:nvPr/>
        </p:nvSpPr>
        <p:spPr>
          <a:xfrm>
            <a:off x="2552700" y="1828800"/>
            <a:ext cx="10160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关键瓶颈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40000" y="2470150"/>
            <a:ext cx="673100" cy="584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69235" y="2638425"/>
            <a:ext cx="214630" cy="1485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2806382" y="2692082"/>
            <a:ext cx="49530" cy="4953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912" y="2692082"/>
            <a:ext cx="45403" cy="37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901315" y="2671445"/>
            <a:ext cx="49530" cy="57785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[step2_body]"/>
          <p:cNvSpPr txBox="1"/>
          <p:nvPr/>
        </p:nvSpPr>
        <p:spPr>
          <a:xfrm>
            <a:off x="2197100" y="3314700"/>
            <a:ext cx="1358900" cy="77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通过误差分解与复杂度分析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定位主误差项与计算/泛化瓶颈。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683000" y="2616200"/>
            <a:ext cx="304800" cy="228600"/>
          </a:xfrm>
          <a:prstGeom prst="rightArrow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75100" y="1739900"/>
            <a:ext cx="1460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75100" y="1739900"/>
            <a:ext cx="1460500" cy="457200"/>
          </a:xfrm>
          <a:prstGeom prst="roundRect">
            <a:avLst>
              <a:gd name="adj" fmla="val 5000"/>
            </a:avLst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75100" y="2012950"/>
            <a:ext cx="1460500" cy="190500"/>
          </a:xfrm>
          <a:prstGeom prst="rect">
            <a:avLst/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02100" y="1828800"/>
            <a:ext cx="285750" cy="285750"/>
          </a:xfrm>
          <a:prstGeom prst="ellipse">
            <a:avLst/>
          </a:prstGeom>
          <a:solidFill>
            <a:srgbClr val="078D98"/>
          </a:solidFill>
          <a:ln w="228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89400" y="1847850"/>
            <a:ext cx="3175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8" name="[step3_title]"/>
          <p:cNvSpPr txBox="1"/>
          <p:nvPr/>
        </p:nvSpPr>
        <p:spPr>
          <a:xfrm>
            <a:off x="4381500" y="1828800"/>
            <a:ext cx="10160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提出方法模块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68800" y="2470150"/>
            <a:ext cx="673100" cy="584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98035" y="2638425"/>
            <a:ext cx="214630" cy="1485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4635182" y="2692082"/>
            <a:ext cx="49530" cy="4953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684712" y="2692082"/>
            <a:ext cx="45403" cy="37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730115" y="2671445"/>
            <a:ext cx="49530" cy="57785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[step3_body]"/>
          <p:cNvSpPr txBox="1"/>
          <p:nvPr/>
        </p:nvSpPr>
        <p:spPr>
          <a:xfrm>
            <a:off x="4025900" y="3314700"/>
            <a:ext cx="1358900" cy="77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设计分层表征与动态路由模块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结合约束优化构建端到端框架。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511800" y="2616200"/>
            <a:ext cx="304800" cy="228600"/>
          </a:xfrm>
          <a:prstGeom prst="rightArrow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803900" y="1739900"/>
            <a:ext cx="1460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803900" y="1739900"/>
            <a:ext cx="1460500" cy="4572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03900" y="2012950"/>
            <a:ext cx="1460500" cy="1905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30900" y="1828800"/>
            <a:ext cx="285750" cy="285750"/>
          </a:xfrm>
          <a:prstGeom prst="ellipse">
            <a:avLst/>
          </a:prstGeom>
          <a:solidFill>
            <a:srgbClr val="0B2F86"/>
          </a:solidFill>
          <a:ln w="228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8200" y="1847850"/>
            <a:ext cx="3175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1" name="[step4_title]"/>
          <p:cNvSpPr txBox="1"/>
          <p:nvPr/>
        </p:nvSpPr>
        <p:spPr>
          <a:xfrm>
            <a:off x="6210300" y="1828800"/>
            <a:ext cx="10160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验证与对比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7600" y="2470150"/>
            <a:ext cx="673100" cy="584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426835" y="2638425"/>
            <a:ext cx="214630" cy="1485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6463982" y="2692082"/>
            <a:ext cx="49530" cy="4953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13512" y="2692082"/>
            <a:ext cx="45403" cy="37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558915" y="2671445"/>
            <a:ext cx="49530" cy="57785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[step4_body]"/>
          <p:cNvSpPr txBox="1"/>
          <p:nvPr/>
        </p:nvSpPr>
        <p:spPr>
          <a:xfrm>
            <a:off x="5854700" y="3314700"/>
            <a:ext cx="1358900" cy="77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在统一评测协议下对比实验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通过消融分析验证泛化提升。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340600" y="2616200"/>
            <a:ext cx="304800" cy="228600"/>
          </a:xfrm>
          <a:prstGeom prst="rightArrow">
            <a:avLst/>
          </a:prstGeom>
          <a:solidFill>
            <a:srgbClr val="0B2F86"/>
          </a:solidFill>
          <a:ln w="635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632700" y="1739900"/>
            <a:ext cx="1460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632700" y="1739900"/>
            <a:ext cx="1460500" cy="457200"/>
          </a:xfrm>
          <a:prstGeom prst="roundRect">
            <a:avLst>
              <a:gd name="adj" fmla="val 5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32700" y="2012950"/>
            <a:ext cx="1460500" cy="1905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759700" y="1828800"/>
            <a:ext cx="285750" cy="285750"/>
          </a:xfrm>
          <a:prstGeom prst="ellipse">
            <a:avLst/>
          </a:prstGeom>
          <a:solidFill>
            <a:srgbClr val="0B2F86"/>
          </a:solidFill>
          <a:ln w="228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47000" y="1847850"/>
            <a:ext cx="3175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64" name="[step5_title]"/>
          <p:cNvSpPr txBox="1"/>
          <p:nvPr/>
        </p:nvSpPr>
        <p:spPr>
          <a:xfrm>
            <a:off x="8039100" y="1828800"/>
            <a:ext cx="1016000" cy="292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8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开放问题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26400" y="2470150"/>
            <a:ext cx="673100" cy="5842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3970">
            <a:solidFill>
              <a:srgbClr val="AEBBC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255635" y="2638425"/>
            <a:ext cx="214630" cy="1485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8292782" y="2692082"/>
            <a:ext cx="49530" cy="49530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342312" y="2692082"/>
            <a:ext cx="45403" cy="37148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387715" y="2671445"/>
            <a:ext cx="49530" cy="57785"/>
          </a:xfrm>
          <a:prstGeom prst="line">
            <a:avLst/>
          </a:prstGeom>
          <a:ln w="25400">
            <a:solidFill>
              <a:srgbClr val="C9D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[step5_body]"/>
          <p:cNvSpPr txBox="1"/>
          <p:nvPr/>
        </p:nvSpPr>
        <p:spPr>
          <a:xfrm>
            <a:off x="7683500" y="3314700"/>
            <a:ext cx="1358900" cy="774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总结失效边界与限制条件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提出下一步理论假设与方向。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88500" y="1079500"/>
            <a:ext cx="2286000" cy="1193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04400" y="1320800"/>
            <a:ext cx="393700" cy="393700"/>
          </a:xfrm>
          <a:prstGeom prst="ellipse">
            <a:avLst/>
          </a:prstGeom>
          <a:solidFill>
            <a:srgbClr val="F3F7FB"/>
          </a:solidFill>
          <a:ln w="635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875266" y="1391666"/>
            <a:ext cx="251968" cy="25196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934321" y="1450721"/>
            <a:ext cx="133858" cy="13385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981565" y="1497965"/>
            <a:ext cx="39370" cy="39370"/>
          </a:xfrm>
          <a:prstGeom prst="ellipse">
            <a:avLst/>
          </a:prstGeom>
          <a:solidFill>
            <a:srgbClr val="078D98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0040620" y="1360170"/>
            <a:ext cx="118110" cy="118110"/>
          </a:xfrm>
          <a:prstGeom prst="line">
            <a:avLst/>
          </a:prstGeom>
          <a:ln w="381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111486" y="1360170"/>
            <a:ext cx="47244" cy="0"/>
          </a:xfrm>
          <a:prstGeom prst="line">
            <a:avLst/>
          </a:prstGeom>
          <a:ln w="254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158730" y="1360170"/>
            <a:ext cx="0" cy="47244"/>
          </a:xfrm>
          <a:prstGeom prst="line">
            <a:avLst/>
          </a:prstGeom>
          <a:ln w="254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[metric1_title]"/>
          <p:cNvSpPr txBox="1"/>
          <p:nvPr/>
        </p:nvSpPr>
        <p:spPr>
          <a:xfrm>
            <a:off x="10236200" y="1231900"/>
            <a:ext cx="15748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泛化性能提升（Acc@1）</a:t>
            </a:r>
          </a:p>
        </p:txBody>
      </p:sp>
      <p:sp>
        <p:nvSpPr>
          <p:cNvPr id="80" name="[metric1_value]"/>
          <p:cNvSpPr txBox="1"/>
          <p:nvPr/>
        </p:nvSpPr>
        <p:spPr>
          <a:xfrm>
            <a:off x="9867900" y="1536700"/>
            <a:ext cx="1727200" cy="368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1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+4.3pp</a:t>
            </a:r>
          </a:p>
        </p:txBody>
      </p:sp>
      <p:sp>
        <p:nvSpPr>
          <p:cNvPr id="81" name="[metric1_note]"/>
          <p:cNvSpPr txBox="1"/>
          <p:nvPr/>
        </p:nvSpPr>
        <p:spPr>
          <a:xfrm>
            <a:off x="9982200" y="1917700"/>
            <a:ext cx="14986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相对基线提升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88500" y="2476500"/>
            <a:ext cx="2286000" cy="1193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829800" y="2743200"/>
            <a:ext cx="368300" cy="368300"/>
          </a:xfrm>
          <a:prstGeom prst="ellipse">
            <a:avLst/>
          </a:prstGeom>
          <a:solidFill>
            <a:srgbClr val="FFFFFF"/>
          </a:solidFill>
          <a:ln w="29209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10013950" y="2824226"/>
            <a:ext cx="0" cy="103124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013950" y="2927350"/>
            <a:ext cx="81026" cy="0"/>
          </a:xfrm>
          <a:prstGeom prst="line">
            <a:avLst/>
          </a:prstGeom>
          <a:ln w="29209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[metric2_title]"/>
          <p:cNvSpPr txBox="1"/>
          <p:nvPr/>
        </p:nvSpPr>
        <p:spPr>
          <a:xfrm>
            <a:off x="10236200" y="2628900"/>
            <a:ext cx="1574800" cy="368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端到端时延（P95）</a:t>
            </a:r>
          </a:p>
        </p:txBody>
      </p:sp>
      <p:sp>
        <p:nvSpPr>
          <p:cNvPr id="87" name="[metric2_value]"/>
          <p:cNvSpPr txBox="1"/>
          <p:nvPr/>
        </p:nvSpPr>
        <p:spPr>
          <a:xfrm>
            <a:off x="9867900" y="2933700"/>
            <a:ext cx="1727200" cy="368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1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-27.6%</a:t>
            </a:r>
          </a:p>
        </p:txBody>
      </p:sp>
      <p:sp>
        <p:nvSpPr>
          <p:cNvPr id="88" name="[metric2_note]"/>
          <p:cNvSpPr txBox="1"/>
          <p:nvPr/>
        </p:nvSpPr>
        <p:spPr>
          <a:xfrm>
            <a:off x="9982200" y="3314700"/>
            <a:ext cx="14986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相对基线下降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588500" y="3886200"/>
            <a:ext cx="2286000" cy="1092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Isosceles Triangle 89"/>
          <p:cNvSpPr/>
          <p:nvPr/>
        </p:nvSpPr>
        <p:spPr>
          <a:xfrm>
            <a:off x="9829800" y="4064000"/>
            <a:ext cx="266700" cy="240030"/>
          </a:xfrm>
          <a:prstGeom prst="triangle">
            <a:avLst/>
          </a:prstGeom>
          <a:noFill/>
          <a:ln w="30480">
            <a:solidFill>
              <a:srgbClr val="F1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888474" y="4090670"/>
            <a:ext cx="165354" cy="2293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92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92" name="[risk_title]"/>
          <p:cNvSpPr txBox="1"/>
          <p:nvPr/>
        </p:nvSpPr>
        <p:spPr>
          <a:xfrm>
            <a:off x="10210800" y="4032250"/>
            <a:ext cx="1460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200" b="1">
                <a:solidFill>
                  <a:srgbClr val="F16918"/>
                </a:solidFill>
                <a:latin typeface="微软雅黑"/>
                <a:ea typeface="微软雅黑"/>
                <a:cs typeface="微软雅黑"/>
              </a:rPr>
              <a:t>关键限制与边界</a:t>
            </a:r>
          </a:p>
        </p:txBody>
      </p:sp>
      <p:sp>
        <p:nvSpPr>
          <p:cNvPr id="93" name="[risk_bullets]"/>
          <p:cNvSpPr txBox="1"/>
          <p:nvPr/>
        </p:nvSpPr>
        <p:spPr>
          <a:xfrm>
            <a:off x="10210800" y="4356100"/>
            <a:ext cx="15113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长尾与强分布漂移下误差快速放大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对部分超参与噪声强度敏感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4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需要更多样本与场景验证鲁棒性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77800" y="5130800"/>
            <a:ext cx="11709400" cy="14097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3700" y="5283200"/>
            <a:ext cx="50800" cy="1905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[explain_title]"/>
          <p:cNvSpPr txBox="1"/>
          <p:nvPr/>
        </p:nvSpPr>
        <p:spPr>
          <a:xfrm>
            <a:off x="558800" y="5232400"/>
            <a:ext cx="2667000" cy="254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42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技术路线解释</a:t>
            </a:r>
          </a:p>
        </p:txBody>
      </p:sp>
      <p:sp>
        <p:nvSpPr>
          <p:cNvPr id="97" name="[explain_text]"/>
          <p:cNvSpPr txBox="1"/>
          <p:nvPr/>
        </p:nvSpPr>
        <p:spPr>
          <a:xfrm>
            <a:off x="393700" y="5549900"/>
            <a:ext cx="1108075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本路线以“问题定义 → 瓶颈定位 → 方法模块 → 验证闭环 → 开放问题”为主线，逐步推进研究与工程验证。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首先建立统一的任务与损失框架，形成可复现的基线模型；随后通过误差分解、复杂度与敏感性分析，识别主要误差来源与计算/泛化瓶颈。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在此基础上，提出分层表征与动态路由协同的可微架构，并引入约束优化以平衡精度、鲁棒性与效率；接着在统一评测协议下进行对比实验与消融，验证方法有效性与稳定性。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3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最后，系统总结方法的失效边界与限制条件，提出理论假设与技术方向，为后续研究与工程落地提供连续、可迭代的推进路径。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
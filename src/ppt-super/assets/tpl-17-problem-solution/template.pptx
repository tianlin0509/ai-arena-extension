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[chip]"/>
          <p:cNvSpPr txBox="1"/>
          <p:nvPr/>
        </p:nvSpPr>
        <p:spPr>
          <a:xfrm>
            <a:off x="381000" y="279400"/>
            <a:ext cx="952500" cy="279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FFFFFF"/>
                </a:solidFill>
                <a:latin typeface="Microsoft YaHei"/>
                <a:ea typeface="Microsoft YaHei"/>
              </a:rPr>
              <a:t>数据治理</a:t>
            </a:r>
          </a:p>
        </p:txBody>
      </p:sp>
      <p:sp>
        <p:nvSpPr>
          <p:cNvPr id="4" name="[title_main]"/>
          <p:cNvSpPr txBox="1"/>
          <p:nvPr/>
        </p:nvSpPr>
        <p:spPr>
          <a:xfrm>
            <a:off x="1473200" y="228600"/>
            <a:ext cx="9207500" cy="3683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 i="0">
                <a:solidFill>
                  <a:srgbClr val="B90A0A"/>
                </a:solidFill>
                <a:latin typeface="Microsoft YaHei"/>
                <a:ea typeface="Microsoft YaHei"/>
              </a:rPr>
              <a:t>统一数据底座破解数据孤岛, 跨域取数效率提升 20 倍</a:t>
            </a:r>
          </a:p>
        </p:txBody>
      </p:sp>
      <p:cxnSp>
        <p:nvCxnSpPr>
          <p:cNvPr id="5" name="Connector 4"/>
          <p:cNvCxnSpPr/>
          <p:nvPr/>
        </p:nvCxnSpPr>
        <p:spPr>
          <a:xfrm flipV="1">
            <a:off x="11366500" y="304800"/>
            <a:ext cx="419100" cy="241300"/>
          </a:xfrm>
          <a:prstGeom prst="line">
            <a:avLst/>
          </a:prstGeom>
          <a:ln w="22860">
            <a:solidFill>
              <a:srgbClr val="B90A0A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ight Arrow 5"/>
          <p:cNvSpPr/>
          <p:nvPr/>
        </p:nvSpPr>
        <p:spPr>
          <a:xfrm>
            <a:off x="3473450" y="3194050"/>
            <a:ext cx="419100" cy="69850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ight Arrow 6"/>
          <p:cNvSpPr/>
          <p:nvPr/>
        </p:nvSpPr>
        <p:spPr>
          <a:xfrm>
            <a:off x="8299450" y="3194050"/>
            <a:ext cx="419100" cy="698500"/>
          </a:xfrm>
          <a:prstGeom prst="rightArrow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81000" y="825500"/>
            <a:ext cx="2984500" cy="5435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9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1000" y="825500"/>
            <a:ext cx="29845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81000" y="8255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5299" y="825500"/>
            <a:ext cx="28194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痛点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78100" y="876300"/>
            <a:ext cx="406400" cy="165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B90A0A"/>
                </a:solidFill>
                <a:latin typeface="Microsoft YaHei"/>
                <a:ea typeface="Microsoft YaHei"/>
              </a:rPr>
              <a:t>As-Is</a:t>
            </a:r>
          </a:p>
        </p:txBody>
      </p:sp>
      <p:sp>
        <p:nvSpPr>
          <p:cNvPr id="13" name="Oval 12"/>
          <p:cNvSpPr/>
          <p:nvPr/>
        </p:nvSpPr>
        <p:spPr>
          <a:xfrm>
            <a:off x="3035300" y="863600"/>
            <a:ext cx="190500" cy="190500"/>
          </a:xfrm>
          <a:prstGeom prst="ellipse">
            <a:avLst/>
          </a:prstGeom>
          <a:noFill/>
          <a:ln w="16510">
            <a:solidFill>
              <a:srgbClr val="B9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071494" y="899795"/>
            <a:ext cx="118110" cy="118110"/>
          </a:xfrm>
          <a:prstGeom prst="ellipse">
            <a:avLst/>
          </a:prstGeom>
          <a:noFill/>
          <a:ln w="16510">
            <a:solidFill>
              <a:srgbClr val="B9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103880" y="932180"/>
            <a:ext cx="53340" cy="53340"/>
          </a:xfrm>
          <a:prstGeom prst="ellipse">
            <a:avLst/>
          </a:prstGeom>
          <a:noFill/>
          <a:ln w="16510">
            <a:solidFill>
              <a:srgbClr val="B90A0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[pain_bullets]"/>
          <p:cNvSpPr txBox="1"/>
          <p:nvPr/>
        </p:nvSpPr>
        <p:spPr>
          <a:xfrm>
            <a:off x="546100" y="1238250"/>
            <a:ext cx="2654300" cy="244475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当前 37 套业务系统各自建库, 数据孤岛问题突出, 跨域取数平均耗时 5 天, 同一指标在三个部门出现三个数, 口径争议月均 15 起, 跨部门对账消耗大量人力。人工报表每月消耗约 1200 人时且错漏率高达 8%; 数据资产缺乏统一目录, 约 60% 的数据长期沉睡无人知晓; 敏感数据散落在 9 个系统中, 权限管理失控, 外部审计与合规风险持续累积, 统一数据底座建设已刻不容缓。</a:t>
            </a:r>
          </a:p>
        </p:txBody>
      </p:sp>
      <p:sp>
        <p:nvSpPr>
          <p:cNvPr id="17" name="[pain_fig_caption]"/>
          <p:cNvSpPr txBox="1"/>
          <p:nvPr/>
        </p:nvSpPr>
        <p:spPr>
          <a:xfrm>
            <a:off x="635000" y="3937000"/>
            <a:ext cx="2476500" cy="165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跨域取数平均耗时趋势 (天)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98500" y="5740400"/>
            <a:ext cx="2349500" cy="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933449" y="4947107"/>
            <a:ext cx="391583" cy="793292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7658" y="4782007"/>
            <a:ext cx="783166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3.2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658" y="5778500"/>
            <a:ext cx="783166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2023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716616" y="4723993"/>
            <a:ext cx="391583" cy="1016406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520825" y="4558893"/>
            <a:ext cx="783166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4.1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0825" y="5778500"/>
            <a:ext cx="783166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2024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99783" y="4500879"/>
            <a:ext cx="391583" cy="1239519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03991" y="4335780"/>
            <a:ext cx="783166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1" i="0">
                <a:solidFill>
                  <a:srgbClr val="262626"/>
                </a:solidFill>
                <a:latin typeface="Microsoft YaHei"/>
                <a:ea typeface="Microsoft YaHei"/>
              </a:rPr>
              <a:t>5.0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03991" y="5778500"/>
            <a:ext cx="783166" cy="1524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2025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00500" y="825500"/>
            <a:ext cx="4190999" cy="54356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000500" y="825500"/>
            <a:ext cx="4190999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000500" y="8255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0" y="825500"/>
            <a:ext cx="40259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方案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65600" y="1219200"/>
            <a:ext cx="3860800" cy="444500"/>
          </a:xfrm>
          <a:prstGeom prst="roundRect">
            <a:avLst/>
          </a:prstGeom>
          <a:solidFill>
            <a:srgbClr val="DEE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[sol_core]"/>
          <p:cNvSpPr txBox="1"/>
          <p:nvPr/>
        </p:nvSpPr>
        <p:spPr>
          <a:xfrm>
            <a:off x="4165600" y="1219200"/>
            <a:ext cx="3860800" cy="4445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50" b="1" i="0">
                <a:solidFill>
                  <a:srgbClr val="1F4E79"/>
                </a:solidFill>
                <a:latin typeface="Microsoft YaHei"/>
                <a:ea typeface="Microsoft YaHei"/>
              </a:rPr>
              <a:t>构建统一数据底座: 一套标准 · 一个目录 · 一条数据流水线</a:t>
            </a:r>
          </a:p>
        </p:txBody>
      </p:sp>
      <p:sp>
        <p:nvSpPr>
          <p:cNvPr id="34" name="[sol_bullets]"/>
          <p:cNvSpPr txBox="1"/>
          <p:nvPr/>
        </p:nvSpPr>
        <p:spPr>
          <a:xfrm>
            <a:off x="4165600" y="1765300"/>
            <a:ext cx="3860800" cy="23495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方案坚持数据标准先行, 完成 1872 项指标的口径统一并建立三级评审发布机制; 采用湖仓一体架构实现数据实时入湖 T+0, 存储成本下降 45%; 依托智能元数据能力自动解析血缘关系, 资产目录覆盖率达到 96%。在此基础上全面推进数据服务化, 以 API 订阅方式开放数据能力, 取数周期从 5 天缩短至 2 小时; 建设统一权限中枢, 对敏感数据实施分级管控, 审计通过率达到 100%; 同步打通 DataOps 流水线, 需求到上线周期从 2 周压缩至 3 天, 数据开发复用率提升至 70%, 最终形成标准、平台、服务三位一体的数据治理闭环。</a:t>
            </a:r>
          </a:p>
        </p:txBody>
      </p:sp>
      <p:sp>
        <p:nvSpPr>
          <p:cNvPr id="35" name="Oval 34"/>
          <p:cNvSpPr/>
          <p:nvPr/>
        </p:nvSpPr>
        <p:spPr>
          <a:xfrm>
            <a:off x="4572000" y="4267200"/>
            <a:ext cx="381000" cy="121227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572000" y="4388427"/>
            <a:ext cx="381000" cy="121227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572000" y="4509654"/>
            <a:ext cx="381000" cy="121227"/>
          </a:xfrm>
          <a:prstGeom prst="ellipse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05500" y="4241222"/>
            <a:ext cx="381000" cy="381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3600" b="1" i="0">
                <a:solidFill>
                  <a:srgbClr val="1F4E79"/>
                </a:solidFill>
                <a:latin typeface="Microsoft YaHei"/>
                <a:ea typeface="Microsoft YaHei"/>
              </a:rPr>
              <a:t>⚙</a:t>
            </a:r>
          </a:p>
        </p:txBody>
      </p:sp>
      <p:sp>
        <p:nvSpPr>
          <p:cNvPr id="39" name="Oval 38"/>
          <p:cNvSpPr/>
          <p:nvPr/>
        </p:nvSpPr>
        <p:spPr>
          <a:xfrm>
            <a:off x="7239000" y="4267200"/>
            <a:ext cx="381000" cy="38100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9000" y="4249881"/>
            <a:ext cx="381000" cy="381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 i="0">
                <a:solidFill>
                  <a:srgbClr val="1F4E79"/>
                </a:solidFill>
                <a:latin typeface="Microsoft YaHei"/>
                <a:ea typeface="Microsoft YaHei"/>
              </a:rPr>
              <a:t>✓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067300" y="4457700"/>
            <a:ext cx="762000" cy="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6400800" y="4457700"/>
            <a:ext cx="762000" cy="0"/>
          </a:xfrm>
          <a:prstGeom prst="line">
            <a:avLst/>
          </a:prstGeom>
          <a:ln w="20320">
            <a:solidFill>
              <a:srgbClr val="1F4E7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[sol_step1]"/>
          <p:cNvSpPr txBox="1"/>
          <p:nvPr/>
        </p:nvSpPr>
        <p:spPr>
          <a:xfrm>
            <a:off x="4381500" y="4724400"/>
            <a:ext cx="762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多源接入</a:t>
            </a:r>
          </a:p>
        </p:txBody>
      </p:sp>
      <p:sp>
        <p:nvSpPr>
          <p:cNvPr id="44" name="[sol_step2]"/>
          <p:cNvSpPr txBox="1"/>
          <p:nvPr/>
        </p:nvSpPr>
        <p:spPr>
          <a:xfrm>
            <a:off x="5715000" y="4724400"/>
            <a:ext cx="762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统一加工</a:t>
            </a:r>
          </a:p>
        </p:txBody>
      </p:sp>
      <p:sp>
        <p:nvSpPr>
          <p:cNvPr id="45" name="[sol_step3]"/>
          <p:cNvSpPr txBox="1"/>
          <p:nvPr/>
        </p:nvSpPr>
        <p:spPr>
          <a:xfrm>
            <a:off x="7048500" y="4724400"/>
            <a:ext cx="762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可信消费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65600" y="5080000"/>
            <a:ext cx="3860800" cy="165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595959"/>
                </a:solidFill>
                <a:latin typeface="Microsoft YaHei"/>
                <a:ea typeface="Microsoft YaHei"/>
              </a:rPr>
              <a:t>三大关键能力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65600" y="5321300"/>
            <a:ext cx="1193800" cy="431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[sol_capA]"/>
          <p:cNvSpPr txBox="1"/>
          <p:nvPr/>
        </p:nvSpPr>
        <p:spPr>
          <a:xfrm>
            <a:off x="4165600" y="5321300"/>
            <a:ext cx="1193800" cy="431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1F4E79"/>
                </a:solidFill>
                <a:latin typeface="Microsoft YaHei"/>
                <a:ea typeface="Microsoft YaHei"/>
              </a:rPr>
              <a:t>数据标准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99100" y="5321300"/>
            <a:ext cx="1193800" cy="431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[sol_capB]"/>
          <p:cNvSpPr txBox="1"/>
          <p:nvPr/>
        </p:nvSpPr>
        <p:spPr>
          <a:xfrm>
            <a:off x="5499100" y="5321300"/>
            <a:ext cx="1193800" cy="431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1F4E79"/>
                </a:solidFill>
                <a:latin typeface="Microsoft YaHei"/>
                <a:ea typeface="Microsoft YaHei"/>
              </a:rPr>
              <a:t>湖仓一体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6832600" y="5321300"/>
            <a:ext cx="1193800" cy="4318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[sol_capC]"/>
          <p:cNvSpPr txBox="1"/>
          <p:nvPr/>
        </p:nvSpPr>
        <p:spPr>
          <a:xfrm>
            <a:off x="6832600" y="5321300"/>
            <a:ext cx="1193800" cy="431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200" b="1" i="0">
                <a:solidFill>
                  <a:srgbClr val="1F4E79"/>
                </a:solidFill>
                <a:latin typeface="Microsoft YaHei"/>
                <a:ea typeface="Microsoft YaHei"/>
              </a:rPr>
              <a:t>数据服务</a:t>
            </a:r>
          </a:p>
        </p:txBody>
      </p:sp>
      <p:sp>
        <p:nvSpPr>
          <p:cNvPr id="53" name="[sol_note]"/>
          <p:cNvSpPr txBox="1"/>
          <p:nvPr/>
        </p:nvSpPr>
        <p:spPr>
          <a:xfrm>
            <a:off x="4165600" y="5854700"/>
            <a:ext cx="3860800" cy="1905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三大能力已在消费者/车 BU/云核心网 3 个业务线落地验证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6500" y="825500"/>
            <a:ext cx="2984500" cy="5435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826500" y="825500"/>
            <a:ext cx="2984500" cy="2667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826500" y="825500"/>
            <a:ext cx="38100" cy="266700"/>
          </a:xfrm>
          <a:prstGeom prst="rect">
            <a:avLst/>
          </a:prstGeom>
          <a:solidFill>
            <a:srgbClr val="B90A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940800" y="825500"/>
            <a:ext cx="2819400" cy="266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262626"/>
                </a:solidFill>
                <a:latin typeface="Microsoft YaHei"/>
                <a:ea typeface="Microsoft YaHei"/>
              </a:rPr>
              <a:t>收益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099800" y="876300"/>
            <a:ext cx="533400" cy="177800"/>
          </a:xfrm>
          <a:prstGeom prst="roundRect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099800" y="876300"/>
            <a:ext cx="533400" cy="1778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Microsoft YaHei"/>
                <a:ea typeface="Microsoft YaHei"/>
              </a:rPr>
              <a:t>To-Be</a:t>
            </a:r>
          </a:p>
        </p:txBody>
      </p:sp>
      <p:sp>
        <p:nvSpPr>
          <p:cNvPr id="60" name="[gain_bullets]"/>
          <p:cNvSpPr txBox="1"/>
          <p:nvPr/>
        </p:nvSpPr>
        <p:spPr>
          <a:xfrm>
            <a:off x="8991600" y="1238250"/>
            <a:ext cx="2654300" cy="2032000"/>
          </a:xfrm>
          <a:prstGeom prst="rect">
            <a:avLst/>
          </a:prstGeom>
          <a:noFill/>
        </p:spPr>
        <p:txBody>
          <a:bodyPr wrap="square" lIns="19050" rIns="19050" tIns="19050" bIns="1905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262626"/>
                </a:solidFill>
                <a:latin typeface="Microsoft YaHei"/>
                <a:ea typeface="Microsoft YaHei"/>
              </a:rPr>
              <a:t>数据底座上线后, 跨域取数周期由 5 天缩短至 2 小时, 分析师自助取数率达到 85%, 报表人力每月节省 900 人时并转向高价值分析工作。数据质量评分从 62 提升至 93, 全公司决策口径实现统一; 沉睡数据盘活 38%, 数据资产进表估值 4.2 亿元; 合规层面审计抽检一次通过, 整改工单下降 72%。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175750" y="3352800"/>
            <a:ext cx="2286000" cy="3810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[gain_kpi1]"/>
          <p:cNvSpPr txBox="1"/>
          <p:nvPr/>
        </p:nvSpPr>
        <p:spPr>
          <a:xfrm>
            <a:off x="9175750" y="3352800"/>
            <a:ext cx="2286000" cy="381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262626"/>
                </a:solidFill>
                <a:latin typeface="Microsoft YaHei"/>
                <a:ea typeface="Microsoft YaHei"/>
              </a:rPr>
              <a:t>取数效率 ×20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9175750" y="3860800"/>
            <a:ext cx="2286000" cy="381000"/>
          </a:xfrm>
          <a:prstGeom prst="roundRect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[gain_kpi2]"/>
          <p:cNvSpPr txBox="1"/>
          <p:nvPr/>
        </p:nvSpPr>
        <p:spPr>
          <a:xfrm>
            <a:off x="9175750" y="3860800"/>
            <a:ext cx="2286000" cy="381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400" b="1" i="0">
                <a:solidFill>
                  <a:srgbClr val="262626"/>
                </a:solidFill>
                <a:latin typeface="Microsoft YaHei"/>
                <a:ea typeface="Microsoft YaHei"/>
              </a:rPr>
              <a:t>存储成本 -45%</a:t>
            </a:r>
          </a:p>
        </p:txBody>
      </p:sp>
      <p:sp>
        <p:nvSpPr>
          <p:cNvPr id="65" name="[gain_fig_caption]"/>
          <p:cNvSpPr txBox="1"/>
          <p:nvPr/>
        </p:nvSpPr>
        <p:spPr>
          <a:xfrm>
            <a:off x="9017000" y="4432300"/>
            <a:ext cx="2603500" cy="1651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0">
                <a:solidFill>
                  <a:srgbClr val="595959"/>
                </a:solidFill>
                <a:latin typeface="Microsoft YaHei"/>
                <a:ea typeface="Microsoft YaHei"/>
              </a:rPr>
              <a:t>分析师自助取数率 (%)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9105900" y="5892800"/>
            <a:ext cx="2425700" cy="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9105900" y="4686300"/>
            <a:ext cx="0" cy="1206500"/>
          </a:xfrm>
          <a:prstGeom prst="line">
            <a:avLst/>
          </a:prstGeom>
          <a:ln w="10160">
            <a:solidFill>
              <a:srgbClr val="BFB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 flipV="1">
            <a:off x="9271000" y="5434220"/>
            <a:ext cx="715433" cy="262046"/>
          </a:xfrm>
          <a:prstGeom prst="line">
            <a:avLst/>
          </a:prstGeom>
          <a:ln w="22860">
            <a:solidFill>
              <a:srgbClr val="00B0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9" name="Connector 68"/>
          <p:cNvCxnSpPr/>
          <p:nvPr/>
        </p:nvCxnSpPr>
        <p:spPr>
          <a:xfrm flipV="1">
            <a:off x="9986433" y="5172175"/>
            <a:ext cx="715433" cy="262045"/>
          </a:xfrm>
          <a:prstGeom prst="line">
            <a:avLst/>
          </a:prstGeom>
          <a:ln w="22860">
            <a:solidFill>
              <a:srgbClr val="00B0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10701866" y="4964723"/>
            <a:ext cx="715434" cy="207452"/>
          </a:xfrm>
          <a:prstGeom prst="line">
            <a:avLst/>
          </a:prstGeom>
          <a:ln w="22860">
            <a:solidFill>
              <a:srgbClr val="00B05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Oval 70"/>
          <p:cNvSpPr/>
          <p:nvPr/>
        </p:nvSpPr>
        <p:spPr>
          <a:xfrm>
            <a:off x="9239250" y="5664516"/>
            <a:ext cx="63500" cy="63500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118600" y="5505766"/>
            <a:ext cx="304800" cy="127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262626"/>
                </a:solidFill>
                <a:latin typeface="Microsoft YaHei"/>
                <a:ea typeface="Microsoft YaHei"/>
              </a:rPr>
              <a:t>18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80500" y="5930900"/>
            <a:ext cx="381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Q1</a:t>
            </a:r>
          </a:p>
        </p:txBody>
      </p:sp>
      <p:sp>
        <p:nvSpPr>
          <p:cNvPr id="74" name="Oval 73"/>
          <p:cNvSpPr/>
          <p:nvPr/>
        </p:nvSpPr>
        <p:spPr>
          <a:xfrm>
            <a:off x="9954683" y="5402470"/>
            <a:ext cx="63500" cy="63500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9834033" y="5243720"/>
            <a:ext cx="304800" cy="127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262626"/>
                </a:solidFill>
                <a:latin typeface="Microsoft YaHei"/>
                <a:ea typeface="Microsoft YaHei"/>
              </a:rPr>
              <a:t>42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9795933" y="5930900"/>
            <a:ext cx="381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Q2</a:t>
            </a:r>
          </a:p>
        </p:txBody>
      </p:sp>
      <p:sp>
        <p:nvSpPr>
          <p:cNvPr id="77" name="Oval 76"/>
          <p:cNvSpPr/>
          <p:nvPr/>
        </p:nvSpPr>
        <p:spPr>
          <a:xfrm>
            <a:off x="10670116" y="5140425"/>
            <a:ext cx="63500" cy="63500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549466" y="4981675"/>
            <a:ext cx="304800" cy="127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262626"/>
                </a:solidFill>
                <a:latin typeface="Microsoft YaHei"/>
                <a:ea typeface="Microsoft YaHei"/>
              </a:rPr>
              <a:t>66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511366" y="5930900"/>
            <a:ext cx="381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Q3</a:t>
            </a:r>
          </a:p>
        </p:txBody>
      </p:sp>
      <p:sp>
        <p:nvSpPr>
          <p:cNvPr id="80" name="Oval 79"/>
          <p:cNvSpPr/>
          <p:nvPr/>
        </p:nvSpPr>
        <p:spPr>
          <a:xfrm>
            <a:off x="11385550" y="4932973"/>
            <a:ext cx="63500" cy="63500"/>
          </a:xfrm>
          <a:prstGeom prst="ellipse">
            <a:avLst/>
          </a:prstGeom>
          <a:solidFill>
            <a:srgbClr val="00B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1264900" y="4774223"/>
            <a:ext cx="304800" cy="1270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262626"/>
                </a:solidFill>
                <a:latin typeface="Microsoft YaHei"/>
                <a:ea typeface="Microsoft YaHei"/>
              </a:rPr>
              <a:t>85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1226800" y="5930900"/>
            <a:ext cx="381000" cy="139700"/>
          </a:xfrm>
          <a:prstGeom prst="rect">
            <a:avLst/>
          </a:prstGeom>
          <a:noFill/>
        </p:spPr>
        <p:txBody>
          <a:bodyPr wrap="square" lIns="19050" rIns="19050" tIns="19050" bIns="19050" anchor="ctr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95959"/>
                </a:solidFill>
                <a:latin typeface="Microsoft YaHei"/>
                <a:ea typeface="Microsoft YaHei"/>
              </a:rPr>
              <a:t>Q4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
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15900"/>
            <a:ext cx="1104900" cy="317500"/>
          </a:xfrm>
          <a:prstGeom prst="round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228600" y="215900"/>
            <a:ext cx="1104900" cy="317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5G-A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574800" y="165100"/>
            <a:ext cx="8381999" cy="419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B90A0A"/>
                </a:solidFill>
                <a:latin typeface="Microsoft YaHei"/>
                <a:ea typeface="Microsoft YaHei"/>
              </a:rPr>
              <a:t>上下行联合优化: 上行容量 +20% @ 下行性能微损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671300" y="215900"/>
            <a:ext cx="342900" cy="228600"/>
          </a:xfrm>
          <a:prstGeom prst="line">
            <a:avLst/>
          </a:prstGeom>
          <a:ln w="2540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29300" y="635000"/>
            <a:ext cx="0" cy="5219700"/>
          </a:xfrm>
          <a:prstGeom prst="line">
            <a:avLst/>
          </a:prstGeom>
          <a:ln w="12700">
            <a:solidFill>
              <a:srgbClr val="F0CA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8600" y="698500"/>
            <a:ext cx="38100" cy="1905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[left_title_1]"/>
          <p:cNvSpPr txBox="1"/>
          <p:nvPr/>
        </p:nvSpPr>
        <p:spPr>
          <a:xfrm>
            <a:off x="368300" y="660400"/>
            <a:ext cx="5283200" cy="2794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62626"/>
                </a:solidFill>
                <a:latin typeface="Microsoft YaHei"/>
                <a:ea typeface="Microsoft YaHei"/>
              </a:rPr>
              <a:t>一、背景与价值分析</a:t>
            </a:r>
          </a:p>
        </p:txBody>
      </p:sp>
      <p:sp>
        <p:nvSpPr>
          <p:cNvPr id="9" name="[left_bg_body]"/>
          <p:cNvSpPr txBox="1"/>
          <p:nvPr/>
        </p:nvSpPr>
        <p:spPr>
          <a:xfrm>
            <a:off x="393700" y="1041400"/>
            <a:ext cx="2095499" cy="15748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</a:rPr>
              <a:t>5G 系统设计采用上下行半静态配比, 上行受限于下行资源分配; 同时控制信道 (PDCCH) 需占用上行时频资源, 在高负载下与数据信道争抢, 上行可用资源被进一步压缩。传统调度上下行相互独立, 缺乏面向上行需求的动态协同, 上行能力难以充分释放, 成为制约上行体验的结构性瓶颈。</a:t>
            </a:r>
          </a:p>
        </p:txBody>
      </p:sp>
      <p:sp>
        <p:nvSpPr>
          <p:cNvPr id="10" name="[left_main_image]"/>
          <p:cNvSpPr/>
          <p:nvPr/>
        </p:nvSpPr>
        <p:spPr>
          <a:xfrm>
            <a:off x="2552700" y="1003300"/>
            <a:ext cx="3149600" cy="19558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11600" y="167640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032504" y="1892300"/>
            <a:ext cx="189992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27500" y="1797304"/>
            <a:ext cx="0" cy="189992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52700" y="2146300"/>
            <a:ext cx="31496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136900"/>
            <a:ext cx="5435600" cy="279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3175000"/>
            <a:ext cx="38100" cy="1905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[left_title_2]"/>
          <p:cNvSpPr txBox="1"/>
          <p:nvPr/>
        </p:nvSpPr>
        <p:spPr>
          <a:xfrm>
            <a:off x="368300" y="3136900"/>
            <a:ext cx="5283200" cy="2794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62626"/>
                </a:solidFill>
                <a:latin typeface="Microsoft YaHei"/>
                <a:ea typeface="Microsoft YaHei"/>
              </a:rPr>
              <a:t>二、背景分析（现状与证据）</a:t>
            </a:r>
          </a:p>
        </p:txBody>
      </p:sp>
      <p:sp>
        <p:nvSpPr>
          <p:cNvPr id="18" name="[left_evidence_text]"/>
          <p:cNvSpPr txBox="1"/>
          <p:nvPr/>
        </p:nvSpPr>
        <p:spPr>
          <a:xfrm>
            <a:off x="393700" y="3556000"/>
            <a:ext cx="5207000" cy="3683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262626"/>
                </a:solidFill>
                <a:latin typeface="Microsoft YaHei"/>
                <a:ea typeface="Microsoft YaHei"/>
              </a:rPr>
              <a:t>现网与仿真数据分析表明: 随负载升高, 上行吞吐快速衰减, 高负载小区上行容量较轻载显著下降, 上行时延抖动加剧, 印证了上下行割裂调度下的上行瓶颈。</a:t>
            </a:r>
          </a:p>
        </p:txBody>
      </p:sp>
      <p:sp>
        <p:nvSpPr>
          <p:cNvPr id="19" name="[left_chart_1]"/>
          <p:cNvSpPr/>
          <p:nvPr/>
        </p:nvSpPr>
        <p:spPr>
          <a:xfrm>
            <a:off x="381000" y="4013200"/>
            <a:ext cx="2552700" cy="15494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41450" y="448310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62354" y="4699000"/>
            <a:ext cx="189991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57350" y="4604004"/>
            <a:ext cx="0" cy="189992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1000" y="4953000"/>
            <a:ext cx="25527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24" name="[left_chart_2]"/>
          <p:cNvSpPr/>
          <p:nvPr/>
        </p:nvSpPr>
        <p:spPr>
          <a:xfrm>
            <a:off x="3048000" y="4013200"/>
            <a:ext cx="2552700" cy="15494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08450" y="448310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229354" y="4699000"/>
            <a:ext cx="189992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24350" y="4604004"/>
            <a:ext cx="0" cy="189992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48000" y="4953000"/>
            <a:ext cx="25527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29" name="[left_source]"/>
          <p:cNvSpPr txBox="1"/>
          <p:nvPr/>
        </p:nvSpPr>
        <p:spPr>
          <a:xfrm>
            <a:off x="368300" y="5664200"/>
            <a:ext cx="3556000" cy="1524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数据来源: 现网实测 + 系统级仿真, 典型高负载场景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1700" y="698500"/>
            <a:ext cx="38100" cy="1905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[right_title_1]"/>
          <p:cNvSpPr txBox="1"/>
          <p:nvPr/>
        </p:nvSpPr>
        <p:spPr>
          <a:xfrm>
            <a:off x="6121400" y="660400"/>
            <a:ext cx="5435600" cy="2794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62626"/>
                </a:solidFill>
                <a:latin typeface="Microsoft YaHei"/>
                <a:ea typeface="Microsoft YaHei"/>
              </a:rPr>
              <a:t>三、解决方案与关键挑战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2500" y="1041400"/>
            <a:ext cx="1739900" cy="2044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72200" y="1155700"/>
            <a:ext cx="165100" cy="165100"/>
          </a:xfrm>
          <a:prstGeom prst="ellipse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[sol1_num]"/>
          <p:cNvSpPr txBox="1"/>
          <p:nvPr/>
        </p:nvSpPr>
        <p:spPr>
          <a:xfrm>
            <a:off x="6172200" y="1155700"/>
            <a:ext cx="1651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5" name="[sol1_title]"/>
          <p:cNvSpPr txBox="1"/>
          <p:nvPr/>
        </p:nvSpPr>
        <p:spPr>
          <a:xfrm>
            <a:off x="6477000" y="1143000"/>
            <a:ext cx="1155700" cy="2667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上下行联合调度</a:t>
            </a:r>
          </a:p>
        </p:txBody>
      </p:sp>
      <p:sp>
        <p:nvSpPr>
          <p:cNvPr id="36" name="[sol1_image]"/>
          <p:cNvSpPr/>
          <p:nvPr/>
        </p:nvSpPr>
        <p:spPr>
          <a:xfrm>
            <a:off x="6197600" y="1485900"/>
            <a:ext cx="1409700" cy="11049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86550" y="173355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807453" y="1949450"/>
            <a:ext cx="189993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902450" y="1854454"/>
            <a:ext cx="0" cy="189992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97600" y="2203450"/>
            <a:ext cx="14097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41" name="[sol1_body]"/>
          <p:cNvSpPr txBox="1"/>
          <p:nvPr/>
        </p:nvSpPr>
        <p:spPr>
          <a:xfrm>
            <a:off x="6197600" y="2641600"/>
            <a:ext cx="1409700" cy="330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40" b="0" i="0">
                <a:solidFill>
                  <a:srgbClr val="262626"/>
                </a:solidFill>
                <a:latin typeface="Microsoft YaHei"/>
                <a:ea typeface="Microsoft YaHei"/>
              </a:rPr>
              <a:t>动态感知上下行需求,</a:t>
            </a:r>
          </a:p>
          <a:p>
            <a:pPr algn="ctr">
              <a:lnSpc>
                <a:spcPct val="110000"/>
              </a:lnSpc>
            </a:pPr>
            <a:r>
              <a:rPr sz="940" b="0" i="0">
                <a:solidFill>
                  <a:srgbClr val="262626"/>
                </a:solidFill>
                <a:latin typeface="Microsoft YaHei"/>
                <a:ea typeface="Microsoft YaHei"/>
              </a:rPr>
              <a:t>联合分配时频资源</a:t>
            </a:r>
          </a:p>
        </p:txBody>
      </p:sp>
      <p:sp>
        <p:nvSpPr>
          <p:cNvPr id="42" name="Oval 41"/>
          <p:cNvSpPr/>
          <p:nvPr/>
        </p:nvSpPr>
        <p:spPr>
          <a:xfrm>
            <a:off x="7797800" y="2006600"/>
            <a:ext cx="215900" cy="215900"/>
          </a:xfrm>
          <a:prstGeom prst="ellipse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[sol_arrow_1]"/>
          <p:cNvSpPr txBox="1"/>
          <p:nvPr/>
        </p:nvSpPr>
        <p:spPr>
          <a:xfrm>
            <a:off x="7797800" y="2006600"/>
            <a:ext cx="215900" cy="215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›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08800" y="3149600"/>
            <a:ext cx="0" cy="190500"/>
          </a:xfrm>
          <a:prstGeom prst="line">
            <a:avLst/>
          </a:prstGeom>
          <a:ln w="1524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988300" y="1041400"/>
            <a:ext cx="1739900" cy="2044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28000" y="1155700"/>
            <a:ext cx="165100" cy="165100"/>
          </a:xfrm>
          <a:prstGeom prst="ellipse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[sol2_num]"/>
          <p:cNvSpPr txBox="1"/>
          <p:nvPr/>
        </p:nvSpPr>
        <p:spPr>
          <a:xfrm>
            <a:off x="8128000" y="1155700"/>
            <a:ext cx="1651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48" name="[sol2_title]"/>
          <p:cNvSpPr txBox="1"/>
          <p:nvPr/>
        </p:nvSpPr>
        <p:spPr>
          <a:xfrm>
            <a:off x="8432800" y="1143000"/>
            <a:ext cx="1155700" cy="2667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控制/数据信道协同</a:t>
            </a:r>
          </a:p>
        </p:txBody>
      </p:sp>
      <p:sp>
        <p:nvSpPr>
          <p:cNvPr id="49" name="[sol2_image]"/>
          <p:cNvSpPr/>
          <p:nvPr/>
        </p:nvSpPr>
        <p:spPr>
          <a:xfrm>
            <a:off x="8153399" y="1485900"/>
            <a:ext cx="1409700" cy="11049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642350" y="173355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8763254" y="1949450"/>
            <a:ext cx="189992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858250" y="1854454"/>
            <a:ext cx="0" cy="189992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153399" y="2203450"/>
            <a:ext cx="14097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54" name="[sol2_body]"/>
          <p:cNvSpPr txBox="1"/>
          <p:nvPr/>
        </p:nvSpPr>
        <p:spPr>
          <a:xfrm>
            <a:off x="8153399" y="2641600"/>
            <a:ext cx="1409700" cy="330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40" b="0" i="0">
                <a:solidFill>
                  <a:srgbClr val="262626"/>
                </a:solidFill>
                <a:latin typeface="Microsoft YaHei"/>
                <a:ea typeface="Microsoft YaHei"/>
              </a:rPr>
              <a:t>PDCCH 资源自适应分配,</a:t>
            </a:r>
          </a:p>
          <a:p>
            <a:pPr algn="ctr">
              <a:lnSpc>
                <a:spcPct val="110000"/>
              </a:lnSpc>
            </a:pPr>
            <a:r>
              <a:rPr sz="940" b="0" i="0">
                <a:solidFill>
                  <a:srgbClr val="262626"/>
                </a:solidFill>
                <a:latin typeface="Microsoft YaHei"/>
                <a:ea typeface="Microsoft YaHei"/>
              </a:rPr>
              <a:t>降低上行控制开销</a:t>
            </a:r>
          </a:p>
        </p:txBody>
      </p:sp>
      <p:sp>
        <p:nvSpPr>
          <p:cNvPr id="55" name="Oval 54"/>
          <p:cNvSpPr/>
          <p:nvPr/>
        </p:nvSpPr>
        <p:spPr>
          <a:xfrm>
            <a:off x="9753600" y="2006600"/>
            <a:ext cx="215900" cy="215900"/>
          </a:xfrm>
          <a:prstGeom prst="ellipse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[sol_arrow_2]"/>
          <p:cNvSpPr txBox="1"/>
          <p:nvPr/>
        </p:nvSpPr>
        <p:spPr>
          <a:xfrm>
            <a:off x="9753600" y="2006600"/>
            <a:ext cx="215900" cy="215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›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864600" y="3149600"/>
            <a:ext cx="0" cy="190500"/>
          </a:xfrm>
          <a:prstGeom prst="line">
            <a:avLst/>
          </a:prstGeom>
          <a:ln w="1524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944100" y="1041400"/>
            <a:ext cx="1739900" cy="2044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83800" y="1155700"/>
            <a:ext cx="165100" cy="165100"/>
          </a:xfrm>
          <a:prstGeom prst="ellipse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[sol3_num]"/>
          <p:cNvSpPr txBox="1"/>
          <p:nvPr/>
        </p:nvSpPr>
        <p:spPr>
          <a:xfrm>
            <a:off x="10083800" y="1155700"/>
            <a:ext cx="1651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61" name="[sol3_title]"/>
          <p:cNvSpPr txBox="1"/>
          <p:nvPr/>
        </p:nvSpPr>
        <p:spPr>
          <a:xfrm>
            <a:off x="10388600" y="1143000"/>
            <a:ext cx="1155700" cy="2667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上行优先动态优化</a:t>
            </a:r>
          </a:p>
        </p:txBody>
      </p:sp>
      <p:sp>
        <p:nvSpPr>
          <p:cNvPr id="62" name="[sol3_image]"/>
          <p:cNvSpPr/>
          <p:nvPr/>
        </p:nvSpPr>
        <p:spPr>
          <a:xfrm>
            <a:off x="10109200" y="1485900"/>
            <a:ext cx="1409700" cy="11049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598150" y="173355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0719054" y="1949450"/>
            <a:ext cx="189992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814050" y="1854454"/>
            <a:ext cx="0" cy="189992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0109200" y="2203450"/>
            <a:ext cx="14097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67" name="[sol3_body]"/>
          <p:cNvSpPr txBox="1"/>
          <p:nvPr/>
        </p:nvSpPr>
        <p:spPr>
          <a:xfrm>
            <a:off x="10109200" y="2641600"/>
            <a:ext cx="1409700" cy="330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40" b="0" i="0">
                <a:solidFill>
                  <a:srgbClr val="262626"/>
                </a:solidFill>
                <a:latin typeface="Microsoft YaHei"/>
                <a:ea typeface="Microsoft YaHei"/>
              </a:rPr>
              <a:t>优先级动态调整,</a:t>
            </a:r>
          </a:p>
          <a:p>
            <a:pPr algn="ctr">
              <a:lnSpc>
                <a:spcPct val="110000"/>
              </a:lnSpc>
            </a:pPr>
            <a:r>
              <a:rPr sz="940" b="0" i="0">
                <a:solidFill>
                  <a:srgbClr val="262626"/>
                </a:solidFill>
                <a:latin typeface="Microsoft YaHei"/>
                <a:ea typeface="Microsoft YaHei"/>
              </a:rPr>
              <a:t>保障关键业务体验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820400" y="3149600"/>
            <a:ext cx="0" cy="190500"/>
          </a:xfrm>
          <a:prstGeom prst="line">
            <a:avLst/>
          </a:prstGeom>
          <a:ln w="1524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981700" y="3429000"/>
            <a:ext cx="3556000" cy="279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81700" y="3467100"/>
            <a:ext cx="38100" cy="1905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[right_title_2]"/>
          <p:cNvSpPr txBox="1"/>
          <p:nvPr/>
        </p:nvSpPr>
        <p:spPr>
          <a:xfrm>
            <a:off x="6121400" y="3429000"/>
            <a:ext cx="3403600" cy="2794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62626"/>
                </a:solidFill>
                <a:latin typeface="Microsoft YaHei"/>
                <a:ea typeface="Microsoft YaHei"/>
              </a:rPr>
              <a:t>四、整体方案架构</a:t>
            </a:r>
          </a:p>
        </p:txBody>
      </p:sp>
      <p:sp>
        <p:nvSpPr>
          <p:cNvPr id="72" name="[architecture_image]"/>
          <p:cNvSpPr/>
          <p:nvPr/>
        </p:nvSpPr>
        <p:spPr>
          <a:xfrm>
            <a:off x="6007100" y="3797300"/>
            <a:ext cx="3505200" cy="18161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543800" y="440055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7664703" y="4616450"/>
            <a:ext cx="189993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759700" y="4521453"/>
            <a:ext cx="0" cy="189993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007100" y="4870450"/>
            <a:ext cx="35052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77400" y="3429000"/>
            <a:ext cx="2095499" cy="2197100"/>
          </a:xfrm>
          <a:prstGeom prst="roundRect">
            <a:avLst>
              <a:gd name="adj" fmla="val 6000"/>
            </a:avLst>
          </a:prstGeom>
          <a:solidFill>
            <a:srgbClr val="FEF4F4"/>
          </a:solidFill>
          <a:ln w="11430">
            <a:solidFill>
              <a:srgbClr val="EE8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91700" y="3594100"/>
            <a:ext cx="38100" cy="1905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[challenge_title]"/>
          <p:cNvSpPr txBox="1"/>
          <p:nvPr/>
        </p:nvSpPr>
        <p:spPr>
          <a:xfrm>
            <a:off x="9931400" y="3556000"/>
            <a:ext cx="1663700" cy="2794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62626"/>
                </a:solidFill>
                <a:latin typeface="Microsoft YaHei"/>
                <a:ea typeface="Microsoft YaHei"/>
              </a:rPr>
              <a:t>五、关键挑战</a:t>
            </a:r>
          </a:p>
        </p:txBody>
      </p:sp>
      <p:sp>
        <p:nvSpPr>
          <p:cNvPr id="80" name="[challenge_body]"/>
          <p:cNvSpPr txBox="1"/>
          <p:nvPr/>
        </p:nvSpPr>
        <p:spPr>
          <a:xfrm>
            <a:off x="9931400" y="3975100"/>
            <a:ext cx="1562100" cy="11049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262626"/>
                </a:solidFill>
                <a:latin typeface="Microsoft YaHei"/>
                <a:ea typeface="Microsoft YaHei"/>
              </a:rPr>
              <a:t>联合寻优需在毫秒级完成配比切换且不引入下行抖动; 策略须在多变信道与业务分布下保持鲁棒; 并要与现网调度器平滑兼容、支持灰度与回退, 工程落地复杂度高。</a:t>
            </a:r>
          </a:p>
        </p:txBody>
      </p:sp>
      <p:sp>
        <p:nvSpPr>
          <p:cNvPr id="81" name="[challenge_icon]"/>
          <p:cNvSpPr/>
          <p:nvPr/>
        </p:nvSpPr>
        <p:spPr>
          <a:xfrm>
            <a:off x="11125200" y="5067300"/>
            <a:ext cx="406400" cy="40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8C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11238992" y="5270500"/>
            <a:ext cx="178816" cy="0"/>
          </a:xfrm>
          <a:prstGeom prst="line">
            <a:avLst/>
          </a:prstGeom>
          <a:ln w="11430">
            <a:solidFill>
              <a:srgbClr val="E8C3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328400" y="5181091"/>
            <a:ext cx="0" cy="178817"/>
          </a:xfrm>
          <a:prstGeom prst="line">
            <a:avLst/>
          </a:prstGeom>
          <a:ln w="11430">
            <a:solidFill>
              <a:srgbClr val="E8C3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228600" y="5956300"/>
            <a:ext cx="11658600" cy="609600"/>
          </a:xfrm>
          <a:prstGeom prst="roundRect">
            <a:avLst>
              <a:gd name="adj" fmla="val 4000"/>
            </a:avLst>
          </a:prstGeom>
          <a:solidFill>
            <a:srgbClr val="FFF8F8"/>
          </a:solidFill>
          <a:ln w="10160">
            <a:solidFill>
              <a:srgbClr val="F0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08000" y="6045200"/>
            <a:ext cx="520700" cy="431800"/>
          </a:xfrm>
          <a:prstGeom prst="round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[benefit_main_icon]"/>
          <p:cNvSpPr/>
          <p:nvPr/>
        </p:nvSpPr>
        <p:spPr>
          <a:xfrm>
            <a:off x="596900" y="6096000"/>
            <a:ext cx="34290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F3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692912" y="6267450"/>
            <a:ext cx="150875" cy="0"/>
          </a:xfrm>
          <a:prstGeom prst="line">
            <a:avLst/>
          </a:prstGeom>
          <a:ln w="11430">
            <a:solidFill>
              <a:srgbClr val="F3B9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68350" y="6192012"/>
            <a:ext cx="0" cy="150876"/>
          </a:xfrm>
          <a:prstGeom prst="line">
            <a:avLst/>
          </a:prstGeom>
          <a:ln w="11430">
            <a:solidFill>
              <a:srgbClr val="F3B9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[benefit_title]"/>
          <p:cNvSpPr txBox="1"/>
          <p:nvPr/>
        </p:nvSpPr>
        <p:spPr>
          <a:xfrm>
            <a:off x="1193800" y="6045200"/>
            <a:ext cx="952500" cy="431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</a:rPr>
              <a:t>预期收益</a:t>
            </a:r>
          </a:p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</a:rPr>
              <a:t>(相对基线)</a:t>
            </a:r>
          </a:p>
        </p:txBody>
      </p:sp>
      <p:sp>
        <p:nvSpPr>
          <p:cNvPr id="90" name="[b1_icon]"/>
          <p:cNvSpPr/>
          <p:nvPr/>
        </p:nvSpPr>
        <p:spPr>
          <a:xfrm>
            <a:off x="2451100" y="6146800"/>
            <a:ext cx="292100" cy="292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6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2532888" y="6292850"/>
            <a:ext cx="128524" cy="0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597150" y="6228588"/>
            <a:ext cx="0" cy="128524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[b1_metric]"/>
          <p:cNvSpPr txBox="1"/>
          <p:nvPr/>
        </p:nvSpPr>
        <p:spPr>
          <a:xfrm>
            <a:off x="2832100" y="6108700"/>
            <a:ext cx="685800" cy="215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20" b="1" i="0">
                <a:solidFill>
                  <a:srgbClr val="B90A0A"/>
                </a:solidFill>
                <a:latin typeface="Microsoft YaHei"/>
                <a:ea typeface="Microsoft YaHei"/>
              </a:rPr>
              <a:t>+20%</a:t>
            </a:r>
          </a:p>
        </p:txBody>
      </p:sp>
      <p:sp>
        <p:nvSpPr>
          <p:cNvPr id="94" name="[b1_label]"/>
          <p:cNvSpPr txBox="1"/>
          <p:nvPr/>
        </p:nvSpPr>
        <p:spPr>
          <a:xfrm>
            <a:off x="2768600" y="6337300"/>
            <a:ext cx="13716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40" b="0" i="0">
                <a:solidFill>
                  <a:srgbClr val="262626"/>
                </a:solidFill>
                <a:latin typeface="Microsoft YaHei"/>
                <a:ea typeface="Microsoft YaHei"/>
              </a:rPr>
              <a:t>上行容量提升</a:t>
            </a:r>
          </a:p>
        </p:txBody>
      </p:sp>
      <p:sp>
        <p:nvSpPr>
          <p:cNvPr id="95" name="[b2_icon]"/>
          <p:cNvSpPr/>
          <p:nvPr/>
        </p:nvSpPr>
        <p:spPr>
          <a:xfrm>
            <a:off x="4279900" y="6146800"/>
            <a:ext cx="292100" cy="292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6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4361688" y="6292850"/>
            <a:ext cx="128524" cy="0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425950" y="6228588"/>
            <a:ext cx="0" cy="128524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[b2_metric]"/>
          <p:cNvSpPr txBox="1"/>
          <p:nvPr/>
        </p:nvSpPr>
        <p:spPr>
          <a:xfrm>
            <a:off x="4660900" y="6108700"/>
            <a:ext cx="685800" cy="215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20" b="1" i="0">
                <a:solidFill>
                  <a:srgbClr val="FF8A00"/>
                </a:solidFill>
                <a:latin typeface="Microsoft YaHei"/>
                <a:ea typeface="Microsoft YaHei"/>
              </a:rPr>
              <a:t>≤5%</a:t>
            </a:r>
          </a:p>
        </p:txBody>
      </p:sp>
      <p:sp>
        <p:nvSpPr>
          <p:cNvPr id="99" name="[b2_label]"/>
          <p:cNvSpPr txBox="1"/>
          <p:nvPr/>
        </p:nvSpPr>
        <p:spPr>
          <a:xfrm>
            <a:off x="4597400" y="6337300"/>
            <a:ext cx="13716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40" b="0" i="0">
                <a:solidFill>
                  <a:srgbClr val="262626"/>
                </a:solidFill>
                <a:latin typeface="Microsoft YaHei"/>
                <a:ea typeface="Microsoft YaHei"/>
              </a:rPr>
              <a:t>下行性能微损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127500" y="6070600"/>
            <a:ext cx="0" cy="393700"/>
          </a:xfrm>
          <a:prstGeom prst="line">
            <a:avLst/>
          </a:prstGeom>
          <a:ln w="10160">
            <a:solidFill>
              <a:srgbClr val="D7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[b3_icon]"/>
          <p:cNvSpPr/>
          <p:nvPr/>
        </p:nvSpPr>
        <p:spPr>
          <a:xfrm>
            <a:off x="6108700" y="6146800"/>
            <a:ext cx="292100" cy="292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6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6190488" y="6292850"/>
            <a:ext cx="128524" cy="0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254750" y="6228588"/>
            <a:ext cx="0" cy="128524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[b3_metric]"/>
          <p:cNvSpPr txBox="1"/>
          <p:nvPr/>
        </p:nvSpPr>
        <p:spPr>
          <a:xfrm>
            <a:off x="6489700" y="6108700"/>
            <a:ext cx="685800" cy="215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20" b="1" i="0">
                <a:solidFill>
                  <a:srgbClr val="1F4E79"/>
                </a:solidFill>
                <a:latin typeface="Microsoft YaHei"/>
                <a:ea typeface="Microsoft YaHei"/>
              </a:rPr>
              <a:t>-30%</a:t>
            </a:r>
          </a:p>
        </p:txBody>
      </p:sp>
      <p:sp>
        <p:nvSpPr>
          <p:cNvPr id="105" name="[b3_label]"/>
          <p:cNvSpPr txBox="1"/>
          <p:nvPr/>
        </p:nvSpPr>
        <p:spPr>
          <a:xfrm>
            <a:off x="6426200" y="6337300"/>
            <a:ext cx="13716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40" b="0" i="0">
                <a:solidFill>
                  <a:srgbClr val="262626"/>
                </a:solidFill>
                <a:latin typeface="Microsoft YaHei"/>
                <a:ea typeface="Microsoft YaHei"/>
              </a:rPr>
              <a:t>上行时延抖动降低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956300" y="6070600"/>
            <a:ext cx="0" cy="393700"/>
          </a:xfrm>
          <a:prstGeom prst="line">
            <a:avLst/>
          </a:prstGeom>
          <a:ln w="10160">
            <a:solidFill>
              <a:srgbClr val="D7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[b4_icon]"/>
          <p:cNvSpPr/>
          <p:nvPr/>
        </p:nvSpPr>
        <p:spPr>
          <a:xfrm>
            <a:off x="7937500" y="6146800"/>
            <a:ext cx="292100" cy="292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6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8019288" y="6292850"/>
            <a:ext cx="128523" cy="0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083550" y="6228588"/>
            <a:ext cx="0" cy="128524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[b4_metric]"/>
          <p:cNvSpPr txBox="1"/>
          <p:nvPr/>
        </p:nvSpPr>
        <p:spPr>
          <a:xfrm>
            <a:off x="8318499" y="6108700"/>
            <a:ext cx="685800" cy="215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20" b="1" i="0">
                <a:solidFill>
                  <a:srgbClr val="2E8B3C"/>
                </a:solidFill>
                <a:latin typeface="Microsoft YaHei"/>
                <a:ea typeface="Microsoft YaHei"/>
              </a:rPr>
              <a:t>+15%</a:t>
            </a:r>
          </a:p>
        </p:txBody>
      </p:sp>
      <p:sp>
        <p:nvSpPr>
          <p:cNvPr id="111" name="[b4_label]"/>
          <p:cNvSpPr txBox="1"/>
          <p:nvPr/>
        </p:nvSpPr>
        <p:spPr>
          <a:xfrm>
            <a:off x="8255000" y="6337300"/>
            <a:ext cx="13716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40" b="0" i="0">
                <a:solidFill>
                  <a:srgbClr val="262626"/>
                </a:solidFill>
                <a:latin typeface="Microsoft YaHei"/>
                <a:ea typeface="Microsoft YaHei"/>
              </a:rPr>
              <a:t>高负载小区吞吐提升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7785100" y="6070600"/>
            <a:ext cx="0" cy="393700"/>
          </a:xfrm>
          <a:prstGeom prst="line">
            <a:avLst/>
          </a:prstGeom>
          <a:ln w="10160">
            <a:solidFill>
              <a:srgbClr val="D7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[b5_icon]"/>
          <p:cNvSpPr/>
          <p:nvPr/>
        </p:nvSpPr>
        <p:spPr>
          <a:xfrm>
            <a:off x="9766300" y="6146800"/>
            <a:ext cx="292100" cy="292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6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9848088" y="6292850"/>
            <a:ext cx="128523" cy="0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912350" y="6228588"/>
            <a:ext cx="0" cy="128524"/>
          </a:xfrm>
          <a:prstGeom prst="line">
            <a:avLst/>
          </a:prstGeom>
          <a:ln w="11430">
            <a:solidFill>
              <a:srgbClr val="E6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[b5_metric]"/>
          <p:cNvSpPr txBox="1"/>
          <p:nvPr/>
        </p:nvSpPr>
        <p:spPr>
          <a:xfrm>
            <a:off x="10147300" y="6108700"/>
            <a:ext cx="685800" cy="215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20" b="1" i="0">
                <a:solidFill>
                  <a:srgbClr val="7050A0"/>
                </a:solidFill>
                <a:latin typeface="Microsoft YaHei"/>
                <a:ea typeface="Microsoft YaHei"/>
              </a:rPr>
              <a:t>99.5%+</a:t>
            </a:r>
          </a:p>
        </p:txBody>
      </p:sp>
      <p:sp>
        <p:nvSpPr>
          <p:cNvPr id="117" name="[b5_label]"/>
          <p:cNvSpPr txBox="1"/>
          <p:nvPr/>
        </p:nvSpPr>
        <p:spPr>
          <a:xfrm>
            <a:off x="10083800" y="6337300"/>
            <a:ext cx="13716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40" b="0" i="0">
                <a:solidFill>
                  <a:srgbClr val="262626"/>
                </a:solidFill>
                <a:latin typeface="Microsoft YaHei"/>
                <a:ea typeface="Microsoft YaHei"/>
              </a:rPr>
              <a:t>方案稳定性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9613900" y="6070600"/>
            <a:ext cx="0" cy="393700"/>
          </a:xfrm>
          <a:prstGeom prst="line">
            <a:avLst/>
          </a:prstGeom>
          <a:ln w="10160">
            <a:solidFill>
              <a:srgbClr val="D7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
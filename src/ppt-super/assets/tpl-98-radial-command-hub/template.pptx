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15900"/>
            <a:ext cx="1104900" cy="317500"/>
          </a:xfrm>
          <a:prstGeom prst="round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228600" y="215900"/>
            <a:ext cx="1104900" cy="3175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5G-A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574800" y="165100"/>
            <a:ext cx="8381999" cy="4191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B90A0A"/>
                </a:solidFill>
                <a:latin typeface="Microsoft YaHei"/>
                <a:ea typeface="Microsoft YaHei"/>
              </a:rPr>
              <a:t>上下行联合优化: 上行容量 +20% @ 下行性能微损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671300" y="215900"/>
            <a:ext cx="342900" cy="228600"/>
          </a:xfrm>
          <a:prstGeom prst="line">
            <a:avLst/>
          </a:prstGeom>
          <a:ln w="2540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15900" y="736600"/>
            <a:ext cx="2857500" cy="279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5900" y="774700"/>
            <a:ext cx="38100" cy="1905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[bg_title]"/>
          <p:cNvSpPr txBox="1"/>
          <p:nvPr/>
        </p:nvSpPr>
        <p:spPr>
          <a:xfrm>
            <a:off x="355600" y="736600"/>
            <a:ext cx="2705100" cy="2794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62626"/>
                </a:solidFill>
                <a:latin typeface="Microsoft YaHei"/>
                <a:ea typeface="Microsoft YaHei"/>
              </a:rPr>
              <a:t>背景与价值分析</a:t>
            </a:r>
          </a:p>
        </p:txBody>
      </p:sp>
      <p:sp>
        <p:nvSpPr>
          <p:cNvPr id="9" name="[bg_body]"/>
          <p:cNvSpPr txBox="1"/>
          <p:nvPr/>
        </p:nvSpPr>
        <p:spPr>
          <a:xfrm>
            <a:off x="393700" y="1104900"/>
            <a:ext cx="2476500" cy="13462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0" i="0">
                <a:solidFill>
                  <a:srgbClr val="262626"/>
                </a:solidFill>
                <a:latin typeface="Microsoft YaHei"/>
                <a:ea typeface="Microsoft YaHei"/>
              </a:rPr>
              <a:t>5G 系统设计采用上下行半静态配比, 上行受限于下行资源分配; 同时控制信道 (PDCCH) 需占用上行时频资源, 在高负载下与数据信道争抢, 上行可用资源被进一步压缩。传统调度上下行相互独立, 缺乏面向上行需求的动态协同, 上行能力难以充分释放, 成为制约上行体验的结构性瓶颈。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5900" y="2908300"/>
            <a:ext cx="2857500" cy="279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5900" y="2946400"/>
            <a:ext cx="38100" cy="1905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[issue_title]"/>
          <p:cNvSpPr txBox="1"/>
          <p:nvPr/>
        </p:nvSpPr>
        <p:spPr>
          <a:xfrm>
            <a:off x="355600" y="2908300"/>
            <a:ext cx="2705100" cy="2794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62626"/>
                </a:solidFill>
                <a:latin typeface="Microsoft YaHei"/>
                <a:ea typeface="Microsoft YaHei"/>
              </a:rPr>
              <a:t>现状与问题分析</a:t>
            </a:r>
          </a:p>
        </p:txBody>
      </p:sp>
      <p:sp>
        <p:nvSpPr>
          <p:cNvPr id="13" name="[issue_body]"/>
          <p:cNvSpPr txBox="1"/>
          <p:nvPr/>
        </p:nvSpPr>
        <p:spPr>
          <a:xfrm>
            <a:off x="393700" y="3276600"/>
            <a:ext cx="2476500" cy="7112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</a:rPr>
              <a:t>现网与仿真数据分析表明: 随负载升高, 上行吞吐快速衰减, 高负载小区上行容量较轻载显著下降, 上行时延抖动加剧, 印证了上下行割裂调度下的上行瓶颈。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000" y="4190999"/>
            <a:ext cx="1231900" cy="9017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016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[side_m1_icon]"/>
          <p:cNvSpPr/>
          <p:nvPr/>
        </p:nvSpPr>
        <p:spPr>
          <a:xfrm>
            <a:off x="520700" y="4368800"/>
            <a:ext cx="241300" cy="241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F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88264" y="4489450"/>
            <a:ext cx="106172" cy="0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1350" y="4436364"/>
            <a:ext cx="0" cy="106172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[side_m1_value]"/>
          <p:cNvSpPr txBox="1"/>
          <p:nvPr/>
        </p:nvSpPr>
        <p:spPr>
          <a:xfrm>
            <a:off x="800100" y="4368800"/>
            <a:ext cx="584200" cy="2286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50" b="1" i="0">
                <a:solidFill>
                  <a:srgbClr val="0F335E"/>
                </a:solidFill>
                <a:latin typeface="Microsoft YaHei"/>
                <a:ea typeface="Microsoft YaHei"/>
              </a:rPr>
              <a:t>-18%</a:t>
            </a:r>
          </a:p>
        </p:txBody>
      </p:sp>
      <p:sp>
        <p:nvSpPr>
          <p:cNvPr id="19" name="[side_m1_title]"/>
          <p:cNvSpPr txBox="1"/>
          <p:nvPr/>
        </p:nvSpPr>
        <p:spPr>
          <a:xfrm>
            <a:off x="495299" y="4648200"/>
            <a:ext cx="1003300" cy="1651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19" b="1" i="0">
                <a:solidFill>
                  <a:srgbClr val="262626"/>
                </a:solidFill>
                <a:latin typeface="Microsoft YaHei"/>
                <a:ea typeface="Microsoft YaHei"/>
              </a:rPr>
              <a:t>上行吞吐</a:t>
            </a:r>
          </a:p>
        </p:txBody>
      </p:sp>
      <p:sp>
        <p:nvSpPr>
          <p:cNvPr id="20" name="[side_m1_desc]"/>
          <p:cNvSpPr txBox="1"/>
          <p:nvPr/>
        </p:nvSpPr>
        <p:spPr>
          <a:xfrm>
            <a:off x="482600" y="4851400"/>
            <a:ext cx="10287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880" b="0" i="0">
                <a:solidFill>
                  <a:srgbClr val="595959"/>
                </a:solidFill>
                <a:latin typeface="Microsoft YaHei"/>
                <a:ea typeface="Microsoft YaHei"/>
              </a:rPr>
              <a:t>高负载 vs 轻载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65300" y="4190999"/>
            <a:ext cx="1231900" cy="9017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016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[side_m2_icon]"/>
          <p:cNvSpPr/>
          <p:nvPr/>
        </p:nvSpPr>
        <p:spPr>
          <a:xfrm>
            <a:off x="1905000" y="4368800"/>
            <a:ext cx="241300" cy="241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F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972563" y="4489450"/>
            <a:ext cx="106173" cy="0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025650" y="4436364"/>
            <a:ext cx="0" cy="106172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[side_m2_value]"/>
          <p:cNvSpPr txBox="1"/>
          <p:nvPr/>
        </p:nvSpPr>
        <p:spPr>
          <a:xfrm>
            <a:off x="2184400" y="4368800"/>
            <a:ext cx="584200" cy="2286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50" b="1" i="0">
                <a:solidFill>
                  <a:srgbClr val="0F335E"/>
                </a:solidFill>
                <a:latin typeface="Microsoft YaHei"/>
                <a:ea typeface="Microsoft YaHei"/>
              </a:rPr>
              <a:t>+32%</a:t>
            </a:r>
          </a:p>
        </p:txBody>
      </p:sp>
      <p:sp>
        <p:nvSpPr>
          <p:cNvPr id="26" name="[side_m2_title]"/>
          <p:cNvSpPr txBox="1"/>
          <p:nvPr/>
        </p:nvSpPr>
        <p:spPr>
          <a:xfrm>
            <a:off x="1879599" y="4648200"/>
            <a:ext cx="1003300" cy="1651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19" b="1" i="0">
                <a:solidFill>
                  <a:srgbClr val="262626"/>
                </a:solidFill>
                <a:latin typeface="Microsoft YaHei"/>
                <a:ea typeface="Microsoft YaHei"/>
              </a:rPr>
              <a:t>时延抖动</a:t>
            </a:r>
          </a:p>
        </p:txBody>
      </p:sp>
      <p:sp>
        <p:nvSpPr>
          <p:cNvPr id="27" name="[side_m2_desc]"/>
          <p:cNvSpPr txBox="1"/>
          <p:nvPr/>
        </p:nvSpPr>
        <p:spPr>
          <a:xfrm>
            <a:off x="1866899" y="4851400"/>
            <a:ext cx="10287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880" b="0" i="0">
                <a:solidFill>
                  <a:srgbClr val="595959"/>
                </a:solidFill>
                <a:latin typeface="Microsoft YaHei"/>
                <a:ea typeface="Microsoft YaHei"/>
              </a:rPr>
              <a:t>高负载下显著上升</a:t>
            </a:r>
          </a:p>
        </p:txBody>
      </p:sp>
      <p:sp>
        <p:nvSpPr>
          <p:cNvPr id="28" name="[side_source]"/>
          <p:cNvSpPr txBox="1"/>
          <p:nvPr/>
        </p:nvSpPr>
        <p:spPr>
          <a:xfrm>
            <a:off x="330200" y="5372100"/>
            <a:ext cx="2413000" cy="1397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869" b="0" i="0">
                <a:solidFill>
                  <a:srgbClr val="595959"/>
                </a:solidFill>
                <a:latin typeface="Microsoft YaHei"/>
                <a:ea typeface="Microsoft YaHei"/>
              </a:rPr>
              <a:t>数据来源: 现网实测 + 系统级仿真</a:t>
            </a:r>
          </a:p>
        </p:txBody>
      </p:sp>
      <p:sp>
        <p:nvSpPr>
          <p:cNvPr id="29" name="[top_image]"/>
          <p:cNvSpPr/>
          <p:nvPr/>
        </p:nvSpPr>
        <p:spPr>
          <a:xfrm>
            <a:off x="4775200" y="749300"/>
            <a:ext cx="3302000" cy="952500"/>
          </a:xfrm>
          <a:prstGeom prst="rect">
            <a:avLst/>
          </a:prstGeom>
          <a:solidFill>
            <a:srgbClr val="FAFAFA"/>
          </a:solidFill>
          <a:ln w="11430">
            <a:solidFill>
              <a:srgbClr val="D7DF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0300" y="920750"/>
            <a:ext cx="4318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331204" y="1136650"/>
            <a:ext cx="189992" cy="0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26200" y="1041654"/>
            <a:ext cx="0" cy="189992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75200" y="1390650"/>
            <a:ext cx="33020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AI 配图区</a:t>
            </a:r>
          </a:p>
        </p:txBody>
      </p:sp>
      <p:sp>
        <p:nvSpPr>
          <p:cNvPr id="34" name="[bottom_image]"/>
          <p:cNvSpPr/>
          <p:nvPr/>
        </p:nvSpPr>
        <p:spPr>
          <a:xfrm>
            <a:off x="5346700" y="4635500"/>
            <a:ext cx="2781300" cy="825500"/>
          </a:xfrm>
          <a:prstGeom prst="rect">
            <a:avLst/>
          </a:prstGeom>
          <a:solidFill>
            <a:srgbClr val="FAFAFA"/>
          </a:solidFill>
          <a:ln w="11430">
            <a:solidFill>
              <a:srgbClr val="D7DF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21450" y="4743450"/>
            <a:ext cx="4318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C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642354" y="4959350"/>
            <a:ext cx="189992" cy="0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37350" y="4864353"/>
            <a:ext cx="0" cy="189993"/>
          </a:xfrm>
          <a:prstGeom prst="line">
            <a:avLst/>
          </a:prstGeom>
          <a:ln w="11430">
            <a:solidFill>
              <a:srgbClr val="CCD3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46700" y="5213350"/>
            <a:ext cx="27813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AI 配图区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40100" y="1943100"/>
            <a:ext cx="2000250" cy="60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[res1_icon]"/>
          <p:cNvSpPr/>
          <p:nvPr/>
        </p:nvSpPr>
        <p:spPr>
          <a:xfrm>
            <a:off x="3454400" y="2095499"/>
            <a:ext cx="30480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F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539744" y="2247900"/>
            <a:ext cx="134111" cy="0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606800" y="2180844"/>
            <a:ext cx="0" cy="134112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[res1_title]"/>
          <p:cNvSpPr txBox="1"/>
          <p:nvPr/>
        </p:nvSpPr>
        <p:spPr>
          <a:xfrm>
            <a:off x="3860800" y="2070100"/>
            <a:ext cx="952500" cy="1905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4E79"/>
                </a:solidFill>
                <a:latin typeface="Microsoft YaHei"/>
                <a:ea typeface="Microsoft YaHei"/>
              </a:rPr>
              <a:t>计算资源</a:t>
            </a:r>
          </a:p>
        </p:txBody>
      </p:sp>
      <p:sp>
        <p:nvSpPr>
          <p:cNvPr id="44" name="[res1_sub]"/>
          <p:cNvSpPr txBox="1"/>
          <p:nvPr/>
        </p:nvSpPr>
        <p:spPr>
          <a:xfrm>
            <a:off x="3860800" y="2273300"/>
            <a:ext cx="952500" cy="1778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740" b="0" i="0">
                <a:solidFill>
                  <a:srgbClr val="595959"/>
                </a:solidFill>
                <a:latin typeface="Microsoft YaHei"/>
                <a:ea typeface="Microsoft YaHei"/>
              </a:rPr>
              <a:t>GPU/NPU 异构算力池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64100" y="2057400"/>
            <a:ext cx="393700" cy="3683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762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[res1_metric_label]"/>
          <p:cNvSpPr txBox="1"/>
          <p:nvPr/>
        </p:nvSpPr>
        <p:spPr>
          <a:xfrm>
            <a:off x="4883150" y="2095499"/>
            <a:ext cx="355600" cy="1270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1" i="0">
                <a:solidFill>
                  <a:srgbClr val="1F4E79"/>
                </a:solidFill>
                <a:latin typeface="Microsoft YaHei"/>
                <a:ea typeface="Microsoft YaHei"/>
              </a:rPr>
              <a:t>利用率</a:t>
            </a:r>
          </a:p>
        </p:txBody>
      </p:sp>
      <p:sp>
        <p:nvSpPr>
          <p:cNvPr id="47" name="[res1_metric_value]"/>
          <p:cNvSpPr txBox="1"/>
          <p:nvPr/>
        </p:nvSpPr>
        <p:spPr>
          <a:xfrm>
            <a:off x="4883150" y="2247900"/>
            <a:ext cx="355600" cy="1397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19" b="1" i="0">
                <a:solidFill>
                  <a:srgbClr val="1F4E79"/>
                </a:solidFill>
                <a:latin typeface="Microsoft YaHei"/>
                <a:ea typeface="Microsoft YaHei"/>
              </a:rPr>
              <a:t>92%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40100" y="2705100"/>
            <a:ext cx="2000250" cy="60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[res2_icon]"/>
          <p:cNvSpPr/>
          <p:nvPr/>
        </p:nvSpPr>
        <p:spPr>
          <a:xfrm>
            <a:off x="3454400" y="2857500"/>
            <a:ext cx="30480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F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3539744" y="3009900"/>
            <a:ext cx="134111" cy="0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606800" y="2942844"/>
            <a:ext cx="0" cy="134112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[res2_title]"/>
          <p:cNvSpPr txBox="1"/>
          <p:nvPr/>
        </p:nvSpPr>
        <p:spPr>
          <a:xfrm>
            <a:off x="3860800" y="2832100"/>
            <a:ext cx="952500" cy="1905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09D9A"/>
                </a:solidFill>
                <a:latin typeface="Microsoft YaHei"/>
                <a:ea typeface="Microsoft YaHei"/>
              </a:rPr>
              <a:t>网络资源</a:t>
            </a:r>
          </a:p>
        </p:txBody>
      </p:sp>
      <p:sp>
        <p:nvSpPr>
          <p:cNvPr id="53" name="[res2_sub]"/>
          <p:cNvSpPr txBox="1"/>
          <p:nvPr/>
        </p:nvSpPr>
        <p:spPr>
          <a:xfrm>
            <a:off x="3860800" y="3035300"/>
            <a:ext cx="952500" cy="1778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740" b="0" i="0">
                <a:solidFill>
                  <a:srgbClr val="595959"/>
                </a:solidFill>
                <a:latin typeface="Microsoft YaHei"/>
                <a:ea typeface="Microsoft YaHei"/>
              </a:rPr>
              <a:t>RDMA · RoCE 参数面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64100" y="2819400"/>
            <a:ext cx="393700" cy="3683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762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[res2_metric_label]"/>
          <p:cNvSpPr txBox="1"/>
          <p:nvPr/>
        </p:nvSpPr>
        <p:spPr>
          <a:xfrm>
            <a:off x="4883150" y="2857500"/>
            <a:ext cx="355600" cy="1270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1" i="0">
                <a:solidFill>
                  <a:srgbClr val="009D9A"/>
                </a:solidFill>
                <a:latin typeface="Microsoft YaHei"/>
                <a:ea typeface="Microsoft YaHei"/>
              </a:rPr>
              <a:t>带宽占比</a:t>
            </a:r>
          </a:p>
        </p:txBody>
      </p:sp>
      <p:sp>
        <p:nvSpPr>
          <p:cNvPr id="56" name="[res2_metric_value]"/>
          <p:cNvSpPr txBox="1"/>
          <p:nvPr/>
        </p:nvSpPr>
        <p:spPr>
          <a:xfrm>
            <a:off x="4883150" y="3009900"/>
            <a:ext cx="355600" cy="1397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19" b="1" i="0">
                <a:solidFill>
                  <a:srgbClr val="009D9A"/>
                </a:solidFill>
                <a:latin typeface="Microsoft YaHei"/>
                <a:ea typeface="Microsoft YaHei"/>
              </a:rPr>
              <a:t>86%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340100" y="3467100"/>
            <a:ext cx="2000250" cy="60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[res3_icon]"/>
          <p:cNvSpPr/>
          <p:nvPr/>
        </p:nvSpPr>
        <p:spPr>
          <a:xfrm>
            <a:off x="3454400" y="3619500"/>
            <a:ext cx="30480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F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539744" y="3771900"/>
            <a:ext cx="134111" cy="0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606800" y="3704844"/>
            <a:ext cx="0" cy="134112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[res3_title]"/>
          <p:cNvSpPr txBox="1"/>
          <p:nvPr/>
        </p:nvSpPr>
        <p:spPr>
          <a:xfrm>
            <a:off x="3860800" y="3594100"/>
            <a:ext cx="952500" cy="1905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E8B3C"/>
                </a:solidFill>
                <a:latin typeface="Microsoft YaHei"/>
                <a:ea typeface="Microsoft YaHei"/>
              </a:rPr>
              <a:t>存储资源</a:t>
            </a:r>
          </a:p>
        </p:txBody>
      </p:sp>
      <p:sp>
        <p:nvSpPr>
          <p:cNvPr id="62" name="[res3_sub]"/>
          <p:cNvSpPr txBox="1"/>
          <p:nvPr/>
        </p:nvSpPr>
        <p:spPr>
          <a:xfrm>
            <a:off x="3860800" y="3797300"/>
            <a:ext cx="952500" cy="1778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740" b="0" i="0">
                <a:solidFill>
                  <a:srgbClr val="595959"/>
                </a:solidFill>
                <a:latin typeface="Microsoft YaHei"/>
                <a:ea typeface="Microsoft YaHei"/>
              </a:rPr>
              <a:t>分布式缓存与并行文件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64100" y="3581400"/>
            <a:ext cx="393700" cy="3683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762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[res3_metric_label]"/>
          <p:cNvSpPr txBox="1"/>
          <p:nvPr/>
        </p:nvSpPr>
        <p:spPr>
          <a:xfrm>
            <a:off x="4883150" y="3619500"/>
            <a:ext cx="355600" cy="1270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1" i="0">
                <a:solidFill>
                  <a:srgbClr val="2E8B3C"/>
                </a:solidFill>
                <a:latin typeface="Microsoft YaHei"/>
                <a:ea typeface="Microsoft YaHei"/>
              </a:rPr>
              <a:t>命中率</a:t>
            </a:r>
          </a:p>
        </p:txBody>
      </p:sp>
      <p:sp>
        <p:nvSpPr>
          <p:cNvPr id="65" name="[res3_metric_value]"/>
          <p:cNvSpPr txBox="1"/>
          <p:nvPr/>
        </p:nvSpPr>
        <p:spPr>
          <a:xfrm>
            <a:off x="4883150" y="3771900"/>
            <a:ext cx="355600" cy="1397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19" b="1" i="0">
                <a:solidFill>
                  <a:srgbClr val="2E8B3C"/>
                </a:solidFill>
                <a:latin typeface="Microsoft YaHei"/>
                <a:ea typeface="Microsoft YaHei"/>
              </a:rPr>
              <a:t>91%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40100" y="4229100"/>
            <a:ext cx="2000250" cy="60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[res4_icon]"/>
          <p:cNvSpPr/>
          <p:nvPr/>
        </p:nvSpPr>
        <p:spPr>
          <a:xfrm>
            <a:off x="3454400" y="4381500"/>
            <a:ext cx="30480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F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3539744" y="4533900"/>
            <a:ext cx="134111" cy="0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606800" y="4466844"/>
            <a:ext cx="0" cy="134112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[res4_title]"/>
          <p:cNvSpPr txBox="1"/>
          <p:nvPr/>
        </p:nvSpPr>
        <p:spPr>
          <a:xfrm>
            <a:off x="3860800" y="4356100"/>
            <a:ext cx="952500" cy="1905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7050A0"/>
                </a:solidFill>
                <a:latin typeface="Microsoft YaHei"/>
                <a:ea typeface="Microsoft YaHei"/>
              </a:rPr>
              <a:t>审计存证</a:t>
            </a:r>
          </a:p>
        </p:txBody>
      </p:sp>
      <p:sp>
        <p:nvSpPr>
          <p:cNvPr id="71" name="[res4_sub]"/>
          <p:cNvSpPr txBox="1"/>
          <p:nvPr/>
        </p:nvSpPr>
        <p:spPr>
          <a:xfrm>
            <a:off x="3860800" y="4559300"/>
            <a:ext cx="952500" cy="1778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740" b="0" i="0">
                <a:solidFill>
                  <a:srgbClr val="595959"/>
                </a:solidFill>
                <a:latin typeface="Microsoft YaHei"/>
                <a:ea typeface="Microsoft YaHei"/>
              </a:rPr>
              <a:t>调度决策与回放数据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864100" y="4343400"/>
            <a:ext cx="393700" cy="3683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762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[res4_metric_label]"/>
          <p:cNvSpPr txBox="1"/>
          <p:nvPr/>
        </p:nvSpPr>
        <p:spPr>
          <a:xfrm>
            <a:off x="4883150" y="4381500"/>
            <a:ext cx="355600" cy="1270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1" i="0">
                <a:solidFill>
                  <a:srgbClr val="7050A0"/>
                </a:solidFill>
                <a:latin typeface="Microsoft YaHei"/>
                <a:ea typeface="Microsoft YaHei"/>
              </a:rPr>
              <a:t>决策留痕</a:t>
            </a:r>
          </a:p>
        </p:txBody>
      </p:sp>
      <p:sp>
        <p:nvSpPr>
          <p:cNvPr id="74" name="[res4_metric_value]"/>
          <p:cNvSpPr txBox="1"/>
          <p:nvPr/>
        </p:nvSpPr>
        <p:spPr>
          <a:xfrm>
            <a:off x="4883150" y="4533900"/>
            <a:ext cx="355600" cy="1397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19" b="1" i="0">
                <a:solidFill>
                  <a:srgbClr val="7050A0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75" name="Oval 74"/>
          <p:cNvSpPr/>
          <p:nvPr/>
        </p:nvSpPr>
        <p:spPr>
          <a:xfrm>
            <a:off x="5943600" y="2159000"/>
            <a:ext cx="2108200" cy="2108200"/>
          </a:xfrm>
          <a:prstGeom prst="ellipse">
            <a:avLst/>
          </a:prstGeom>
          <a:solidFill>
            <a:srgbClr val="ECF2F8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134100" y="2349500"/>
            <a:ext cx="1727200" cy="172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311900" y="2527300"/>
            <a:ext cx="1371600" cy="1371600"/>
          </a:xfrm>
          <a:prstGeom prst="ellipse">
            <a:avLst/>
          </a:prstGeom>
          <a:solidFill>
            <a:srgbClr val="0F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[hub_icon]"/>
          <p:cNvSpPr/>
          <p:nvPr/>
        </p:nvSpPr>
        <p:spPr>
          <a:xfrm>
            <a:off x="6838950" y="2730500"/>
            <a:ext cx="317500" cy="31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99B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6927850" y="2889250"/>
            <a:ext cx="139700" cy="0"/>
          </a:xfrm>
          <a:prstGeom prst="line">
            <a:avLst/>
          </a:prstGeom>
          <a:ln w="11430">
            <a:solidFill>
              <a:srgbClr val="99B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997700" y="2819400"/>
            <a:ext cx="0" cy="139700"/>
          </a:xfrm>
          <a:prstGeom prst="line">
            <a:avLst/>
          </a:prstGeom>
          <a:ln w="11430">
            <a:solidFill>
              <a:srgbClr val="99B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[hub_title]"/>
          <p:cNvSpPr txBox="1"/>
          <p:nvPr/>
        </p:nvSpPr>
        <p:spPr>
          <a:xfrm>
            <a:off x="6464300" y="3098800"/>
            <a:ext cx="1066800" cy="2286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调度核心</a:t>
            </a:r>
          </a:p>
        </p:txBody>
      </p:sp>
      <p:sp>
        <p:nvSpPr>
          <p:cNvPr id="82" name="[hub_sub]"/>
          <p:cNvSpPr txBox="1"/>
          <p:nvPr/>
        </p:nvSpPr>
        <p:spPr>
          <a:xfrm>
            <a:off x="6350000" y="3365500"/>
            <a:ext cx="12954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30" b="0" i="0">
                <a:solidFill>
                  <a:srgbClr val="FFFFFF"/>
                </a:solidFill>
                <a:latin typeface="Microsoft YaHei"/>
                <a:ea typeface="Microsoft YaHei"/>
              </a:rPr>
              <a:t>智能编排 · 流量整形</a:t>
            </a:r>
          </a:p>
          <a:p>
            <a:pPr algn="ctr">
              <a:lnSpc>
                <a:spcPct val="112000"/>
              </a:lnSpc>
            </a:pPr>
            <a:r>
              <a:rPr sz="1030" b="0" i="0">
                <a:solidFill>
                  <a:srgbClr val="FFFFFF"/>
                </a:solidFill>
                <a:latin typeface="Microsoft YaHei"/>
                <a:ea typeface="Microsoft YaHei"/>
              </a:rPr>
              <a:t>任务恢复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5334000" y="2247900"/>
            <a:ext cx="869950" cy="520700"/>
          </a:xfrm>
          <a:prstGeom prst="line">
            <a:avLst/>
          </a:prstGeom>
          <a:ln w="2159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[flow_label_354]"/>
          <p:cNvSpPr txBox="1"/>
          <p:nvPr/>
        </p:nvSpPr>
        <p:spPr>
          <a:xfrm>
            <a:off x="5473700" y="2019300"/>
            <a:ext cx="6350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595959"/>
                </a:solidFill>
                <a:latin typeface="Microsoft YaHei"/>
                <a:ea typeface="Microsoft YaHei"/>
              </a:rPr>
              <a:t>算力供给</a:t>
            </a:r>
          </a:p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595959"/>
                </a:solidFill>
                <a:latin typeface="Microsoft YaHei"/>
                <a:ea typeface="Microsoft YaHei"/>
              </a:rPr>
              <a:t>(92%)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5334000" y="3009900"/>
            <a:ext cx="869950" cy="124460"/>
          </a:xfrm>
          <a:prstGeom prst="line">
            <a:avLst/>
          </a:prstGeom>
          <a:ln w="21590">
            <a:solidFill>
              <a:srgbClr val="009D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[flow_label_474]"/>
          <p:cNvSpPr txBox="1"/>
          <p:nvPr/>
        </p:nvSpPr>
        <p:spPr>
          <a:xfrm>
            <a:off x="5473700" y="2781300"/>
            <a:ext cx="6350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595959"/>
                </a:solidFill>
                <a:latin typeface="Microsoft YaHei"/>
                <a:ea typeface="Microsoft YaHei"/>
              </a:rPr>
              <a:t>高速互联</a:t>
            </a:r>
          </a:p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595959"/>
                </a:solidFill>
                <a:latin typeface="Microsoft YaHei"/>
                <a:ea typeface="Microsoft YaHei"/>
              </a:rPr>
              <a:t>(86%)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5334000" y="3500120"/>
            <a:ext cx="869950" cy="271780"/>
          </a:xfrm>
          <a:prstGeom prst="line">
            <a:avLst/>
          </a:prstGeom>
          <a:ln w="21590">
            <a:solidFill>
              <a:srgbClr val="2E8B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[flow_label_594]"/>
          <p:cNvSpPr txBox="1"/>
          <p:nvPr/>
        </p:nvSpPr>
        <p:spPr>
          <a:xfrm>
            <a:off x="5473700" y="3543300"/>
            <a:ext cx="6350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595959"/>
                </a:solidFill>
                <a:latin typeface="Microsoft YaHei"/>
                <a:ea typeface="Microsoft YaHei"/>
              </a:rPr>
              <a:t>数据供给</a:t>
            </a:r>
          </a:p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595959"/>
                </a:solidFill>
                <a:latin typeface="Microsoft YaHei"/>
                <a:ea typeface="Microsoft YaHei"/>
              </a:rPr>
              <a:t>(91%)</a:t>
            </a:r>
          </a:p>
        </p:txBody>
      </p:sp>
      <p:cxnSp>
        <p:nvCxnSpPr>
          <p:cNvPr id="89" name="Connector 88"/>
          <p:cNvCxnSpPr/>
          <p:nvPr/>
        </p:nvCxnSpPr>
        <p:spPr>
          <a:xfrm flipV="1">
            <a:off x="5334000" y="3865880"/>
            <a:ext cx="869950" cy="668020"/>
          </a:xfrm>
          <a:prstGeom prst="line">
            <a:avLst/>
          </a:prstGeom>
          <a:ln w="21590">
            <a:solidFill>
              <a:srgbClr val="59595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[flow_label_714]"/>
          <p:cNvSpPr txBox="1"/>
          <p:nvPr/>
        </p:nvSpPr>
        <p:spPr>
          <a:xfrm>
            <a:off x="5473700" y="4305300"/>
            <a:ext cx="6350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595959"/>
                </a:solidFill>
                <a:latin typeface="Microsoft YaHei"/>
                <a:ea typeface="Microsoft YaHei"/>
              </a:rPr>
              <a:t>决策留痕</a:t>
            </a:r>
          </a:p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595959"/>
                </a:solidFill>
                <a:latin typeface="Microsoft YaHei"/>
                <a:ea typeface="Microsoft YaHei"/>
              </a:rPr>
              <a:t>(100%)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708900" y="3213100"/>
            <a:ext cx="1066800" cy="0"/>
          </a:xfrm>
          <a:prstGeom prst="line">
            <a:avLst/>
          </a:prstGeom>
          <a:ln w="22860">
            <a:solidFill>
              <a:srgbClr val="B90A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[right_flow_label]"/>
          <p:cNvSpPr txBox="1"/>
          <p:nvPr/>
        </p:nvSpPr>
        <p:spPr>
          <a:xfrm>
            <a:off x="8318499" y="2819400"/>
            <a:ext cx="825500" cy="317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19" b="0" i="0">
                <a:solidFill>
                  <a:srgbClr val="595959"/>
                </a:solidFill>
                <a:latin typeface="Microsoft YaHei"/>
                <a:ea typeface="Microsoft YaHei"/>
              </a:rPr>
              <a:t>任务恢复</a:t>
            </a:r>
          </a:p>
          <a:p>
            <a:pPr algn="ctr">
              <a:lnSpc>
                <a:spcPct val="112000"/>
              </a:lnSpc>
            </a:pPr>
            <a:r>
              <a:rPr sz="919" b="0" i="0">
                <a:solidFill>
                  <a:srgbClr val="595959"/>
                </a:solidFill>
                <a:latin typeface="Microsoft YaHei"/>
                <a:ea typeface="Microsoft YaHei"/>
              </a:rPr>
              <a:t>与推进</a:t>
            </a:r>
          </a:p>
        </p:txBody>
      </p:sp>
      <p:sp>
        <p:nvSpPr>
          <p:cNvPr id="93" name="[ins1_icon]"/>
          <p:cNvSpPr/>
          <p:nvPr/>
        </p:nvSpPr>
        <p:spPr>
          <a:xfrm>
            <a:off x="9042400" y="914400"/>
            <a:ext cx="30480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F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9127744" y="1066800"/>
            <a:ext cx="134111" cy="0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94800" y="999743"/>
            <a:ext cx="0" cy="134113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[ins1_title]"/>
          <p:cNvSpPr txBox="1"/>
          <p:nvPr/>
        </p:nvSpPr>
        <p:spPr>
          <a:xfrm>
            <a:off x="9486900" y="889000"/>
            <a:ext cx="2476500" cy="2413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20" b="1" i="0">
                <a:solidFill>
                  <a:srgbClr val="1F4E79"/>
                </a:solidFill>
                <a:latin typeface="Microsoft YaHei"/>
                <a:ea typeface="Microsoft YaHei"/>
              </a:rPr>
              <a:t>资源画像与洞察</a:t>
            </a:r>
          </a:p>
        </p:txBody>
      </p:sp>
      <p:sp>
        <p:nvSpPr>
          <p:cNvPr id="97" name="[ins1_body]"/>
          <p:cNvSpPr txBox="1"/>
          <p:nvPr/>
        </p:nvSpPr>
        <p:spPr>
          <a:xfrm>
            <a:off x="9486900" y="1193800"/>
            <a:ext cx="2476500" cy="5588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262626"/>
                </a:solidFill>
                <a:latin typeface="Microsoft YaHei"/>
                <a:ea typeface="Microsoft YaHei"/>
              </a:rPr>
              <a:t>基于全量调度证据实时构建算力、网络与存储三域资源画像, 融合历史趋势与故障关联, 形成可查全局视图。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8826500" y="2324100"/>
            <a:ext cx="2908300" cy="0"/>
          </a:xfrm>
          <a:prstGeom prst="line">
            <a:avLst/>
          </a:prstGeom>
          <a:ln w="11430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[ins2_icon]"/>
          <p:cNvSpPr/>
          <p:nvPr/>
        </p:nvSpPr>
        <p:spPr>
          <a:xfrm>
            <a:off x="9042400" y="2603500"/>
            <a:ext cx="30480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F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9127744" y="2755900"/>
            <a:ext cx="134111" cy="0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94800" y="2688844"/>
            <a:ext cx="0" cy="134112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[ins2_title]"/>
          <p:cNvSpPr txBox="1"/>
          <p:nvPr/>
        </p:nvSpPr>
        <p:spPr>
          <a:xfrm>
            <a:off x="9486900" y="2578100"/>
            <a:ext cx="2476500" cy="2413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20" b="1" i="0">
                <a:solidFill>
                  <a:srgbClr val="009D9A"/>
                </a:solidFill>
                <a:latin typeface="Microsoft YaHei"/>
                <a:ea typeface="Microsoft YaHei"/>
              </a:rPr>
              <a:t>恢复窗口与自愈</a:t>
            </a:r>
          </a:p>
        </p:txBody>
      </p:sp>
      <p:sp>
        <p:nvSpPr>
          <p:cNvPr id="103" name="[ins2_body]"/>
          <p:cNvSpPr txBox="1"/>
          <p:nvPr/>
        </p:nvSpPr>
        <p:spPr>
          <a:xfrm>
            <a:off x="9486900" y="2882900"/>
            <a:ext cx="2476500" cy="5588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262626"/>
                </a:solidFill>
                <a:latin typeface="Microsoft YaHei"/>
                <a:ea typeface="Microsoft YaHei"/>
              </a:rPr>
              <a:t>故障发生后以快照与数据偏移为锚点, 计算最小恢复窗口并自动回退执行, 支撑热迁移与影子服务机制。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8826500" y="4013200"/>
            <a:ext cx="2908300" cy="0"/>
          </a:xfrm>
          <a:prstGeom prst="line">
            <a:avLst/>
          </a:prstGeom>
          <a:ln w="11430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[ins3_icon]"/>
          <p:cNvSpPr/>
          <p:nvPr/>
        </p:nvSpPr>
        <p:spPr>
          <a:xfrm>
            <a:off x="9042400" y="4292600"/>
            <a:ext cx="30480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F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9127744" y="4445000"/>
            <a:ext cx="134111" cy="0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194800" y="4377944"/>
            <a:ext cx="0" cy="134112"/>
          </a:xfrm>
          <a:prstGeom prst="line">
            <a:avLst/>
          </a:prstGeom>
          <a:ln w="11430">
            <a:solidFill>
              <a:srgbClr val="BFD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[ins3_title]"/>
          <p:cNvSpPr txBox="1"/>
          <p:nvPr/>
        </p:nvSpPr>
        <p:spPr>
          <a:xfrm>
            <a:off x="9486900" y="4267200"/>
            <a:ext cx="2476500" cy="2413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20" b="1" i="0">
                <a:solidFill>
                  <a:srgbClr val="2E8B3C"/>
                </a:solidFill>
                <a:latin typeface="Microsoft YaHei"/>
                <a:ea typeface="Microsoft YaHei"/>
              </a:rPr>
              <a:t>验收口径与保障</a:t>
            </a:r>
          </a:p>
        </p:txBody>
      </p:sp>
      <p:sp>
        <p:nvSpPr>
          <p:cNvPr id="109" name="[ins3_body]"/>
          <p:cNvSpPr txBox="1"/>
          <p:nvPr/>
        </p:nvSpPr>
        <p:spPr>
          <a:xfrm>
            <a:off x="9486900" y="4572000"/>
            <a:ext cx="2476500" cy="5588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262626"/>
                </a:solidFill>
                <a:latin typeface="Microsoft YaHei"/>
                <a:ea typeface="Microsoft YaHei"/>
              </a:rPr>
              <a:t>围绕时间线、责任人与变更内容统一恢复事件验收口径, 确保链路证据可追溯可审计。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15900" y="5740400"/>
            <a:ext cx="11760200" cy="800100"/>
          </a:xfrm>
          <a:prstGeom prst="roundRect">
            <a:avLst>
              <a:gd name="adj" fmla="val 4000"/>
            </a:avLst>
          </a:prstGeom>
          <a:solidFill>
            <a:srgbClr val="FFFBF4"/>
          </a:solidFill>
          <a:ln w="10160">
            <a:solidFill>
              <a:srgbClr val="FFC4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317500" y="5842000"/>
            <a:ext cx="2730500" cy="647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C4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[okpi1_icon]"/>
          <p:cNvSpPr/>
          <p:nvPr/>
        </p:nvSpPr>
        <p:spPr>
          <a:xfrm>
            <a:off x="431800" y="593725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559816" y="6165850"/>
            <a:ext cx="201168" cy="0"/>
          </a:xfrm>
          <a:prstGeom prst="line">
            <a:avLst/>
          </a:prstGeom>
          <a:ln w="11430">
            <a:solidFill>
              <a:srgbClr val="FFB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60400" y="6065265"/>
            <a:ext cx="0" cy="201169"/>
          </a:xfrm>
          <a:prstGeom prst="line">
            <a:avLst/>
          </a:prstGeom>
          <a:ln w="11430">
            <a:solidFill>
              <a:srgbClr val="FFB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[okpi1_metric]"/>
          <p:cNvSpPr txBox="1"/>
          <p:nvPr/>
        </p:nvSpPr>
        <p:spPr>
          <a:xfrm>
            <a:off x="990599" y="5981700"/>
            <a:ext cx="800100" cy="3429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FF8A00"/>
                </a:solidFill>
                <a:latin typeface="Microsoft YaHei"/>
                <a:ea typeface="Microsoft YaHei"/>
              </a:rPr>
              <a:t>+20%</a:t>
            </a:r>
          </a:p>
        </p:txBody>
      </p:sp>
      <p:sp>
        <p:nvSpPr>
          <p:cNvPr id="116" name="[okpi1_title]"/>
          <p:cNvSpPr txBox="1"/>
          <p:nvPr/>
        </p:nvSpPr>
        <p:spPr>
          <a:xfrm>
            <a:off x="1828800" y="5981700"/>
            <a:ext cx="1117600" cy="1905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1" i="0">
                <a:solidFill>
                  <a:srgbClr val="262626"/>
                </a:solidFill>
                <a:latin typeface="Microsoft YaHei"/>
                <a:ea typeface="Microsoft YaHei"/>
              </a:rPr>
              <a:t>上行容量提升</a:t>
            </a:r>
          </a:p>
        </p:txBody>
      </p:sp>
      <p:sp>
        <p:nvSpPr>
          <p:cNvPr id="117" name="[okpi1_sub]"/>
          <p:cNvSpPr txBox="1"/>
          <p:nvPr/>
        </p:nvSpPr>
        <p:spPr>
          <a:xfrm>
            <a:off x="1828800" y="6197600"/>
            <a:ext cx="1117600" cy="1651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595959"/>
                </a:solidFill>
                <a:latin typeface="Microsoft YaHei"/>
                <a:ea typeface="Microsoft YaHei"/>
              </a:rPr>
              <a:t>高负载场景平均增益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206750" y="5842000"/>
            <a:ext cx="2730500" cy="647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C4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[okpi2_icon]"/>
          <p:cNvSpPr/>
          <p:nvPr/>
        </p:nvSpPr>
        <p:spPr>
          <a:xfrm>
            <a:off x="3321050" y="593725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3449066" y="6165850"/>
            <a:ext cx="201168" cy="0"/>
          </a:xfrm>
          <a:prstGeom prst="line">
            <a:avLst/>
          </a:prstGeom>
          <a:ln w="11430">
            <a:solidFill>
              <a:srgbClr val="FFB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549650" y="6065265"/>
            <a:ext cx="0" cy="201169"/>
          </a:xfrm>
          <a:prstGeom prst="line">
            <a:avLst/>
          </a:prstGeom>
          <a:ln w="11430">
            <a:solidFill>
              <a:srgbClr val="FFB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[okpi2_metric]"/>
          <p:cNvSpPr txBox="1"/>
          <p:nvPr/>
        </p:nvSpPr>
        <p:spPr>
          <a:xfrm>
            <a:off x="3879850" y="5981700"/>
            <a:ext cx="800100" cy="3429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FF8A00"/>
                </a:solidFill>
                <a:latin typeface="Microsoft YaHei"/>
                <a:ea typeface="Microsoft YaHei"/>
              </a:rPr>
              <a:t>-42%</a:t>
            </a:r>
          </a:p>
        </p:txBody>
      </p:sp>
      <p:sp>
        <p:nvSpPr>
          <p:cNvPr id="123" name="[okpi2_title]"/>
          <p:cNvSpPr txBox="1"/>
          <p:nvPr/>
        </p:nvSpPr>
        <p:spPr>
          <a:xfrm>
            <a:off x="4718050" y="5981700"/>
            <a:ext cx="1117600" cy="1905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1" i="0">
                <a:solidFill>
                  <a:srgbClr val="262626"/>
                </a:solidFill>
                <a:latin typeface="Microsoft YaHei"/>
                <a:ea typeface="Microsoft YaHei"/>
              </a:rPr>
              <a:t>恢复时长缩短</a:t>
            </a:r>
          </a:p>
        </p:txBody>
      </p:sp>
      <p:sp>
        <p:nvSpPr>
          <p:cNvPr id="124" name="[okpi2_sub]"/>
          <p:cNvSpPr txBox="1"/>
          <p:nvPr/>
        </p:nvSpPr>
        <p:spPr>
          <a:xfrm>
            <a:off x="4718050" y="6197600"/>
            <a:ext cx="1117600" cy="1651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595959"/>
                </a:solidFill>
                <a:latin typeface="Microsoft YaHei"/>
                <a:ea typeface="Microsoft YaHei"/>
              </a:rPr>
              <a:t>较基线方案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096000" y="5842000"/>
            <a:ext cx="2730500" cy="647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C4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[okpi3_icon]"/>
          <p:cNvSpPr/>
          <p:nvPr/>
        </p:nvSpPr>
        <p:spPr>
          <a:xfrm>
            <a:off x="6210300" y="593725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6338316" y="6165850"/>
            <a:ext cx="201168" cy="0"/>
          </a:xfrm>
          <a:prstGeom prst="line">
            <a:avLst/>
          </a:prstGeom>
          <a:ln w="11430">
            <a:solidFill>
              <a:srgbClr val="FFB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6438900" y="6065265"/>
            <a:ext cx="0" cy="201169"/>
          </a:xfrm>
          <a:prstGeom prst="line">
            <a:avLst/>
          </a:prstGeom>
          <a:ln w="11430">
            <a:solidFill>
              <a:srgbClr val="FFB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[okpi3_metric]"/>
          <p:cNvSpPr txBox="1"/>
          <p:nvPr/>
        </p:nvSpPr>
        <p:spPr>
          <a:xfrm>
            <a:off x="6769100" y="5981700"/>
            <a:ext cx="800100" cy="3429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FF8A00"/>
                </a:solidFill>
                <a:latin typeface="Microsoft YaHei"/>
                <a:ea typeface="Microsoft YaHei"/>
              </a:rPr>
              <a:t>-31%</a:t>
            </a:r>
          </a:p>
        </p:txBody>
      </p:sp>
      <p:sp>
        <p:nvSpPr>
          <p:cNvPr id="130" name="[okpi3_title]"/>
          <p:cNvSpPr txBox="1"/>
          <p:nvPr/>
        </p:nvSpPr>
        <p:spPr>
          <a:xfrm>
            <a:off x="7607300" y="5981700"/>
            <a:ext cx="1117600" cy="1905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1" i="0">
                <a:solidFill>
                  <a:srgbClr val="262626"/>
                </a:solidFill>
                <a:latin typeface="Microsoft YaHei"/>
                <a:ea typeface="Microsoft YaHei"/>
              </a:rPr>
              <a:t>算力空转降低</a:t>
            </a:r>
          </a:p>
        </p:txBody>
      </p:sp>
      <p:sp>
        <p:nvSpPr>
          <p:cNvPr id="131" name="[okpi3_sub]"/>
          <p:cNvSpPr txBox="1"/>
          <p:nvPr/>
        </p:nvSpPr>
        <p:spPr>
          <a:xfrm>
            <a:off x="7607300" y="6197600"/>
            <a:ext cx="1117600" cy="1651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595959"/>
                </a:solidFill>
                <a:latin typeface="Microsoft YaHei"/>
                <a:ea typeface="Microsoft YaHei"/>
              </a:rPr>
              <a:t>资源利用率提升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985250" y="5842000"/>
            <a:ext cx="2730500" cy="647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C4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[okpi4_icon]"/>
          <p:cNvSpPr/>
          <p:nvPr/>
        </p:nvSpPr>
        <p:spPr>
          <a:xfrm>
            <a:off x="9099550" y="593725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FFB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9227566" y="6165850"/>
            <a:ext cx="201168" cy="0"/>
          </a:xfrm>
          <a:prstGeom prst="line">
            <a:avLst/>
          </a:prstGeom>
          <a:ln w="11430">
            <a:solidFill>
              <a:srgbClr val="FFB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328150" y="6065265"/>
            <a:ext cx="0" cy="201169"/>
          </a:xfrm>
          <a:prstGeom prst="line">
            <a:avLst/>
          </a:prstGeom>
          <a:ln w="11430">
            <a:solidFill>
              <a:srgbClr val="FFB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[okpi4_metric]"/>
          <p:cNvSpPr txBox="1"/>
          <p:nvPr/>
        </p:nvSpPr>
        <p:spPr>
          <a:xfrm>
            <a:off x="9658350" y="5981700"/>
            <a:ext cx="800100" cy="3429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FF8A00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137" name="[okpi4_title]"/>
          <p:cNvSpPr txBox="1"/>
          <p:nvPr/>
        </p:nvSpPr>
        <p:spPr>
          <a:xfrm>
            <a:off x="10496550" y="5981700"/>
            <a:ext cx="1117600" cy="1905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1" i="0">
                <a:solidFill>
                  <a:srgbClr val="262626"/>
                </a:solidFill>
                <a:latin typeface="Microsoft YaHei"/>
                <a:ea typeface="Microsoft YaHei"/>
              </a:rPr>
              <a:t>审计覆盖率</a:t>
            </a:r>
          </a:p>
        </p:txBody>
      </p:sp>
      <p:sp>
        <p:nvSpPr>
          <p:cNvPr id="138" name="[okpi4_sub]"/>
          <p:cNvSpPr txBox="1"/>
          <p:nvPr/>
        </p:nvSpPr>
        <p:spPr>
          <a:xfrm>
            <a:off x="10496550" y="6197600"/>
            <a:ext cx="1117600" cy="165100"/>
          </a:xfrm>
          <a:prstGeom prst="rect">
            <a:avLst/>
          </a:prstGeom>
          <a:noFill/>
        </p:spPr>
        <p:txBody>
          <a:bodyPr wrap="non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595959"/>
                </a:solidFill>
                <a:latin typeface="Microsoft YaHei"/>
                <a:ea typeface="Microsoft YaHei"/>
              </a:rPr>
              <a:t>决策可追溯可复盘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
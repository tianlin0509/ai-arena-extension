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总结展望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全年训练效率提升 3 倍, 下半年聚焦集群二期与生态适配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1000" y="825500"/>
            <a:ext cx="62230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8255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299" y="825500"/>
            <a:ext cx="60579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核心结论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1206500"/>
            <a:ext cx="6223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4200" y="1358900"/>
            <a:ext cx="355600" cy="3556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1358900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[concl1_text]"/>
          <p:cNvSpPr txBox="1"/>
          <p:nvPr/>
        </p:nvSpPr>
        <p:spPr>
          <a:xfrm>
            <a:off x="1143000" y="1295400"/>
            <a:ext cx="5207000" cy="444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昇腾千卡集群按期投产, 训练任务迁移完成率 95%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1803400"/>
            <a:ext cx="5207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[concl1_data]"/>
          <p:cNvSpPr txBox="1"/>
          <p:nvPr/>
        </p:nvSpPr>
        <p:spPr>
          <a:xfrm>
            <a:off x="1143000" y="1866899"/>
            <a:ext cx="5207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支撑 12 个大模型项目, 累计训练 18.6 万卡时, 集群故障率低于 0.5%, 千卡作业最长稳定运行 42 天, 算力交付满足全部在研项目排期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2514600"/>
            <a:ext cx="6223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4200" y="2667000"/>
            <a:ext cx="355600" cy="3556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200" y="2667000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[concl2_text]"/>
          <p:cNvSpPr txBox="1"/>
          <p:nvPr/>
        </p:nvSpPr>
        <p:spPr>
          <a:xfrm>
            <a:off x="1143000" y="2603500"/>
            <a:ext cx="5207000" cy="444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算子生态适配突破, 主流框架覆盖率达 92%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111500"/>
            <a:ext cx="5207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[concl2_data]"/>
          <p:cNvSpPr txBox="1"/>
          <p:nvPr/>
        </p:nvSpPr>
        <p:spPr>
          <a:xfrm>
            <a:off x="1143000" y="3175000"/>
            <a:ext cx="5207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完成 PyTorch/MindSpore 双栈 480 个高频算子适配, 典型模型性能达 A100 的 0.9-1.1 倍, 长尾算子仅余 8% 待 Q3 攻关收尾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" y="3822700"/>
            <a:ext cx="6223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4200" y="3975100"/>
            <a:ext cx="355600" cy="3556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200" y="3975100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4" name="[concl3_text]"/>
          <p:cNvSpPr txBox="1"/>
          <p:nvPr/>
        </p:nvSpPr>
        <p:spPr>
          <a:xfrm>
            <a:off x="1143000" y="3911600"/>
            <a:ext cx="5207000" cy="444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数据治理体系落地, 训练数据合规率 100%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4419600"/>
            <a:ext cx="5207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[concl3_data]"/>
          <p:cNvSpPr txBox="1"/>
          <p:nvPr/>
        </p:nvSpPr>
        <p:spPr>
          <a:xfrm>
            <a:off x="1143000" y="4483100"/>
            <a:ext cx="5207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建成统一数据湖, 入湖数据 2.3PB, 自动化标注流水线使标注效率提升 40%, 训练集合规审计一次通过, 数据出境清单全部闭环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5130800"/>
            <a:ext cx="6223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4200" y="5283200"/>
            <a:ext cx="355600" cy="3556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200" y="5283200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0" name="[concl4_text]"/>
          <p:cNvSpPr txBox="1"/>
          <p:nvPr/>
        </p:nvSpPr>
        <p:spPr>
          <a:xfrm>
            <a:off x="1143000" y="5219700"/>
            <a:ext cx="5207000" cy="444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智能体平台规模商用, 高频流程自动化率 65%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5727700"/>
            <a:ext cx="5207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[concl4_data]"/>
          <p:cNvSpPr txBox="1"/>
          <p:nvPr/>
        </p:nvSpPr>
        <p:spPr>
          <a:xfrm>
            <a:off x="1143000" y="5791200"/>
            <a:ext cx="5207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接入财经/供应链/采购等 5 个业务域, 周活跃用户 1200+, 单流程平均节省 2.4 人时, 月累计释放人力 3600 人时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94500" y="825500"/>
            <a:ext cx="50165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94500" y="8255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8800" y="825500"/>
            <a:ext cx="48514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4500" y="1206500"/>
            <a:ext cx="5016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59600" y="138430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59600" y="13716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00B050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9" name="[act1_name]"/>
          <p:cNvSpPr txBox="1"/>
          <p:nvPr/>
        </p:nvSpPr>
        <p:spPr>
          <a:xfrm>
            <a:off x="7366000" y="1282700"/>
            <a:ext cx="3048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启动集群二期 4000 卡扩容立项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0" y="1384300"/>
            <a:ext cx="1143000" cy="27940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[act1_time]"/>
          <p:cNvSpPr txBox="1"/>
          <p:nvPr/>
        </p:nvSpPr>
        <p:spPr>
          <a:xfrm>
            <a:off x="10515600" y="1384300"/>
            <a:ext cx="1143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7 月底前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94500" y="1917700"/>
            <a:ext cx="5016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9600" y="2095499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9600" y="20828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00B050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5" name="[act2_name]"/>
          <p:cNvSpPr txBox="1"/>
          <p:nvPr/>
        </p:nvSpPr>
        <p:spPr>
          <a:xfrm>
            <a:off x="7366000" y="1993899"/>
            <a:ext cx="3048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完成剩余 8% 长尾算子适配攻关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2095499"/>
            <a:ext cx="1143000" cy="27940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[act2_time]"/>
          <p:cNvSpPr txBox="1"/>
          <p:nvPr/>
        </p:nvSpPr>
        <p:spPr>
          <a:xfrm>
            <a:off x="10515600" y="2095499"/>
            <a:ext cx="1143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Q3 季度末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94500" y="2628900"/>
            <a:ext cx="5016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59600" y="280670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9600" y="27940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00B050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1" name="[act3_name]"/>
          <p:cNvSpPr txBox="1"/>
          <p:nvPr/>
        </p:nvSpPr>
        <p:spPr>
          <a:xfrm>
            <a:off x="7366000" y="2705100"/>
            <a:ext cx="3048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上线智能体平台并接入 3 个业务域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2806700"/>
            <a:ext cx="1143000" cy="27940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[act3_time]"/>
          <p:cNvSpPr txBox="1"/>
          <p:nvPr/>
        </p:nvSpPr>
        <p:spPr>
          <a:xfrm>
            <a:off x="10515600" y="2806700"/>
            <a:ext cx="1143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9/30 上线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94500" y="3340100"/>
            <a:ext cx="5016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959600" y="351790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59600" y="35052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00B050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7" name="[act4_name]"/>
          <p:cNvSpPr txBox="1"/>
          <p:nvPr/>
        </p:nvSpPr>
        <p:spPr>
          <a:xfrm>
            <a:off x="7366000" y="3416300"/>
            <a:ext cx="3048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发布昇腾云算力服务目录对外运营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15600" y="3517900"/>
            <a:ext cx="1143000" cy="27940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[act4_time]"/>
          <p:cNvSpPr txBox="1"/>
          <p:nvPr/>
        </p:nvSpPr>
        <p:spPr>
          <a:xfrm>
            <a:off x="10515600" y="3517900"/>
            <a:ext cx="1143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10 月中旬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94500" y="4152900"/>
            <a:ext cx="5016500" cy="124460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72300" y="4230254"/>
            <a:ext cx="2540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B90A0A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02500" y="4241800"/>
            <a:ext cx="19050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资源诉求</a:t>
            </a:r>
          </a:p>
        </p:txBody>
      </p:sp>
      <p:sp>
        <p:nvSpPr>
          <p:cNvPr id="63" name="[ask]"/>
          <p:cNvSpPr txBox="1"/>
          <p:nvPr/>
        </p:nvSpPr>
        <p:spPr>
          <a:xfrm>
            <a:off x="6997700" y="4521200"/>
            <a:ext cx="4610100" cy="762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</a:rPr>
              <a:t>追加集群二期扩容预算 1.2 亿元; 协调机房 B3 区 600kW 供电改造排期; 增补算子开发工程师 5 人, 7 月到位以保障 Q3 攻关节奏; 申请安全团队专项支持智能体平台等保测评, 8 月底前完成。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94500" y="5549900"/>
            <a:ext cx="5016500" cy="635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[kpi1]"/>
          <p:cNvSpPr txBox="1"/>
          <p:nvPr/>
        </p:nvSpPr>
        <p:spPr>
          <a:xfrm>
            <a:off x="6794500" y="5549900"/>
            <a:ext cx="5016500" cy="635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62626"/>
                </a:solidFill>
                <a:latin typeface="Microsoft YaHei"/>
                <a:ea typeface="Microsoft YaHei"/>
              </a:rPr>
              <a:t>目标: 年底集群利用率 ≥ 90%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
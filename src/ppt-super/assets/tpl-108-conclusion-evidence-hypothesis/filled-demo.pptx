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5100" y="127000"/>
            <a:ext cx="10795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25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结论：</a:t>
            </a:r>
          </a:p>
        </p:txBody>
      </p:sp>
      <p:sp>
        <p:nvSpPr>
          <p:cNvPr id="3" name="[title_main]"/>
          <p:cNvSpPr txBox="1"/>
          <p:nvPr/>
        </p:nvSpPr>
        <p:spPr>
          <a:xfrm>
            <a:off x="1238250" y="127000"/>
            <a:ext cx="102235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25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关键瓶颈与验证路径已明确，下一步通过约束增强与闭环验证实现突破</a:t>
            </a:r>
          </a:p>
        </p:txBody>
      </p:sp>
      <p:sp>
        <p:nvSpPr>
          <p:cNvPr id="4" name="[subtitle]"/>
          <p:cNvSpPr txBox="1"/>
          <p:nvPr/>
        </p:nvSpPr>
        <p:spPr>
          <a:xfrm>
            <a:off x="165100" y="635000"/>
            <a:ext cx="1082675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基于多源数据与统一评测的系统性分析，本页给出核心结论、证据链与下一步实验假设，指导后续研究验证与工程落地路径。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800" y="1054100"/>
            <a:ext cx="7016750" cy="546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7800" y="1054100"/>
            <a:ext cx="7016750" cy="393700"/>
          </a:xfrm>
          <a:prstGeom prst="roundRect">
            <a:avLst>
              <a:gd name="adj" fmla="val 6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800" y="1270000"/>
            <a:ext cx="7016750" cy="177800"/>
          </a:xfrm>
          <a:prstGeom prst="rect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[left_panel_title]"/>
          <p:cNvSpPr txBox="1"/>
          <p:nvPr/>
        </p:nvSpPr>
        <p:spPr>
          <a:xfrm>
            <a:off x="177800" y="1117600"/>
            <a:ext cx="701675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技术总结（核心证据链与结论）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800" y="1600200"/>
            <a:ext cx="679450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7500" y="1612900"/>
            <a:ext cx="1079500" cy="1231900"/>
          </a:xfrm>
          <a:prstGeom prst="roundRect">
            <a:avLst>
              <a:gd name="adj" fmla="val 6000"/>
            </a:avLst>
          </a:prstGeom>
          <a:solidFill>
            <a:srgbClr val="002B79"/>
          </a:solidFill>
          <a:ln w="12700">
            <a:solidFill>
              <a:srgbClr val="002B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3900" y="1828800"/>
            <a:ext cx="330200" cy="33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450" y="1841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2000" b="1">
                <a:solidFill>
                  <a:srgbClr val="002B7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[layer1_title]"/>
          <p:cNvSpPr txBox="1"/>
          <p:nvPr/>
        </p:nvSpPr>
        <p:spPr>
          <a:xfrm>
            <a:off x="393700" y="22733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关键观察</a:t>
            </a:r>
          </a:p>
        </p:txBody>
      </p:sp>
      <p:sp>
        <p:nvSpPr>
          <p:cNvPr id="14" name="[layer1_subtitle]"/>
          <p:cNvSpPr txBox="1"/>
          <p:nvPr/>
        </p:nvSpPr>
        <p:spPr>
          <a:xfrm>
            <a:off x="393700" y="24511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现象层</a:t>
            </a:r>
          </a:p>
        </p:txBody>
      </p:sp>
      <p:sp>
        <p:nvSpPr>
          <p:cNvPr id="15" name="[layer1_body]"/>
          <p:cNvSpPr txBox="1"/>
          <p:nvPr/>
        </p:nvSpPr>
        <p:spPr>
          <a:xfrm>
            <a:off x="1606550" y="1752600"/>
            <a:ext cx="40132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12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在长尾与分布漂移场景下，模型误差随扰动强度呈非线性急剧放大，且主要由边界样本与高频噪声驱动。</a:t>
            </a:r>
          </a:p>
        </p:txBody>
      </p:sp>
      <p:sp>
        <p:nvSpPr>
          <p:cNvPr id="16" name="[layer1_points]"/>
          <p:cNvSpPr txBox="1"/>
          <p:nvPr/>
        </p:nvSpPr>
        <p:spPr>
          <a:xfrm>
            <a:off x="1657350" y="2298700"/>
            <a:ext cx="3962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4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• 误差在 ε &gt; 1.2×10⁻¹ 后快速上升
• 注意力与表征在关键片段出现稀疏集中与偏置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53100" y="1758950"/>
            <a:ext cx="0" cy="93980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24550" y="1765300"/>
            <a:ext cx="1079500" cy="9271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2700">
            <a:solidFill>
              <a:srgbClr val="CFD6D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5552" y="1986915"/>
            <a:ext cx="277495" cy="21717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524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9845" y="2035175"/>
            <a:ext cx="30162" cy="30162"/>
          </a:xfrm>
          <a:prstGeom prst="ellipse">
            <a:avLst/>
          </a:prstGeom>
          <a:solidFill>
            <a:srgbClr val="CFD6DE"/>
          </a:solidFill>
          <a:ln w="1270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6379845" y="2089467"/>
            <a:ext cx="66357" cy="60325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46202" y="2089467"/>
            <a:ext cx="48260" cy="48261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494462" y="2065338"/>
            <a:ext cx="60326" cy="72390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[layer1_visual_label]"/>
          <p:cNvSpPr txBox="1"/>
          <p:nvPr/>
        </p:nvSpPr>
        <p:spPr>
          <a:xfrm>
            <a:off x="6000750" y="2413000"/>
            <a:ext cx="9271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25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趋势/可视化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4800" y="2959100"/>
            <a:ext cx="679450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7500" y="2971800"/>
            <a:ext cx="1079500" cy="1231900"/>
          </a:xfrm>
          <a:prstGeom prst="roundRect">
            <a:avLst>
              <a:gd name="adj" fmla="val 6000"/>
            </a:avLst>
          </a:prstGeom>
          <a:solidFill>
            <a:srgbClr val="002B79"/>
          </a:solidFill>
          <a:ln w="12700">
            <a:solidFill>
              <a:srgbClr val="002B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3900" y="3187700"/>
            <a:ext cx="330200" cy="33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450" y="32004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2000" b="1">
                <a:solidFill>
                  <a:srgbClr val="002B7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9" name="[layer2_title]"/>
          <p:cNvSpPr txBox="1"/>
          <p:nvPr/>
        </p:nvSpPr>
        <p:spPr>
          <a:xfrm>
            <a:off x="393700" y="36322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作用机制</a:t>
            </a:r>
          </a:p>
        </p:txBody>
      </p:sp>
      <p:sp>
        <p:nvSpPr>
          <p:cNvPr id="30" name="[layer2_subtitle]"/>
          <p:cNvSpPr txBox="1"/>
          <p:nvPr/>
        </p:nvSpPr>
        <p:spPr>
          <a:xfrm>
            <a:off x="393700" y="38100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机理层</a:t>
            </a:r>
          </a:p>
        </p:txBody>
      </p:sp>
      <p:sp>
        <p:nvSpPr>
          <p:cNvPr id="31" name="[layer2_body]"/>
          <p:cNvSpPr txBox="1"/>
          <p:nvPr/>
        </p:nvSpPr>
        <p:spPr>
          <a:xfrm>
            <a:off x="1606550" y="3111500"/>
            <a:ext cx="40132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12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分布偏移导致特征落入低密度区域，跨域对齐不足与不确定性估计偏差共同放大输出方差，形成误差正反馈环路。</a:t>
            </a:r>
          </a:p>
        </p:txBody>
      </p:sp>
      <p:sp>
        <p:nvSpPr>
          <p:cNvPr id="32" name="[layer2_points]"/>
          <p:cNvSpPr txBox="1"/>
          <p:nvPr/>
        </p:nvSpPr>
        <p:spPr>
          <a:xfrm>
            <a:off x="1657350" y="3657600"/>
            <a:ext cx="3962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4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• 低密度区域判别边界不稳定，梯度与特征扰动耦合增强
• 不确定性低估使模型过度自信，错误难以被抑制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53100" y="3117850"/>
            <a:ext cx="0" cy="93980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924550" y="3124200"/>
            <a:ext cx="1079500" cy="9271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2700">
            <a:solidFill>
              <a:srgbClr val="CFD6D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25552" y="3345815"/>
            <a:ext cx="277495" cy="21717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524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79845" y="3394075"/>
            <a:ext cx="30162" cy="30162"/>
          </a:xfrm>
          <a:prstGeom prst="ellipse">
            <a:avLst/>
          </a:prstGeom>
          <a:solidFill>
            <a:srgbClr val="CFD6DE"/>
          </a:solidFill>
          <a:ln w="1270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6379845" y="3448367"/>
            <a:ext cx="66357" cy="60325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46202" y="3448367"/>
            <a:ext cx="48260" cy="48261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94462" y="3424238"/>
            <a:ext cx="60326" cy="72390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[layer2_visual_label]"/>
          <p:cNvSpPr txBox="1"/>
          <p:nvPr/>
        </p:nvSpPr>
        <p:spPr>
          <a:xfrm>
            <a:off x="6000750" y="3771900"/>
            <a:ext cx="9271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25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机制/热图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4800" y="4318000"/>
            <a:ext cx="679450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7500" y="4330700"/>
            <a:ext cx="1079500" cy="1231900"/>
          </a:xfrm>
          <a:prstGeom prst="roundRect">
            <a:avLst>
              <a:gd name="adj" fmla="val 6000"/>
            </a:avLst>
          </a:prstGeom>
          <a:solidFill>
            <a:srgbClr val="008F8B"/>
          </a:solidFill>
          <a:ln w="12700">
            <a:solidFill>
              <a:srgbClr val="00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3900" y="4546600"/>
            <a:ext cx="330200" cy="33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9450" y="45593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2000" b="1">
                <a:solidFill>
                  <a:srgbClr val="008F8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5" name="[layer3_title]"/>
          <p:cNvSpPr txBox="1"/>
          <p:nvPr/>
        </p:nvSpPr>
        <p:spPr>
          <a:xfrm>
            <a:off x="393700" y="49911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验证证据</a:t>
            </a:r>
          </a:p>
        </p:txBody>
      </p:sp>
      <p:sp>
        <p:nvSpPr>
          <p:cNvPr id="46" name="[layer3_subtitle]"/>
          <p:cNvSpPr txBox="1"/>
          <p:nvPr/>
        </p:nvSpPr>
        <p:spPr>
          <a:xfrm>
            <a:off x="393700" y="51689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检验层</a:t>
            </a:r>
          </a:p>
        </p:txBody>
      </p:sp>
      <p:sp>
        <p:nvSpPr>
          <p:cNvPr id="47" name="[layer3_body]"/>
          <p:cNvSpPr txBox="1"/>
          <p:nvPr/>
        </p:nvSpPr>
        <p:spPr>
          <a:xfrm>
            <a:off x="1606550" y="4470400"/>
            <a:ext cx="40132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12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在 6 个数据集与 30 种扰动下验证：方法较基线在精度、鲁棒性与泛化方面一致提升，结果在多随机种子与不同域均可复现。</a:t>
            </a:r>
          </a:p>
        </p:txBody>
      </p:sp>
      <p:sp>
        <p:nvSpPr>
          <p:cNvPr id="48" name="[layer3_points]"/>
          <p:cNvSpPr txBox="1"/>
          <p:nvPr/>
        </p:nvSpPr>
        <p:spPr>
          <a:xfrm>
            <a:off x="1657350" y="5016500"/>
            <a:ext cx="3962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4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• Acc@1 平均提升 +4.3pp，端到端时延下降 27.6%
• 95% 置信区间稳定，跨域泛化增益显著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753100" y="4476750"/>
            <a:ext cx="0" cy="93980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924550" y="4483100"/>
            <a:ext cx="1079500" cy="9271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2700">
            <a:solidFill>
              <a:srgbClr val="CFD6D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25552" y="4704715"/>
            <a:ext cx="277495" cy="21717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524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79845" y="4752975"/>
            <a:ext cx="30162" cy="30162"/>
          </a:xfrm>
          <a:prstGeom prst="ellipse">
            <a:avLst/>
          </a:prstGeom>
          <a:solidFill>
            <a:srgbClr val="CFD6DE"/>
          </a:solidFill>
          <a:ln w="1270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6379845" y="4807268"/>
            <a:ext cx="66357" cy="60324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446202" y="4807268"/>
            <a:ext cx="48260" cy="48260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494462" y="4783138"/>
            <a:ext cx="60326" cy="72390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[layer3_visual_label]"/>
          <p:cNvSpPr txBox="1"/>
          <p:nvPr/>
        </p:nvSpPr>
        <p:spPr>
          <a:xfrm>
            <a:off x="6000750" y="5130800"/>
            <a:ext cx="9271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25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对比/柱状图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17500" y="5778500"/>
            <a:ext cx="6781800" cy="558800"/>
          </a:xfrm>
          <a:prstGeom prst="roundRect">
            <a:avLst>
              <a:gd name="adj" fmla="val 6000"/>
            </a:avLst>
          </a:prstGeom>
          <a:solidFill>
            <a:srgbClr val="F8FAFD"/>
          </a:solidFill>
          <a:ln w="1270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17500" y="5778500"/>
            <a:ext cx="685800" cy="558800"/>
          </a:xfrm>
          <a:prstGeom prst="roundRect">
            <a:avLst>
              <a:gd name="adj" fmla="val 6000"/>
            </a:avLst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4700" y="5778500"/>
            <a:ext cx="228600" cy="5588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88950" y="5905500"/>
            <a:ext cx="266700" cy="2667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7624" y="5964174"/>
            <a:ext cx="149352" cy="149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00964" y="6017514"/>
            <a:ext cx="42672" cy="42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654304" y="5918835"/>
            <a:ext cx="88011" cy="88011"/>
          </a:xfrm>
          <a:prstGeom prst="line">
            <a:avLst/>
          </a:prstGeom>
          <a:ln w="355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10311" y="5918835"/>
            <a:ext cx="32004" cy="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42315" y="5918835"/>
            <a:ext cx="0" cy="32004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[summary_label]"/>
          <p:cNvSpPr txBox="1"/>
          <p:nvPr/>
        </p:nvSpPr>
        <p:spPr>
          <a:xfrm>
            <a:off x="1130300" y="5867400"/>
            <a:ext cx="812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1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总体结论：</a:t>
            </a:r>
          </a:p>
        </p:txBody>
      </p:sp>
      <p:sp>
        <p:nvSpPr>
          <p:cNvPr id="67" name="[summary_text]"/>
          <p:cNvSpPr txBox="1"/>
          <p:nvPr/>
        </p:nvSpPr>
        <p:spPr>
          <a:xfrm>
            <a:off x="1955800" y="5842000"/>
            <a:ext cx="4826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5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关键瓶颈源于分布偏移驱动的边界不稳定与不确定性低估；通过分层建模、跨域对齐与校准优化，可在不显著增加计算成本的前提下提升精度与鲁棒性。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340600" y="1054100"/>
            <a:ext cx="0" cy="546100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7467600" y="1054100"/>
            <a:ext cx="4419600" cy="410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467600" y="1054100"/>
            <a:ext cx="4419600" cy="393700"/>
          </a:xfrm>
          <a:prstGeom prst="roundRect">
            <a:avLst>
              <a:gd name="adj" fmla="val 6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467600" y="1270000"/>
            <a:ext cx="4419600" cy="177800"/>
          </a:xfrm>
          <a:prstGeom prst="rect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[right_panel_title]"/>
          <p:cNvSpPr txBox="1"/>
          <p:nvPr/>
        </p:nvSpPr>
        <p:spPr>
          <a:xfrm>
            <a:off x="7467600" y="1117600"/>
            <a:ext cx="44196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下一步实验假设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07300" y="16764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[hyp1_label]"/>
          <p:cNvSpPr txBox="1"/>
          <p:nvPr/>
        </p:nvSpPr>
        <p:spPr>
          <a:xfrm>
            <a:off x="7797800" y="16192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核心假设：</a:t>
            </a:r>
          </a:p>
        </p:txBody>
      </p:sp>
      <p:sp>
        <p:nvSpPr>
          <p:cNvPr id="75" name="[hyp1_text]"/>
          <p:cNvSpPr txBox="1"/>
          <p:nvPr/>
        </p:nvSpPr>
        <p:spPr>
          <a:xfrm>
            <a:off x="8623300" y="16129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引入结构先验约束与对抗增强，可进一步收紧低密度区域的判别边界，降低长尾与分布漂移下的差放大系数。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07300" y="22987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[hyp2_label]"/>
          <p:cNvSpPr txBox="1"/>
          <p:nvPr/>
        </p:nvSpPr>
        <p:spPr>
          <a:xfrm>
            <a:off x="7797800" y="22415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技术路径：</a:t>
            </a:r>
          </a:p>
        </p:txBody>
      </p:sp>
      <p:sp>
        <p:nvSpPr>
          <p:cNvPr id="78" name="[hyp2_text]"/>
          <p:cNvSpPr txBox="1"/>
          <p:nvPr/>
        </p:nvSpPr>
        <p:spPr>
          <a:xfrm>
            <a:off x="8623300" y="22352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图结构/因果先验 + 跨域对齐 + 自适应对抗训练，联合优化表征稳定性与不确定性估计。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300" y="29210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[hyp3_label]"/>
          <p:cNvSpPr txBox="1"/>
          <p:nvPr/>
        </p:nvSpPr>
        <p:spPr>
          <a:xfrm>
            <a:off x="7797800" y="28638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实验设计：</a:t>
            </a:r>
          </a:p>
        </p:txBody>
      </p:sp>
      <p:sp>
        <p:nvSpPr>
          <p:cNvPr id="81" name="[hyp3_text]"/>
          <p:cNvSpPr txBox="1"/>
          <p:nvPr/>
        </p:nvSpPr>
        <p:spPr>
          <a:xfrm>
            <a:off x="8623300" y="28575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在现有 6 个数据集上扩展更强扰动（ε ∈ [10⁻³, 1]），并增加跨域与跨模态测试。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300" y="35433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[hyp4_label]"/>
          <p:cNvSpPr txBox="1"/>
          <p:nvPr/>
        </p:nvSpPr>
        <p:spPr>
          <a:xfrm>
            <a:off x="7797800" y="34861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预期效果：</a:t>
            </a:r>
          </a:p>
        </p:txBody>
      </p:sp>
      <p:sp>
        <p:nvSpPr>
          <p:cNvPr id="84" name="[hyp4_text]"/>
          <p:cNvSpPr txBox="1"/>
          <p:nvPr/>
        </p:nvSpPr>
        <p:spPr>
          <a:xfrm>
            <a:off x="8623300" y="34798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在计算开销基本不变的前提下，进一步提升性能并显著降低长尾场景的误差上升斜率。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300" y="41656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[hyp5_label]"/>
          <p:cNvSpPr txBox="1"/>
          <p:nvPr/>
        </p:nvSpPr>
        <p:spPr>
          <a:xfrm>
            <a:off x="7797800" y="41084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关键验证：</a:t>
            </a:r>
          </a:p>
        </p:txBody>
      </p:sp>
      <p:sp>
        <p:nvSpPr>
          <p:cNvPr id="87" name="[hyp5_text]"/>
          <p:cNvSpPr txBox="1"/>
          <p:nvPr/>
        </p:nvSpPr>
        <p:spPr>
          <a:xfrm>
            <a:off x="8623300" y="41021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通过消融实验验证结构先验、对抗增强与不确定性校准的边际贡献及其交互效应。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300" y="47879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[hyp6_label]"/>
          <p:cNvSpPr txBox="1"/>
          <p:nvPr/>
        </p:nvSpPr>
        <p:spPr>
          <a:xfrm>
            <a:off x="7797800" y="47307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潜在风险：</a:t>
            </a:r>
          </a:p>
        </p:txBody>
      </p:sp>
      <p:sp>
        <p:nvSpPr>
          <p:cNvPr id="90" name="[hyp6_text]"/>
          <p:cNvSpPr txBox="1"/>
          <p:nvPr/>
        </p:nvSpPr>
        <p:spPr>
          <a:xfrm>
            <a:off x="8623300" y="47244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对抗训练可能引入优化不稳定；先验约束过强可能导致模型容量受限，需要权衡强度与泛化能力。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467600" y="5308600"/>
            <a:ext cx="2159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1A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V="1">
            <a:off x="7607300" y="5702300"/>
            <a:ext cx="177800" cy="158750"/>
          </a:xfrm>
          <a:prstGeom prst="line">
            <a:avLst/>
          </a:prstGeom>
          <a:ln w="50800">
            <a:solidFill>
              <a:srgbClr val="11A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785100" y="5702300"/>
            <a:ext cx="114300" cy="69850"/>
          </a:xfrm>
          <a:prstGeom prst="line">
            <a:avLst/>
          </a:prstGeom>
          <a:ln w="50800">
            <a:solidFill>
              <a:srgbClr val="11A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899400" y="5600700"/>
            <a:ext cx="203200" cy="171450"/>
          </a:xfrm>
          <a:prstGeom prst="line">
            <a:avLst/>
          </a:prstGeom>
          <a:ln w="50800">
            <a:solidFill>
              <a:srgbClr val="11A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001000" y="5600700"/>
            <a:ext cx="101600" cy="0"/>
          </a:xfrm>
          <a:prstGeom prst="line">
            <a:avLst/>
          </a:prstGeom>
          <a:ln w="50800">
            <a:solidFill>
              <a:srgbClr val="11A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102600" y="5600700"/>
            <a:ext cx="0" cy="101600"/>
          </a:xfrm>
          <a:prstGeom prst="line">
            <a:avLst/>
          </a:prstGeom>
          <a:ln w="50800">
            <a:solidFill>
              <a:srgbClr val="11A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[metric1_title]"/>
          <p:cNvSpPr txBox="1"/>
          <p:nvPr/>
        </p:nvSpPr>
        <p:spPr>
          <a:xfrm>
            <a:off x="8077200" y="5473700"/>
            <a:ext cx="14478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zh-CN" altLang="zh-CN" sz="919" b="1">
                <a:solidFill>
                  <a:srgbClr val="11A1A0"/>
                </a:solidFill>
                <a:latin typeface="微软雅黑"/>
                <a:ea typeface="微软雅黑"/>
                <a:cs typeface="微软雅黑"/>
              </a:rPr>
              <a:t>预期性能提升（Acc@1）</a:t>
            </a:r>
          </a:p>
        </p:txBody>
      </p:sp>
      <p:sp>
        <p:nvSpPr>
          <p:cNvPr id="98" name="[metric1_value]"/>
          <p:cNvSpPr txBox="1"/>
          <p:nvPr/>
        </p:nvSpPr>
        <p:spPr>
          <a:xfrm>
            <a:off x="7594600" y="5803900"/>
            <a:ext cx="1905000" cy="368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zh-CN" altLang="zh-CN" sz="1900" b="1">
                <a:solidFill>
                  <a:srgbClr val="11A1A0"/>
                </a:solidFill>
                <a:latin typeface="微软雅黑"/>
                <a:ea typeface="微软雅黑"/>
                <a:cs typeface="微软雅黑"/>
              </a:rPr>
              <a:t>+2.5 ~ +4.0pp</a:t>
            </a:r>
          </a:p>
        </p:txBody>
      </p:sp>
      <p:sp>
        <p:nvSpPr>
          <p:cNvPr id="99" name="[metric1_note]"/>
          <p:cNvSpPr txBox="1"/>
          <p:nvPr/>
        </p:nvSpPr>
        <p:spPr>
          <a:xfrm>
            <a:off x="7683500" y="6210300"/>
            <a:ext cx="17272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06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相对当前最佳方法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753600" y="5308600"/>
            <a:ext cx="21336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Pentagon 100"/>
          <p:cNvSpPr/>
          <p:nvPr/>
        </p:nvSpPr>
        <p:spPr>
          <a:xfrm rot="10800000">
            <a:off x="9944100" y="5524500"/>
            <a:ext cx="342900" cy="393700"/>
          </a:xfrm>
          <a:prstGeom prst="homePlate">
            <a:avLst/>
          </a:prstGeom>
          <a:noFill/>
          <a:ln w="27940">
            <a:solidFill>
              <a:srgbClr val="E9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20300" y="5588000"/>
            <a:ext cx="2159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800" b="1">
                <a:solidFill>
                  <a:srgbClr val="E97800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3" name="[metric2_title]"/>
          <p:cNvSpPr txBox="1"/>
          <p:nvPr/>
        </p:nvSpPr>
        <p:spPr>
          <a:xfrm>
            <a:off x="10363200" y="5473700"/>
            <a:ext cx="14224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zh-CN" altLang="zh-CN" sz="919" b="1">
                <a:solidFill>
                  <a:srgbClr val="E97800"/>
                </a:solidFill>
                <a:latin typeface="微软雅黑"/>
                <a:ea typeface="微软雅黑"/>
                <a:cs typeface="微软雅黑"/>
              </a:rPr>
              <a:t>验证风险（不稳定性）</a:t>
            </a:r>
          </a:p>
        </p:txBody>
      </p:sp>
      <p:sp>
        <p:nvSpPr>
          <p:cNvPr id="104" name="[metric2_value]"/>
          <p:cNvSpPr txBox="1"/>
          <p:nvPr/>
        </p:nvSpPr>
        <p:spPr>
          <a:xfrm>
            <a:off x="9880600" y="5803900"/>
            <a:ext cx="1879600" cy="368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zh-CN" altLang="zh-CN" sz="1900" b="1">
                <a:solidFill>
                  <a:srgbClr val="E97800"/>
                </a:solidFill>
                <a:latin typeface="微软雅黑"/>
                <a:ea typeface="微软雅黑"/>
                <a:cs typeface="微软雅黑"/>
              </a:rPr>
              <a:t>中低</a:t>
            </a:r>
          </a:p>
        </p:txBody>
      </p:sp>
      <p:sp>
        <p:nvSpPr>
          <p:cNvPr id="105" name="[metric2_note]"/>
          <p:cNvSpPr txBox="1"/>
          <p:nvPr/>
        </p:nvSpPr>
        <p:spPr>
          <a:xfrm>
            <a:off x="9969500" y="6210300"/>
            <a:ext cx="17018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06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优化不稳定 / 先验过拟合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
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6700" y="139700"/>
            <a:ext cx="2984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技术洞察 / 先进技术解读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139700"/>
            <a:ext cx="3175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内部技术报告 | insight-supp-01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342900" y="457200"/>
            <a:ext cx="9398000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先进方法的可迁移收益来自反馈质量而非规模单点扩大</a:t>
            </a:r>
          </a:p>
        </p:txBody>
      </p:sp>
      <p:sp>
        <p:nvSpPr>
          <p:cNvPr id="5" name="[subtitle]"/>
          <p:cNvSpPr txBox="1"/>
          <p:nvPr/>
        </p:nvSpPr>
        <p:spPr>
          <a:xfrm>
            <a:off x="508000" y="1047750"/>
            <a:ext cx="488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技术演进主线：从规则到反馈校准的闭环智能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300" y="1397000"/>
            <a:ext cx="8382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98500" y="2317750"/>
            <a:ext cx="7874000" cy="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333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[stage1_num]"/>
          <p:cNvSpPr txBox="1"/>
          <p:nvPr/>
        </p:nvSpPr>
        <p:spPr>
          <a:xfrm>
            <a:off x="825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[stage1_title]"/>
          <p:cNvSpPr txBox="1"/>
          <p:nvPr/>
        </p:nvSpPr>
        <p:spPr>
          <a:xfrm>
            <a:off x="1282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规则系统</a:t>
            </a:r>
          </a:p>
        </p:txBody>
      </p:sp>
      <p:sp>
        <p:nvSpPr>
          <p:cNvPr id="11" name="[stage1_sub]"/>
          <p:cNvSpPr txBox="1"/>
          <p:nvPr/>
        </p:nvSpPr>
        <p:spPr>
          <a:xfrm>
            <a:off x="1282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显式规则与流程驱动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6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11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652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07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57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[stage1_body]"/>
          <p:cNvSpPr txBox="1"/>
          <p:nvPr/>
        </p:nvSpPr>
        <p:spPr>
          <a:xfrm>
            <a:off x="812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人工定义规则与阈值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稳定性执行，易解释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依赖领域知识沉淀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0800" y="1739900"/>
            <a:ext cx="3937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A8B0BA"/>
                </a:solidFill>
                <a:latin typeface="微软雅黑"/>
                <a:ea typeface="微软雅黑"/>
                <a:cs typeface="微软雅黑"/>
              </a:rPr>
              <a:t>»</a:t>
            </a:r>
          </a:p>
        </p:txBody>
      </p:sp>
      <p:sp>
        <p:nvSpPr>
          <p:cNvPr id="19" name="Oval 18"/>
          <p:cNvSpPr/>
          <p:nvPr/>
        </p:nvSpPr>
        <p:spPr>
          <a:xfrm>
            <a:off x="3365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[stage2_num]"/>
          <p:cNvSpPr txBox="1"/>
          <p:nvPr/>
        </p:nvSpPr>
        <p:spPr>
          <a:xfrm>
            <a:off x="2857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1" name="[stage2_title]"/>
          <p:cNvSpPr txBox="1"/>
          <p:nvPr/>
        </p:nvSpPr>
        <p:spPr>
          <a:xfrm>
            <a:off x="3314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统计模型</a:t>
            </a:r>
          </a:p>
        </p:txBody>
      </p:sp>
      <p:sp>
        <p:nvSpPr>
          <p:cNvPr id="22" name="[stage2_sub]"/>
          <p:cNvSpPr txBox="1"/>
          <p:nvPr/>
        </p:nvSpPr>
        <p:spPr>
          <a:xfrm>
            <a:off x="3314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数据驱动的模式学习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38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43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684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39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89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[stage2_body]"/>
          <p:cNvSpPr txBox="1"/>
          <p:nvPr/>
        </p:nvSpPr>
        <p:spPr>
          <a:xfrm>
            <a:off x="2844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利用特征与概率建模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捕捉相关性，提升泛化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需要特征工程支撑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2800" y="1739900"/>
            <a:ext cx="3937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A8B0BA"/>
                </a:solidFill>
                <a:latin typeface="微软雅黑"/>
                <a:ea typeface="微软雅黑"/>
                <a:cs typeface="微软雅黑"/>
              </a:rPr>
              <a:t>»</a:t>
            </a:r>
          </a:p>
        </p:txBody>
      </p:sp>
      <p:sp>
        <p:nvSpPr>
          <p:cNvPr id="30" name="Oval 29"/>
          <p:cNvSpPr/>
          <p:nvPr/>
        </p:nvSpPr>
        <p:spPr>
          <a:xfrm>
            <a:off x="5397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[stage3_num]"/>
          <p:cNvSpPr txBox="1"/>
          <p:nvPr/>
        </p:nvSpPr>
        <p:spPr>
          <a:xfrm>
            <a:off x="4889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32" name="[stage3_title]"/>
          <p:cNvSpPr txBox="1"/>
          <p:nvPr/>
        </p:nvSpPr>
        <p:spPr>
          <a:xfrm>
            <a:off x="5346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深度表示</a:t>
            </a:r>
          </a:p>
        </p:txBody>
      </p:sp>
      <p:sp>
        <p:nvSpPr>
          <p:cNvPr id="33" name="[stage3_sub]"/>
          <p:cNvSpPr txBox="1"/>
          <p:nvPr/>
        </p:nvSpPr>
        <p:spPr>
          <a:xfrm>
            <a:off x="5346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端到端的表征学习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70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75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716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71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821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[stage3_body]"/>
          <p:cNvSpPr txBox="1"/>
          <p:nvPr/>
        </p:nvSpPr>
        <p:spPr>
          <a:xfrm>
            <a:off x="4876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自学习层次化表示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表达能力强，适配复杂任务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需要大规模数据与算力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4800" y="1739900"/>
            <a:ext cx="3937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A8B0BA"/>
                </a:solidFill>
                <a:latin typeface="微软雅黑"/>
                <a:ea typeface="微软雅黑"/>
                <a:cs typeface="微软雅黑"/>
              </a:rPr>
              <a:t>»</a:t>
            </a:r>
          </a:p>
        </p:txBody>
      </p:sp>
      <p:sp>
        <p:nvSpPr>
          <p:cNvPr id="41" name="Oval 40"/>
          <p:cNvSpPr/>
          <p:nvPr/>
        </p:nvSpPr>
        <p:spPr>
          <a:xfrm>
            <a:off x="7429500" y="2222500"/>
            <a:ext cx="127000" cy="127000"/>
          </a:xfrm>
          <a:prstGeom prst="ellipse">
            <a:avLst/>
          </a:prstGeom>
          <a:solidFill>
            <a:srgbClr val="F3B21C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[stage4_num]"/>
          <p:cNvSpPr txBox="1"/>
          <p:nvPr/>
        </p:nvSpPr>
        <p:spPr>
          <a:xfrm>
            <a:off x="6921500" y="1562100"/>
            <a:ext cx="48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43" name="[stage4_title]"/>
          <p:cNvSpPr txBox="1"/>
          <p:nvPr/>
        </p:nvSpPr>
        <p:spPr>
          <a:xfrm>
            <a:off x="7378700" y="16002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闭环反馈校准</a:t>
            </a:r>
          </a:p>
        </p:txBody>
      </p:sp>
      <p:sp>
        <p:nvSpPr>
          <p:cNvPr id="44" name="[stage4_sub]"/>
          <p:cNvSpPr txBox="1"/>
          <p:nvPr/>
        </p:nvSpPr>
        <p:spPr>
          <a:xfrm>
            <a:off x="7378700" y="186690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反馈驱动的持续优化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02500" y="2571750"/>
            <a:ext cx="1047750" cy="66675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707503" y="2767965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7748651" y="2827401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03515" y="2827401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853807" y="2804541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[stage4_body]"/>
          <p:cNvSpPr txBox="1"/>
          <p:nvPr/>
        </p:nvSpPr>
        <p:spPr>
          <a:xfrm>
            <a:off x="6908800" y="3365500"/>
            <a:ext cx="165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引入反馈信号并校准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形成闭环，持续改进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81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以反馈质量驱动效果上限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3556000"/>
            <a:ext cx="2794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23406A"/>
                </a:solidFill>
                <a:latin typeface="微软雅黑"/>
                <a:ea typeface="微软雅黑"/>
                <a:cs typeface="微软雅黑"/>
              </a:rPr>
              <a:t>机制特征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23406A"/>
                </a:solidFill>
                <a:latin typeface="微软雅黑"/>
                <a:ea typeface="微软雅黑"/>
                <a:cs typeface="微软雅黑"/>
              </a:rPr>
              <a:t>边界条件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53500" y="1066800"/>
            <a:ext cx="2857500" cy="3949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[insight_title]"/>
          <p:cNvSpPr txBox="1"/>
          <p:nvPr/>
        </p:nvSpPr>
        <p:spPr>
          <a:xfrm>
            <a:off x="9448800" y="1295400"/>
            <a:ext cx="1651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关键洞察</a:t>
            </a:r>
          </a:p>
        </p:txBody>
      </p:sp>
      <p:sp>
        <p:nvSpPr>
          <p:cNvPr id="54" name="Oval 53"/>
          <p:cNvSpPr/>
          <p:nvPr/>
        </p:nvSpPr>
        <p:spPr>
          <a:xfrm>
            <a:off x="9118600" y="1727200"/>
            <a:ext cx="355600" cy="3556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82608" y="1791208"/>
            <a:ext cx="227584" cy="22758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35948" y="1844548"/>
            <a:ext cx="120904" cy="1209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278620" y="1887220"/>
            <a:ext cx="35560" cy="35560"/>
          </a:xfrm>
          <a:prstGeom prst="ellipse">
            <a:avLst/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9331960" y="1762760"/>
            <a:ext cx="106680" cy="106680"/>
          </a:xfrm>
          <a:prstGeom prst="line">
            <a:avLst/>
          </a:prstGeom>
          <a:ln w="381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395968" y="1762760"/>
            <a:ext cx="42672" cy="0"/>
          </a:xfrm>
          <a:prstGeom prst="line">
            <a:avLst/>
          </a:prstGeom>
          <a:ln w="254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38640" y="1762760"/>
            <a:ext cx="0" cy="42672"/>
          </a:xfrm>
          <a:prstGeom prst="line">
            <a:avLst/>
          </a:prstGeom>
          <a:ln w="254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[insight1]"/>
          <p:cNvSpPr txBox="1"/>
          <p:nvPr/>
        </p:nvSpPr>
        <p:spPr>
          <a:xfrm>
            <a:off x="9639300" y="17653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可迁移收益的来源是反馈质量，而非单纯追求更大规模模型。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112250" y="2476500"/>
            <a:ext cx="24130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144000" y="2870200"/>
            <a:ext cx="177800" cy="1524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321800" y="2870200"/>
            <a:ext cx="107950" cy="63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429750" y="2743200"/>
            <a:ext cx="209550" cy="1905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537700" y="2743200"/>
            <a:ext cx="101600" cy="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639300" y="2743200"/>
            <a:ext cx="0" cy="101600"/>
          </a:xfrm>
          <a:prstGeom prst="line">
            <a:avLst/>
          </a:prstGeom>
          <a:ln w="508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[insight2]"/>
          <p:cNvSpPr txBox="1"/>
          <p:nvPr/>
        </p:nvSpPr>
        <p:spPr>
          <a:xfrm>
            <a:off x="9639300" y="26670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从规则到模型的每一次跃迁，核心价值来自对不确定性的更好处理。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112250" y="3378200"/>
            <a:ext cx="24130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9156700" y="3556000"/>
            <a:ext cx="330200" cy="33020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9321800" y="3628644"/>
            <a:ext cx="0" cy="92456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321800" y="3721100"/>
            <a:ext cx="72644" cy="0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[insight3]"/>
          <p:cNvSpPr txBox="1"/>
          <p:nvPr/>
        </p:nvSpPr>
        <p:spPr>
          <a:xfrm>
            <a:off x="9639300" y="35560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稳定、及时、可解释的反馈闭环，决定系统性能的可持续上限。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112250" y="4267200"/>
            <a:ext cx="24130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169400" y="4470400"/>
            <a:ext cx="304800" cy="30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[insight4]"/>
          <p:cNvSpPr txBox="1"/>
          <p:nvPr/>
        </p:nvSpPr>
        <p:spPr>
          <a:xfrm>
            <a:off x="9639300" y="4445000"/>
            <a:ext cx="18034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相同推理预算下，高质量反馈带来数量级的效果差异。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77800" y="5207000"/>
            <a:ext cx="11772900" cy="13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[cond_title]"/>
          <p:cNvSpPr txBox="1"/>
          <p:nvPr/>
        </p:nvSpPr>
        <p:spPr>
          <a:xfrm>
            <a:off x="8763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适用条件</a:t>
            </a:r>
          </a:p>
        </p:txBody>
      </p:sp>
      <p:sp>
        <p:nvSpPr>
          <p:cNvPr id="79" name="[cond_body]"/>
          <p:cNvSpPr txBox="1"/>
          <p:nvPr/>
        </p:nvSpPr>
        <p:spPr>
          <a:xfrm>
            <a:off x="901700" y="5613400"/>
            <a:ext cx="15875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场景具备可观测反馈信号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任务目标可度量、可验证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系统具备在线迭代能力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692400" y="5334000"/>
            <a:ext cx="0" cy="102870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[cost_title]"/>
          <p:cNvSpPr txBox="1"/>
          <p:nvPr/>
        </p:nvSpPr>
        <p:spPr>
          <a:xfrm>
            <a:off x="34163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迁移成本</a:t>
            </a:r>
          </a:p>
        </p:txBody>
      </p:sp>
      <p:sp>
        <p:nvSpPr>
          <p:cNvPr id="82" name="[cost_body]"/>
          <p:cNvSpPr txBox="1"/>
          <p:nvPr/>
        </p:nvSpPr>
        <p:spPr>
          <a:xfrm>
            <a:off x="3441700" y="5613400"/>
            <a:ext cx="18415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规则 → 统计：中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统计 → 深度：高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深度 → 闭环：中~高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486400" y="5334000"/>
            <a:ext cx="0" cy="102870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[budget_title]"/>
          <p:cNvSpPr txBox="1"/>
          <p:nvPr/>
        </p:nvSpPr>
        <p:spPr>
          <a:xfrm>
            <a:off x="62738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推理预算（参考）</a:t>
            </a:r>
          </a:p>
        </p:txBody>
      </p:sp>
      <p:sp>
        <p:nvSpPr>
          <p:cNvPr id="85" name="[budget_body]"/>
          <p:cNvSpPr txBox="1"/>
          <p:nvPr/>
        </p:nvSpPr>
        <p:spPr>
          <a:xfrm>
            <a:off x="6299200" y="5613400"/>
            <a:ext cx="20955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规则系统：低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统计模型：中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深度表示：高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闭环反馈校准：中~高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97900" y="5334000"/>
            <a:ext cx="0" cy="102870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[quality_title]"/>
          <p:cNvSpPr txBox="1"/>
          <p:nvPr/>
        </p:nvSpPr>
        <p:spPr>
          <a:xfrm>
            <a:off x="9512300" y="5321300"/>
            <a:ext cx="185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反馈质量（关键维度）</a:t>
            </a:r>
          </a:p>
        </p:txBody>
      </p:sp>
      <p:sp>
        <p:nvSpPr>
          <p:cNvPr id="88" name="[quality_body]"/>
          <p:cNvSpPr txBox="1"/>
          <p:nvPr/>
        </p:nvSpPr>
        <p:spPr>
          <a:xfrm>
            <a:off x="9537700" y="5613400"/>
            <a:ext cx="1905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及时性 ★★★★☆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准确性 ★★★★☆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覆盖度 ★★★☆☆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一致性 ★★★★☆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
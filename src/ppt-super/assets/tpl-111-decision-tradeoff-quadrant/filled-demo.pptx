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77800" y="152400"/>
            <a:ext cx="50800" cy="165100"/>
          </a:xfrm>
          <a:prstGeom prst="rect">
            <a:avLst/>
          </a:prstGeom>
          <a:solidFill>
            <a:srgbClr val="B80606"/>
          </a:solidFill>
          <a:ln w="12700">
            <a:solidFill>
              <a:srgbClr val="B8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114300"/>
            <a:ext cx="2667000" cy="254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250" b="1">
                <a:solidFill>
                  <a:srgbClr val="B80606"/>
                </a:solidFill>
                <a:latin typeface="微软雅黑"/>
                <a:ea typeface="微软雅黑"/>
                <a:cs typeface="微软雅黑"/>
              </a:rPr>
              <a:t>归因解释 / 技术判断类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0" y="127000"/>
            <a:ext cx="38100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05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Candidate ID: attribution-supp-05</a:t>
            </a:r>
          </a:p>
        </p:txBody>
      </p:sp>
      <p:sp>
        <p:nvSpPr>
          <p:cNvPr id="5" name="[title_main]"/>
          <p:cNvSpPr txBox="1"/>
          <p:nvPr/>
        </p:nvSpPr>
        <p:spPr>
          <a:xfrm>
            <a:off x="203200" y="342900"/>
            <a:ext cx="11493500" cy="406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280" b="1">
                <a:solidFill>
                  <a:srgbClr val="B80606"/>
                </a:solidFill>
                <a:latin typeface="微软雅黑"/>
                <a:ea typeface="微软雅黑"/>
                <a:cs typeface="微软雅黑"/>
              </a:rPr>
              <a:t>技术选型应优先平衡收益、成本、风险与迁移复杂度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5100" y="1079500"/>
            <a:ext cx="2635250" cy="426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[left_title]"/>
          <p:cNvSpPr txBox="1"/>
          <p:nvPr/>
        </p:nvSpPr>
        <p:spPr>
          <a:xfrm>
            <a:off x="342900" y="1206500"/>
            <a:ext cx="19050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40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评估维度与定义</a:t>
            </a:r>
          </a:p>
        </p:txBody>
      </p:sp>
      <p:sp>
        <p:nvSpPr>
          <p:cNvPr id="8" name="Oval 7"/>
          <p:cNvSpPr/>
          <p:nvPr/>
        </p:nvSpPr>
        <p:spPr>
          <a:xfrm>
            <a:off x="342900" y="1574800"/>
            <a:ext cx="330200" cy="330200"/>
          </a:xfrm>
          <a:prstGeom prst="ellipse">
            <a:avLst/>
          </a:prstGeom>
          <a:solidFill>
            <a:srgbClr val="0B2F86"/>
          </a:solidFill>
          <a:ln w="1270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650" y="1638300"/>
            <a:ext cx="2667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0" name="[dim1_title]"/>
          <p:cNvSpPr txBox="1"/>
          <p:nvPr/>
        </p:nvSpPr>
        <p:spPr>
          <a:xfrm>
            <a:off x="812800" y="1562100"/>
            <a:ext cx="152400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20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技术收益</a:t>
            </a:r>
          </a:p>
        </p:txBody>
      </p:sp>
      <p:sp>
        <p:nvSpPr>
          <p:cNvPr id="11" name="[dim1_body]"/>
          <p:cNvSpPr txBox="1"/>
          <p:nvPr/>
        </p:nvSpPr>
        <p:spPr>
          <a:xfrm>
            <a:off x="812800" y="1765300"/>
            <a:ext cx="18669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3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对核心指标的提升潜力与可持续性。</a:t>
            </a:r>
          </a:p>
        </p:txBody>
      </p:sp>
      <p:sp>
        <p:nvSpPr>
          <p:cNvPr id="12" name="Oval 11"/>
          <p:cNvSpPr/>
          <p:nvPr/>
        </p:nvSpPr>
        <p:spPr>
          <a:xfrm>
            <a:off x="342900" y="2286000"/>
            <a:ext cx="330200" cy="330200"/>
          </a:xfrm>
          <a:prstGeom prst="ellipse">
            <a:avLst/>
          </a:prstGeom>
          <a:solidFill>
            <a:srgbClr val="0B2F86"/>
          </a:solidFill>
          <a:ln w="1270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650" y="2349500"/>
            <a:ext cx="2667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[dim2_title]"/>
          <p:cNvSpPr txBox="1"/>
          <p:nvPr/>
        </p:nvSpPr>
        <p:spPr>
          <a:xfrm>
            <a:off x="812800" y="2273300"/>
            <a:ext cx="152400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20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交付成本</a:t>
            </a:r>
          </a:p>
        </p:txBody>
      </p:sp>
      <p:sp>
        <p:nvSpPr>
          <p:cNvPr id="15" name="[dim2_body]"/>
          <p:cNvSpPr txBox="1"/>
          <p:nvPr/>
        </p:nvSpPr>
        <p:spPr>
          <a:xfrm>
            <a:off x="812800" y="2476500"/>
            <a:ext cx="18669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3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研发投入、资源消耗与时间成本。</a:t>
            </a:r>
          </a:p>
        </p:txBody>
      </p:sp>
      <p:sp>
        <p:nvSpPr>
          <p:cNvPr id="16" name="Oval 15"/>
          <p:cNvSpPr/>
          <p:nvPr/>
        </p:nvSpPr>
        <p:spPr>
          <a:xfrm>
            <a:off x="342900" y="2997200"/>
            <a:ext cx="330200" cy="330200"/>
          </a:xfrm>
          <a:prstGeom prst="ellipse">
            <a:avLst/>
          </a:prstGeom>
          <a:solidFill>
            <a:srgbClr val="0B2F86"/>
          </a:solidFill>
          <a:ln w="1270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650" y="3060700"/>
            <a:ext cx="2667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[dim3_title]"/>
          <p:cNvSpPr txBox="1"/>
          <p:nvPr/>
        </p:nvSpPr>
        <p:spPr>
          <a:xfrm>
            <a:off x="812800" y="2984500"/>
            <a:ext cx="152400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20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运行风险</a:t>
            </a:r>
          </a:p>
        </p:txBody>
      </p:sp>
      <p:sp>
        <p:nvSpPr>
          <p:cNvPr id="19" name="[dim3_body]"/>
          <p:cNvSpPr txBox="1"/>
          <p:nvPr/>
        </p:nvSpPr>
        <p:spPr>
          <a:xfrm>
            <a:off x="812800" y="3187700"/>
            <a:ext cx="18669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3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稳定性、可控性与合规风险。</a:t>
            </a:r>
          </a:p>
        </p:txBody>
      </p:sp>
      <p:sp>
        <p:nvSpPr>
          <p:cNvPr id="20" name="Oval 19"/>
          <p:cNvSpPr/>
          <p:nvPr/>
        </p:nvSpPr>
        <p:spPr>
          <a:xfrm>
            <a:off x="342900" y="3708400"/>
            <a:ext cx="330200" cy="330200"/>
          </a:xfrm>
          <a:prstGeom prst="ellipse">
            <a:avLst/>
          </a:prstGeom>
          <a:solidFill>
            <a:srgbClr val="0B2F86"/>
          </a:solidFill>
          <a:ln w="1270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4650" y="3771900"/>
            <a:ext cx="2667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2" name="[dim4_title]"/>
          <p:cNvSpPr txBox="1"/>
          <p:nvPr/>
        </p:nvSpPr>
        <p:spPr>
          <a:xfrm>
            <a:off x="812800" y="3695700"/>
            <a:ext cx="152400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20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迁移复杂度</a:t>
            </a:r>
          </a:p>
        </p:txBody>
      </p:sp>
      <p:sp>
        <p:nvSpPr>
          <p:cNvPr id="23" name="[dim4_body]"/>
          <p:cNvSpPr txBox="1"/>
          <p:nvPr/>
        </p:nvSpPr>
        <p:spPr>
          <a:xfrm>
            <a:off x="812800" y="3898900"/>
            <a:ext cx="18669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3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改造范围、依赖变更与数据迁移难度。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65100" y="4381500"/>
            <a:ext cx="2635250" cy="0"/>
          </a:xfrm>
          <a:prstGeom prst="line">
            <a:avLst/>
          </a:prstGeom>
          <a:ln w="127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[method_title]"/>
          <p:cNvSpPr txBox="1"/>
          <p:nvPr/>
        </p:nvSpPr>
        <p:spPr>
          <a:xfrm>
            <a:off x="342900" y="4470400"/>
            <a:ext cx="16510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20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评分方法</a:t>
            </a:r>
          </a:p>
        </p:txBody>
      </p:sp>
      <p:sp>
        <p:nvSpPr>
          <p:cNvPr id="26" name="[method_body]"/>
          <p:cNvSpPr txBox="1"/>
          <p:nvPr/>
        </p:nvSpPr>
        <p:spPr>
          <a:xfrm>
            <a:off x="342900" y="4711700"/>
            <a:ext cx="2095500" cy="482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4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每项维度 1-5 分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4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结合权重计算综合得分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4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复杂度与风险越低越优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08300" y="1066800"/>
            <a:ext cx="6127750" cy="42799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[matrix_title]"/>
          <p:cNvSpPr txBox="1"/>
          <p:nvPr/>
        </p:nvSpPr>
        <p:spPr>
          <a:xfrm>
            <a:off x="3937000" y="1168400"/>
            <a:ext cx="41275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35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技术收益 × 迁移复杂度选型矩阵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467100" y="4381500"/>
            <a:ext cx="5219700" cy="0"/>
          </a:xfrm>
          <a:prstGeom prst="line">
            <a:avLst/>
          </a:prstGeom>
          <a:ln w="27940">
            <a:solidFill>
              <a:srgbClr val="0B2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467100" y="1397000"/>
            <a:ext cx="0" cy="2984500"/>
          </a:xfrm>
          <a:prstGeom prst="line">
            <a:avLst/>
          </a:prstGeom>
          <a:ln w="27940">
            <a:solidFill>
              <a:srgbClr val="0B2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981700" y="1460500"/>
            <a:ext cx="0" cy="2921000"/>
          </a:xfrm>
          <a:prstGeom prst="line">
            <a:avLst/>
          </a:prstGeom>
          <a:ln w="12700">
            <a:solidFill>
              <a:srgbClr val="DDE6F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467100" y="2908300"/>
            <a:ext cx="5219700" cy="0"/>
          </a:xfrm>
          <a:prstGeom prst="line">
            <a:avLst/>
          </a:prstGeom>
          <a:ln w="12700">
            <a:solidFill>
              <a:srgbClr val="DDE6F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[x_axis]"/>
          <p:cNvSpPr txBox="1"/>
          <p:nvPr/>
        </p:nvSpPr>
        <p:spPr>
          <a:xfrm>
            <a:off x="5207000" y="4521200"/>
            <a:ext cx="2286000" cy="203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20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迁移复杂度（低 → 高）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11500" y="1485900"/>
            <a:ext cx="228600" cy="317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00" b="0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24200" y="4222750"/>
            <a:ext cx="228600" cy="317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00" b="0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低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33700" y="2527300"/>
            <a:ext cx="558800" cy="520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019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技术收益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019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（低 → 高）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56000" y="1460500"/>
            <a:ext cx="2425700" cy="1447800"/>
          </a:xfrm>
          <a:prstGeom prst="rect">
            <a:avLst/>
          </a:prstGeom>
          <a:solidFill>
            <a:srgbClr val="E8F8F9"/>
          </a:solidFill>
          <a:ln w="12700">
            <a:solidFill>
              <a:srgbClr val="078D9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81700" y="1460500"/>
            <a:ext cx="27051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556000" y="2908300"/>
            <a:ext cx="2425700" cy="147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81700" y="2908300"/>
            <a:ext cx="2705100" cy="1473200"/>
          </a:xfrm>
          <a:prstGeom prst="rect">
            <a:avLst/>
          </a:prstGeom>
          <a:solidFill>
            <a:srgbClr val="FFF2E7"/>
          </a:solidFill>
          <a:ln w="12700">
            <a:solidFill>
              <a:srgbClr val="F1691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[q1_title]"/>
          <p:cNvSpPr txBox="1"/>
          <p:nvPr/>
        </p:nvSpPr>
        <p:spPr>
          <a:xfrm>
            <a:off x="3683000" y="1612900"/>
            <a:ext cx="165100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40" b="1">
                <a:solidFill>
                  <a:srgbClr val="078D98"/>
                </a:solidFill>
                <a:latin typeface="微软雅黑"/>
                <a:ea typeface="微软雅黑"/>
                <a:cs typeface="微软雅黑"/>
              </a:rPr>
              <a:t>优先推荐区</a:t>
            </a:r>
          </a:p>
        </p:txBody>
      </p:sp>
      <p:sp>
        <p:nvSpPr>
          <p:cNvPr id="42" name="[q1_body]"/>
          <p:cNvSpPr txBox="1"/>
          <p:nvPr/>
        </p:nvSpPr>
        <p:spPr>
          <a:xfrm>
            <a:off x="3683000" y="1841500"/>
            <a:ext cx="18415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19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高收益 + 低复杂度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19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建议作为首选方案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19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优先投入资源</a:t>
            </a:r>
          </a:p>
        </p:txBody>
      </p:sp>
      <p:sp>
        <p:nvSpPr>
          <p:cNvPr id="43" name="[q2_title]"/>
          <p:cNvSpPr txBox="1"/>
          <p:nvPr/>
        </p:nvSpPr>
        <p:spPr>
          <a:xfrm>
            <a:off x="7696200" y="1612900"/>
            <a:ext cx="82550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4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谨慎评估区</a:t>
            </a:r>
          </a:p>
        </p:txBody>
      </p:sp>
      <p:sp>
        <p:nvSpPr>
          <p:cNvPr id="44" name="[q2_body]"/>
          <p:cNvSpPr txBox="1"/>
          <p:nvPr/>
        </p:nvSpPr>
        <p:spPr>
          <a:xfrm>
            <a:off x="7696200" y="1841500"/>
            <a:ext cx="1016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19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高收益 + 高复杂度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19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需评估阶段落地与治理能力</a:t>
            </a:r>
          </a:p>
        </p:txBody>
      </p:sp>
      <p:sp>
        <p:nvSpPr>
          <p:cNvPr id="45" name="[q3_title]"/>
          <p:cNvSpPr txBox="1"/>
          <p:nvPr/>
        </p:nvSpPr>
        <p:spPr>
          <a:xfrm>
            <a:off x="3683000" y="3149600"/>
            <a:ext cx="158750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40" b="1">
                <a:solidFill>
                  <a:srgbClr val="7E8794"/>
                </a:solidFill>
                <a:latin typeface="微软雅黑"/>
                <a:ea typeface="微软雅黑"/>
                <a:cs typeface="微软雅黑"/>
              </a:rPr>
              <a:t>低优先级区</a:t>
            </a:r>
          </a:p>
        </p:txBody>
      </p:sp>
      <p:sp>
        <p:nvSpPr>
          <p:cNvPr id="46" name="[q3_body]"/>
          <p:cNvSpPr txBox="1"/>
          <p:nvPr/>
        </p:nvSpPr>
        <p:spPr>
          <a:xfrm>
            <a:off x="3683000" y="3378200"/>
            <a:ext cx="1778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19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低收益 + 低复杂度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19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仅在资源空闲时考虑辅助优化</a:t>
            </a:r>
          </a:p>
        </p:txBody>
      </p:sp>
      <p:sp>
        <p:nvSpPr>
          <p:cNvPr id="47" name="[q4_title]"/>
          <p:cNvSpPr txBox="1"/>
          <p:nvPr/>
        </p:nvSpPr>
        <p:spPr>
          <a:xfrm>
            <a:off x="7721600" y="3136900"/>
            <a:ext cx="83820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40" b="1">
                <a:solidFill>
                  <a:srgbClr val="F16918"/>
                </a:solidFill>
                <a:latin typeface="微软雅黑"/>
                <a:ea typeface="微软雅黑"/>
                <a:cs typeface="微软雅黑"/>
              </a:rPr>
              <a:t>风险审慎区</a:t>
            </a:r>
          </a:p>
        </p:txBody>
      </p:sp>
      <p:sp>
        <p:nvSpPr>
          <p:cNvPr id="48" name="[q4_body]"/>
          <p:cNvSpPr txBox="1"/>
          <p:nvPr/>
        </p:nvSpPr>
        <p:spPr>
          <a:xfrm>
            <a:off x="7721600" y="3365500"/>
            <a:ext cx="10287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19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低收益 + 高复杂度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19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不建议当前阶段投入</a:t>
            </a:r>
          </a:p>
        </p:txBody>
      </p:sp>
      <p:sp>
        <p:nvSpPr>
          <p:cNvPr id="49" name="Oval 48"/>
          <p:cNvSpPr/>
          <p:nvPr/>
        </p:nvSpPr>
        <p:spPr>
          <a:xfrm>
            <a:off x="4940300" y="1689100"/>
            <a:ext cx="889000" cy="8890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78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[optA]"/>
          <p:cNvSpPr txBox="1"/>
          <p:nvPr/>
        </p:nvSpPr>
        <p:spPr>
          <a:xfrm>
            <a:off x="4991100" y="1955800"/>
            <a:ext cx="787400" cy="444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50" b="1">
                <a:solidFill>
                  <a:srgbClr val="078D98"/>
                </a:solidFill>
                <a:latin typeface="微软雅黑"/>
                <a:ea typeface="微软雅黑"/>
                <a:cs typeface="微软雅黑"/>
              </a:rPr>
              <a:t>方案 A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50" b="1">
                <a:solidFill>
                  <a:srgbClr val="078D98"/>
                </a:solidFill>
                <a:latin typeface="微软雅黑"/>
                <a:ea typeface="微软雅黑"/>
                <a:cs typeface="微软雅黑"/>
              </a:rPr>
              <a:t>（首选）</a:t>
            </a:r>
          </a:p>
        </p:txBody>
      </p:sp>
      <p:sp>
        <p:nvSpPr>
          <p:cNvPr id="51" name="Oval 50"/>
          <p:cNvSpPr/>
          <p:nvPr/>
        </p:nvSpPr>
        <p:spPr>
          <a:xfrm>
            <a:off x="6381750" y="1695450"/>
            <a:ext cx="889000" cy="8890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[optB]"/>
          <p:cNvSpPr txBox="1"/>
          <p:nvPr/>
        </p:nvSpPr>
        <p:spPr>
          <a:xfrm>
            <a:off x="6432550" y="1962150"/>
            <a:ext cx="787400" cy="444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5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方案 B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5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（备选）</a:t>
            </a:r>
          </a:p>
        </p:txBody>
      </p:sp>
      <p:sp>
        <p:nvSpPr>
          <p:cNvPr id="53" name="Oval 52"/>
          <p:cNvSpPr/>
          <p:nvPr/>
        </p:nvSpPr>
        <p:spPr>
          <a:xfrm>
            <a:off x="4940300" y="3238500"/>
            <a:ext cx="889000" cy="8890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7E87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[optC]"/>
          <p:cNvSpPr txBox="1"/>
          <p:nvPr/>
        </p:nvSpPr>
        <p:spPr>
          <a:xfrm>
            <a:off x="4991100" y="3505200"/>
            <a:ext cx="787400" cy="444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50" b="1">
                <a:solidFill>
                  <a:srgbClr val="7E8794"/>
                </a:solidFill>
                <a:latin typeface="微软雅黑"/>
                <a:ea typeface="微软雅黑"/>
                <a:cs typeface="微软雅黑"/>
              </a:rPr>
              <a:t>方案 C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50" b="1">
                <a:solidFill>
                  <a:srgbClr val="7E8794"/>
                </a:solidFill>
                <a:latin typeface="微软雅黑"/>
                <a:ea typeface="微软雅黑"/>
                <a:cs typeface="微软雅黑"/>
              </a:rPr>
              <a:t>（可选）</a:t>
            </a:r>
          </a:p>
        </p:txBody>
      </p:sp>
      <p:sp>
        <p:nvSpPr>
          <p:cNvPr id="55" name="Oval 54"/>
          <p:cNvSpPr/>
          <p:nvPr/>
        </p:nvSpPr>
        <p:spPr>
          <a:xfrm>
            <a:off x="6381750" y="3238500"/>
            <a:ext cx="889000" cy="8890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F169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[optD]"/>
          <p:cNvSpPr txBox="1"/>
          <p:nvPr/>
        </p:nvSpPr>
        <p:spPr>
          <a:xfrm>
            <a:off x="6432550" y="3505200"/>
            <a:ext cx="787400" cy="444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50" b="1">
                <a:solidFill>
                  <a:srgbClr val="F16918"/>
                </a:solidFill>
                <a:latin typeface="微软雅黑"/>
                <a:ea typeface="微软雅黑"/>
                <a:cs typeface="微软雅黑"/>
              </a:rPr>
              <a:t>方案 D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50" b="1">
                <a:solidFill>
                  <a:srgbClr val="F16918"/>
                </a:solidFill>
                <a:latin typeface="微软雅黑"/>
                <a:ea typeface="微软雅黑"/>
                <a:cs typeface="微软雅黑"/>
              </a:rPr>
              <a:t>（不推荐）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175750" y="1066800"/>
            <a:ext cx="2730500" cy="13017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[rec_title]"/>
          <p:cNvSpPr txBox="1"/>
          <p:nvPr/>
        </p:nvSpPr>
        <p:spPr>
          <a:xfrm>
            <a:off x="9753600" y="1181100"/>
            <a:ext cx="18669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300" b="1">
                <a:solidFill>
                  <a:srgbClr val="B80606"/>
                </a:solidFill>
                <a:latin typeface="微软雅黑"/>
                <a:ea typeface="微软雅黑"/>
                <a:cs typeface="微软雅黑"/>
              </a:rPr>
              <a:t>技术选型建议</a:t>
            </a:r>
          </a:p>
        </p:txBody>
      </p:sp>
      <p:sp>
        <p:nvSpPr>
          <p:cNvPr id="59" name="Oval 58"/>
          <p:cNvSpPr/>
          <p:nvPr/>
        </p:nvSpPr>
        <p:spPr>
          <a:xfrm>
            <a:off x="9359900" y="1206500"/>
            <a:ext cx="279400" cy="279400"/>
          </a:xfrm>
          <a:prstGeom prst="ellipse">
            <a:avLst/>
          </a:prstGeom>
          <a:solidFill>
            <a:srgbClr val="F3F7FB"/>
          </a:solidFill>
          <a:ln w="6350">
            <a:solidFill>
              <a:srgbClr val="F3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9410192" y="1256792"/>
            <a:ext cx="178816" cy="178816"/>
          </a:xfrm>
          <a:prstGeom prst="ellipse">
            <a:avLst/>
          </a:prstGeom>
          <a:solidFill>
            <a:srgbClr val="FFFFFF"/>
          </a:solidFill>
          <a:ln w="27940">
            <a:solidFill>
              <a:srgbClr val="B8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452102" y="1298702"/>
            <a:ext cx="94996" cy="949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8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9485630" y="1332230"/>
            <a:ext cx="27940" cy="27940"/>
          </a:xfrm>
          <a:prstGeom prst="ellipse">
            <a:avLst/>
          </a:prstGeom>
          <a:solidFill>
            <a:srgbClr val="B80606"/>
          </a:solidFill>
          <a:ln w="12700">
            <a:solidFill>
              <a:srgbClr val="B8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 flipV="1">
            <a:off x="9527540" y="1234440"/>
            <a:ext cx="83820" cy="83820"/>
          </a:xfrm>
          <a:prstGeom prst="line">
            <a:avLst/>
          </a:prstGeom>
          <a:ln w="38100">
            <a:solidFill>
              <a:srgbClr val="B806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577832" y="1234440"/>
            <a:ext cx="33528" cy="0"/>
          </a:xfrm>
          <a:prstGeom prst="line">
            <a:avLst/>
          </a:prstGeom>
          <a:ln w="25400">
            <a:solidFill>
              <a:srgbClr val="B806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611360" y="1234440"/>
            <a:ext cx="0" cy="33528"/>
          </a:xfrm>
          <a:prstGeom prst="line">
            <a:avLst/>
          </a:prstGeom>
          <a:ln w="25400">
            <a:solidFill>
              <a:srgbClr val="B806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[rec_body]"/>
          <p:cNvSpPr txBox="1"/>
          <p:nvPr/>
        </p:nvSpPr>
        <p:spPr>
          <a:xfrm>
            <a:off x="9321800" y="1524000"/>
            <a:ext cx="2476500" cy="800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lang="zh-CN" altLang="zh-CN" sz="825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优先选择：方案 A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lang="zh-CN" altLang="zh-CN" sz="825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收益与复杂度取得最佳平衡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lang="zh-CN" altLang="zh-CN" sz="825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依赖可控，落地周期短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lang="zh-CN" altLang="zh-CN" sz="825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指标提升显著且风险可管理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lang="zh-CN" altLang="zh-CN" sz="825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可复用现有能力，迁移成本较低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175750" y="2857500"/>
            <a:ext cx="2730500" cy="13017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[decision_title]"/>
          <p:cNvSpPr txBox="1"/>
          <p:nvPr/>
        </p:nvSpPr>
        <p:spPr>
          <a:xfrm>
            <a:off x="9753600" y="2971800"/>
            <a:ext cx="18669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30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决策说明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398000" y="3041650"/>
            <a:ext cx="215900" cy="215900"/>
          </a:xfrm>
          <a:prstGeom prst="roundRect">
            <a:avLst>
              <a:gd name="adj" fmla="val 5000"/>
            </a:avLst>
          </a:prstGeom>
          <a:solidFill>
            <a:srgbClr val="F3F7FB"/>
          </a:solidFill>
          <a:ln w="1270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[decision_body]"/>
          <p:cNvSpPr txBox="1"/>
          <p:nvPr/>
        </p:nvSpPr>
        <p:spPr>
          <a:xfrm>
            <a:off x="9321800" y="3314700"/>
            <a:ext cx="2476500" cy="800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lang="zh-CN" altLang="zh-CN" sz="825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若需进一步提升收益，可考虑分阶段引入方案 B。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lang="zh-CN" altLang="zh-CN" sz="825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方案 D 风险与成本较高，建议暂缓。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lang="zh-CN" altLang="zh-CN" sz="825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持续跟踪外部变化，定期复评选型结论。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175750" y="4318000"/>
            <a:ext cx="2730500" cy="10287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[risk_title]"/>
          <p:cNvSpPr txBox="1"/>
          <p:nvPr/>
        </p:nvSpPr>
        <p:spPr>
          <a:xfrm>
            <a:off x="9753600" y="4432300"/>
            <a:ext cx="18669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300" b="1">
                <a:solidFill>
                  <a:srgbClr val="F16918"/>
                </a:solidFill>
                <a:latin typeface="微软雅黑"/>
                <a:ea typeface="微软雅黑"/>
                <a:cs typeface="微软雅黑"/>
              </a:rPr>
              <a:t>主要风险提示</a:t>
            </a:r>
          </a:p>
        </p:txBody>
      </p:sp>
      <p:sp>
        <p:nvSpPr>
          <p:cNvPr id="73" name="Isosceles Triangle 72"/>
          <p:cNvSpPr/>
          <p:nvPr/>
        </p:nvSpPr>
        <p:spPr>
          <a:xfrm>
            <a:off x="9385300" y="4495800"/>
            <a:ext cx="241300" cy="217170"/>
          </a:xfrm>
          <a:prstGeom prst="triangle">
            <a:avLst/>
          </a:prstGeom>
          <a:noFill/>
          <a:ln w="30480">
            <a:solidFill>
              <a:srgbClr val="F169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438386" y="4519930"/>
            <a:ext cx="149606" cy="20751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88" b="1">
                <a:solidFill>
                  <a:srgbClr val="F16918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75" name="[risk_body]"/>
          <p:cNvSpPr txBox="1"/>
          <p:nvPr/>
        </p:nvSpPr>
        <p:spPr>
          <a:xfrm>
            <a:off x="9321800" y="4775200"/>
            <a:ext cx="2476500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lang="zh-CN" altLang="zh-CN" sz="825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方案 B 依赖扩展能力边界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lang="zh-CN" altLang="zh-CN" sz="825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方案 D 涉及底层改造风险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lang="zh-CN" altLang="zh-CN" sz="825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需要设置回滚机制与阶段验收标准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65100" y="5524500"/>
            <a:ext cx="11747500" cy="9779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1905000" y="5638800"/>
            <a:ext cx="1809750" cy="7493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78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 flipV="1">
            <a:off x="2057400" y="6083300"/>
            <a:ext cx="177800" cy="152400"/>
          </a:xfrm>
          <a:prstGeom prst="line">
            <a:avLst/>
          </a:prstGeom>
          <a:ln w="50800">
            <a:solidFill>
              <a:srgbClr val="078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235200" y="6083300"/>
            <a:ext cx="107950" cy="63500"/>
          </a:xfrm>
          <a:prstGeom prst="line">
            <a:avLst/>
          </a:prstGeom>
          <a:ln w="50800">
            <a:solidFill>
              <a:srgbClr val="078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2343150" y="5956300"/>
            <a:ext cx="209550" cy="190500"/>
          </a:xfrm>
          <a:prstGeom prst="line">
            <a:avLst/>
          </a:prstGeom>
          <a:ln w="50800">
            <a:solidFill>
              <a:srgbClr val="078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451100" y="5956300"/>
            <a:ext cx="101600" cy="0"/>
          </a:xfrm>
          <a:prstGeom prst="line">
            <a:avLst/>
          </a:prstGeom>
          <a:ln w="50800">
            <a:solidFill>
              <a:srgbClr val="078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552700" y="5956300"/>
            <a:ext cx="0" cy="101600"/>
          </a:xfrm>
          <a:prstGeom prst="line">
            <a:avLst/>
          </a:prstGeom>
          <a:ln w="50800">
            <a:solidFill>
              <a:srgbClr val="078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[metric1_title]"/>
          <p:cNvSpPr txBox="1"/>
          <p:nvPr/>
        </p:nvSpPr>
        <p:spPr>
          <a:xfrm>
            <a:off x="2451100" y="5765800"/>
            <a:ext cx="117475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60" b="1">
                <a:solidFill>
                  <a:srgbClr val="078D98"/>
                </a:solidFill>
                <a:latin typeface="微软雅黑"/>
                <a:ea typeface="微软雅黑"/>
                <a:cs typeface="微软雅黑"/>
              </a:rPr>
              <a:t>收益提升</a:t>
            </a:r>
          </a:p>
        </p:txBody>
      </p:sp>
      <p:sp>
        <p:nvSpPr>
          <p:cNvPr id="84" name="[metric1_value]"/>
          <p:cNvSpPr txBox="1"/>
          <p:nvPr/>
        </p:nvSpPr>
        <p:spPr>
          <a:xfrm>
            <a:off x="2400300" y="5905500"/>
            <a:ext cx="1225550" cy="241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500" b="1">
                <a:solidFill>
                  <a:srgbClr val="078D98"/>
                </a:solidFill>
                <a:latin typeface="微软雅黑"/>
                <a:ea typeface="微软雅黑"/>
                <a:cs typeface="微软雅黑"/>
              </a:rPr>
              <a:t>+12%</a:t>
            </a:r>
          </a:p>
        </p:txBody>
      </p:sp>
      <p:sp>
        <p:nvSpPr>
          <p:cNvPr id="85" name="[metric1_note]"/>
          <p:cNvSpPr txBox="1"/>
          <p:nvPr/>
        </p:nvSpPr>
        <p:spPr>
          <a:xfrm>
            <a:off x="2120900" y="6229350"/>
            <a:ext cx="1377950" cy="139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3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相对当前方案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968750" y="5638800"/>
            <a:ext cx="1809750" cy="7493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4121150" y="5854700"/>
            <a:ext cx="292100" cy="292100"/>
          </a:xfrm>
          <a:prstGeom prst="ellipse">
            <a:avLst/>
          </a:prstGeom>
          <a:solidFill>
            <a:srgbClr val="F3F7FB"/>
          </a:solidFill>
          <a:ln w="6350">
            <a:solidFill>
              <a:srgbClr val="F3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4173728" y="5907278"/>
            <a:ext cx="186944" cy="186944"/>
          </a:xfrm>
          <a:prstGeom prst="ellipse">
            <a:avLst/>
          </a:prstGeom>
          <a:solidFill>
            <a:srgbClr val="FFFFFF"/>
          </a:solidFill>
          <a:ln w="2794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4217543" y="5951093"/>
            <a:ext cx="99314" cy="9931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4252595" y="5986145"/>
            <a:ext cx="29210" cy="29210"/>
          </a:xfrm>
          <a:prstGeom prst="ellipse">
            <a:avLst/>
          </a:prstGeom>
          <a:solidFill>
            <a:srgbClr val="0B2F86"/>
          </a:solidFill>
          <a:ln w="1270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" name="Connector 90"/>
          <p:cNvCxnSpPr/>
          <p:nvPr/>
        </p:nvCxnSpPr>
        <p:spPr>
          <a:xfrm flipV="1">
            <a:off x="4296410" y="5883910"/>
            <a:ext cx="87630" cy="87630"/>
          </a:xfrm>
          <a:prstGeom prst="line">
            <a:avLst/>
          </a:prstGeom>
          <a:ln w="38100">
            <a:solidFill>
              <a:srgbClr val="0B2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4348988" y="5883910"/>
            <a:ext cx="35052" cy="0"/>
          </a:xfrm>
          <a:prstGeom prst="line">
            <a:avLst/>
          </a:prstGeom>
          <a:ln w="25400">
            <a:solidFill>
              <a:srgbClr val="0B2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4384040" y="5883910"/>
            <a:ext cx="0" cy="35052"/>
          </a:xfrm>
          <a:prstGeom prst="line">
            <a:avLst/>
          </a:prstGeom>
          <a:ln w="25400">
            <a:solidFill>
              <a:srgbClr val="0B2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[metric2_title]"/>
          <p:cNvSpPr txBox="1"/>
          <p:nvPr/>
        </p:nvSpPr>
        <p:spPr>
          <a:xfrm>
            <a:off x="4514850" y="5765800"/>
            <a:ext cx="117475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6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研发交付成本</a:t>
            </a:r>
          </a:p>
        </p:txBody>
      </p:sp>
      <p:sp>
        <p:nvSpPr>
          <p:cNvPr id="95" name="[metric2_value]"/>
          <p:cNvSpPr txBox="1"/>
          <p:nvPr/>
        </p:nvSpPr>
        <p:spPr>
          <a:xfrm>
            <a:off x="4464050" y="5905500"/>
            <a:ext cx="1225550" cy="241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40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3 Sprint</a:t>
            </a:r>
          </a:p>
        </p:txBody>
      </p:sp>
      <p:sp>
        <p:nvSpPr>
          <p:cNvPr id="96" name="[metric2_note]"/>
          <p:cNvSpPr txBox="1"/>
          <p:nvPr/>
        </p:nvSpPr>
        <p:spPr>
          <a:xfrm>
            <a:off x="4184650" y="6229350"/>
            <a:ext cx="1377950" cy="139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3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约 24 人天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032500" y="5638800"/>
            <a:ext cx="1809750" cy="7493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169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Isosceles Triangle 97"/>
          <p:cNvSpPr/>
          <p:nvPr/>
        </p:nvSpPr>
        <p:spPr>
          <a:xfrm>
            <a:off x="6235700" y="5892800"/>
            <a:ext cx="266700" cy="240030"/>
          </a:xfrm>
          <a:prstGeom prst="triangle">
            <a:avLst/>
          </a:prstGeom>
          <a:noFill/>
          <a:ln w="30480">
            <a:solidFill>
              <a:srgbClr val="F169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294374" y="5919470"/>
            <a:ext cx="165354" cy="2293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092" b="1">
                <a:solidFill>
                  <a:srgbClr val="F16918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00" name="[metric3_title]"/>
          <p:cNvSpPr txBox="1"/>
          <p:nvPr/>
        </p:nvSpPr>
        <p:spPr>
          <a:xfrm>
            <a:off x="6578600" y="5765800"/>
            <a:ext cx="117475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60" b="1">
                <a:solidFill>
                  <a:srgbClr val="F16918"/>
                </a:solidFill>
                <a:latin typeface="微软雅黑"/>
                <a:ea typeface="微软雅黑"/>
                <a:cs typeface="微软雅黑"/>
              </a:rPr>
              <a:t>运行风险得分</a:t>
            </a:r>
          </a:p>
        </p:txBody>
      </p:sp>
      <p:sp>
        <p:nvSpPr>
          <p:cNvPr id="101" name="[metric3_value]"/>
          <p:cNvSpPr txBox="1"/>
          <p:nvPr/>
        </p:nvSpPr>
        <p:spPr>
          <a:xfrm>
            <a:off x="6527800" y="5905500"/>
            <a:ext cx="1225550" cy="241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500" b="1">
                <a:solidFill>
                  <a:srgbClr val="F16918"/>
                </a:solidFill>
                <a:latin typeface="微软雅黑"/>
                <a:ea typeface="微软雅黑"/>
                <a:cs typeface="微软雅黑"/>
              </a:rPr>
              <a:t>0.37</a:t>
            </a:r>
          </a:p>
        </p:txBody>
      </p:sp>
      <p:sp>
        <p:nvSpPr>
          <p:cNvPr id="102" name="[metric3_note]"/>
          <p:cNvSpPr txBox="1"/>
          <p:nvPr/>
        </p:nvSpPr>
        <p:spPr>
          <a:xfrm>
            <a:off x="6248400" y="6229350"/>
            <a:ext cx="1377950" cy="139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3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0-1 分，越低越优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8096250" y="5638800"/>
            <a:ext cx="1809750" cy="7493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78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8261350" y="5880100"/>
            <a:ext cx="292100" cy="292100"/>
          </a:xfrm>
          <a:prstGeom prst="ellipse">
            <a:avLst/>
          </a:prstGeom>
          <a:solidFill>
            <a:srgbClr val="FFFFFF"/>
          </a:solidFill>
          <a:ln w="29209">
            <a:solidFill>
              <a:srgbClr val="078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5" name="Connector 104"/>
          <p:cNvCxnSpPr/>
          <p:nvPr/>
        </p:nvCxnSpPr>
        <p:spPr>
          <a:xfrm flipV="1">
            <a:off x="8407400" y="5944362"/>
            <a:ext cx="0" cy="81788"/>
          </a:xfrm>
          <a:prstGeom prst="line">
            <a:avLst/>
          </a:prstGeom>
          <a:ln w="29209">
            <a:solidFill>
              <a:srgbClr val="078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8407400" y="6026150"/>
            <a:ext cx="64262" cy="0"/>
          </a:xfrm>
          <a:prstGeom prst="line">
            <a:avLst/>
          </a:prstGeom>
          <a:ln w="29209">
            <a:solidFill>
              <a:srgbClr val="078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[metric4_title]"/>
          <p:cNvSpPr txBox="1"/>
          <p:nvPr/>
        </p:nvSpPr>
        <p:spPr>
          <a:xfrm>
            <a:off x="8642350" y="5765800"/>
            <a:ext cx="117475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60" b="1">
                <a:solidFill>
                  <a:srgbClr val="078D98"/>
                </a:solidFill>
                <a:latin typeface="微软雅黑"/>
                <a:ea typeface="微软雅黑"/>
                <a:cs typeface="微软雅黑"/>
              </a:rPr>
              <a:t>能力复用率</a:t>
            </a:r>
          </a:p>
        </p:txBody>
      </p:sp>
      <p:sp>
        <p:nvSpPr>
          <p:cNvPr id="108" name="[metric4_value]"/>
          <p:cNvSpPr txBox="1"/>
          <p:nvPr/>
        </p:nvSpPr>
        <p:spPr>
          <a:xfrm>
            <a:off x="8591550" y="5905500"/>
            <a:ext cx="1225550" cy="241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500" b="1">
                <a:solidFill>
                  <a:srgbClr val="078D98"/>
                </a:solidFill>
                <a:latin typeface="微软雅黑"/>
                <a:ea typeface="微软雅黑"/>
                <a:cs typeface="微软雅黑"/>
              </a:rPr>
              <a:t>68%</a:t>
            </a:r>
          </a:p>
        </p:txBody>
      </p:sp>
      <p:sp>
        <p:nvSpPr>
          <p:cNvPr id="109" name="[metric4_note]"/>
          <p:cNvSpPr txBox="1"/>
          <p:nvPr/>
        </p:nvSpPr>
        <p:spPr>
          <a:xfrm>
            <a:off x="8312150" y="6229350"/>
            <a:ext cx="1377950" cy="139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3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可复用现有能力比例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
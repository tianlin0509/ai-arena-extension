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[chip]"/>
          <p:cNvSpPr txBox="1"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试点成效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1473200" y="228600"/>
            <a:ext cx="92075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B90A0A"/>
                </a:solidFill>
                <a:latin typeface="Microsoft YaHei"/>
                <a:ea typeface="Microsoft YaHei"/>
              </a:rPr>
              <a:t>智能体试点季度成效: 工单自动处理率达 86%, 运维人力投入下降 28%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1366500" y="304800"/>
            <a:ext cx="419100" cy="241300"/>
          </a:xfrm>
          <a:prstGeom prst="line">
            <a:avLst/>
          </a:prstGeom>
          <a:ln w="2286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1000" y="825500"/>
            <a:ext cx="27432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[kpi1_name]"/>
          <p:cNvSpPr txBox="1"/>
          <p:nvPr/>
        </p:nvSpPr>
        <p:spPr>
          <a:xfrm>
            <a:off x="482600" y="914400"/>
            <a:ext cx="2540000" cy="177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</a:rPr>
              <a:t>工单自动处理率</a:t>
            </a:r>
          </a:p>
        </p:txBody>
      </p:sp>
      <p:sp>
        <p:nvSpPr>
          <p:cNvPr id="8" name="[kpi1_value]"/>
          <p:cNvSpPr txBox="1"/>
          <p:nvPr/>
        </p:nvSpPr>
        <p:spPr>
          <a:xfrm>
            <a:off x="482600" y="1104900"/>
            <a:ext cx="2540000" cy="431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 i="0">
                <a:solidFill>
                  <a:srgbClr val="1F4E79"/>
                </a:solidFill>
                <a:latin typeface="Microsoft YaHei"/>
                <a:ea typeface="Microsoft YaHei"/>
              </a:rPr>
              <a:t>86%</a:t>
            </a:r>
          </a:p>
        </p:txBody>
      </p:sp>
      <p:sp>
        <p:nvSpPr>
          <p:cNvPr id="9" name="[kpi1_delta]"/>
          <p:cNvSpPr txBox="1"/>
          <p:nvPr/>
        </p:nvSpPr>
        <p:spPr>
          <a:xfrm>
            <a:off x="482600" y="1562100"/>
            <a:ext cx="25400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00B050"/>
                </a:solidFill>
                <a:latin typeface="Microsoft YaHei"/>
                <a:ea typeface="Microsoft YaHei"/>
              </a:rPr>
              <a:t>▲ +23pp 同比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2000" y="1803400"/>
            <a:ext cx="19812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[kpi1_note]"/>
          <p:cNvSpPr txBox="1"/>
          <p:nvPr/>
        </p:nvSpPr>
        <p:spPr>
          <a:xfrm>
            <a:off x="482600" y="1828800"/>
            <a:ext cx="2540000" cy="165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口径: 全网例行工单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6600" y="825500"/>
            <a:ext cx="27432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[kpi2_name]"/>
          <p:cNvSpPr txBox="1"/>
          <p:nvPr/>
        </p:nvSpPr>
        <p:spPr>
          <a:xfrm>
            <a:off x="3378200" y="914400"/>
            <a:ext cx="2540000" cy="177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</a:rPr>
              <a:t>平均处理时长</a:t>
            </a:r>
          </a:p>
        </p:txBody>
      </p:sp>
      <p:sp>
        <p:nvSpPr>
          <p:cNvPr id="14" name="[kpi2_value]"/>
          <p:cNvSpPr txBox="1"/>
          <p:nvPr/>
        </p:nvSpPr>
        <p:spPr>
          <a:xfrm>
            <a:off x="3378200" y="1104900"/>
            <a:ext cx="2540000" cy="431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 i="0">
                <a:solidFill>
                  <a:srgbClr val="1F4E79"/>
                </a:solidFill>
                <a:latin typeface="Microsoft YaHei"/>
                <a:ea typeface="Microsoft YaHei"/>
              </a:rPr>
              <a:t>4.2min</a:t>
            </a:r>
          </a:p>
        </p:txBody>
      </p:sp>
      <p:sp>
        <p:nvSpPr>
          <p:cNvPr id="15" name="[kpi2_delta]"/>
          <p:cNvSpPr txBox="1"/>
          <p:nvPr/>
        </p:nvSpPr>
        <p:spPr>
          <a:xfrm>
            <a:off x="3378200" y="1562100"/>
            <a:ext cx="25400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B90A0A"/>
                </a:solidFill>
                <a:latin typeface="Microsoft YaHei"/>
                <a:ea typeface="Microsoft YaHei"/>
              </a:rPr>
              <a:t>▼ -58% 环比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0" y="1803400"/>
            <a:ext cx="19812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[kpi2_note]"/>
          <p:cNvSpPr txBox="1"/>
          <p:nvPr/>
        </p:nvSpPr>
        <p:spPr>
          <a:xfrm>
            <a:off x="3378200" y="1828800"/>
            <a:ext cx="2540000" cy="165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口径: 派单→闭环全程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825500"/>
            <a:ext cx="27432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[kpi3_name]"/>
          <p:cNvSpPr txBox="1"/>
          <p:nvPr/>
        </p:nvSpPr>
        <p:spPr>
          <a:xfrm>
            <a:off x="6273800" y="914400"/>
            <a:ext cx="2540000" cy="177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</a:rPr>
              <a:t>故障预测准确率</a:t>
            </a:r>
          </a:p>
        </p:txBody>
      </p:sp>
      <p:sp>
        <p:nvSpPr>
          <p:cNvPr id="20" name="[kpi3_value]"/>
          <p:cNvSpPr txBox="1"/>
          <p:nvPr/>
        </p:nvSpPr>
        <p:spPr>
          <a:xfrm>
            <a:off x="6273800" y="1104900"/>
            <a:ext cx="2540000" cy="431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 i="0">
                <a:solidFill>
                  <a:srgbClr val="1F4E79"/>
                </a:solidFill>
                <a:latin typeface="Microsoft YaHei"/>
                <a:ea typeface="Microsoft YaHei"/>
              </a:rPr>
              <a:t>92.3%</a:t>
            </a:r>
          </a:p>
        </p:txBody>
      </p:sp>
      <p:sp>
        <p:nvSpPr>
          <p:cNvPr id="21" name="[kpi3_delta]"/>
          <p:cNvSpPr txBox="1"/>
          <p:nvPr/>
        </p:nvSpPr>
        <p:spPr>
          <a:xfrm>
            <a:off x="6273800" y="1562100"/>
            <a:ext cx="25400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00B050"/>
                </a:solidFill>
                <a:latin typeface="Microsoft YaHei"/>
                <a:ea typeface="Microsoft YaHei"/>
              </a:rPr>
              <a:t>▲ +6.8pp 同比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53200" y="1803400"/>
            <a:ext cx="19812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[kpi3_note]"/>
          <p:cNvSpPr txBox="1"/>
          <p:nvPr/>
        </p:nvSpPr>
        <p:spPr>
          <a:xfrm>
            <a:off x="6273800" y="1828800"/>
            <a:ext cx="2540000" cy="165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口径: 提前 30min 预测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7800" y="825500"/>
            <a:ext cx="27432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[kpi4_name]"/>
          <p:cNvSpPr txBox="1"/>
          <p:nvPr/>
        </p:nvSpPr>
        <p:spPr>
          <a:xfrm>
            <a:off x="9169400" y="914400"/>
            <a:ext cx="2540000" cy="177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</a:rPr>
              <a:t>运维人力投入</a:t>
            </a:r>
          </a:p>
        </p:txBody>
      </p:sp>
      <p:sp>
        <p:nvSpPr>
          <p:cNvPr id="26" name="[kpi4_value]"/>
          <p:cNvSpPr txBox="1"/>
          <p:nvPr/>
        </p:nvSpPr>
        <p:spPr>
          <a:xfrm>
            <a:off x="9169400" y="1104900"/>
            <a:ext cx="2540000" cy="431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 i="0">
                <a:solidFill>
                  <a:srgbClr val="1F4E79"/>
                </a:solidFill>
                <a:latin typeface="Microsoft YaHei"/>
                <a:ea typeface="Microsoft YaHei"/>
              </a:rPr>
              <a:t>31人</a:t>
            </a:r>
          </a:p>
        </p:txBody>
      </p:sp>
      <p:sp>
        <p:nvSpPr>
          <p:cNvPr id="27" name="[kpi4_delta]"/>
          <p:cNvSpPr txBox="1"/>
          <p:nvPr/>
        </p:nvSpPr>
        <p:spPr>
          <a:xfrm>
            <a:off x="9169400" y="1562100"/>
            <a:ext cx="25400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B90A0A"/>
                </a:solidFill>
                <a:latin typeface="Microsoft YaHei"/>
                <a:ea typeface="Microsoft YaHei"/>
              </a:rPr>
              <a:t>▼ -12人 同比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448800" y="1803400"/>
            <a:ext cx="19812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[kpi4_note]"/>
          <p:cNvSpPr txBox="1"/>
          <p:nvPr/>
        </p:nvSpPr>
        <p:spPr>
          <a:xfrm>
            <a:off x="9169400" y="1828800"/>
            <a:ext cx="2540000" cy="165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口径: 运维编制全口径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1000" y="2184400"/>
            <a:ext cx="56388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1000" y="2184400"/>
            <a:ext cx="5638800" cy="2667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1000" y="2184400"/>
            <a:ext cx="38100" cy="2667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5299" y="2184400"/>
            <a:ext cx="54737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趋势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23900" y="4241800"/>
            <a:ext cx="49530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23900" y="2679700"/>
            <a:ext cx="0" cy="156210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89000" y="3347574"/>
            <a:ext cx="1168400" cy="83834"/>
          </a:xfrm>
          <a:prstGeom prst="line">
            <a:avLst/>
          </a:prstGeom>
          <a:ln w="2286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057400" y="3249768"/>
            <a:ext cx="1168400" cy="97806"/>
          </a:xfrm>
          <a:prstGeom prst="line">
            <a:avLst/>
          </a:prstGeom>
          <a:ln w="2286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225800" y="3137990"/>
            <a:ext cx="1168400" cy="111778"/>
          </a:xfrm>
          <a:prstGeom prst="line">
            <a:avLst/>
          </a:prstGeom>
          <a:ln w="2286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394200" y="3040184"/>
            <a:ext cx="1168400" cy="97806"/>
          </a:xfrm>
          <a:prstGeom prst="line">
            <a:avLst/>
          </a:prstGeom>
          <a:ln w="2286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57250" y="3399658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600" y="3240908"/>
            <a:ext cx="304800" cy="127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58%</a:t>
            </a:r>
          </a:p>
        </p:txBody>
      </p:sp>
      <p:sp>
        <p:nvSpPr>
          <p:cNvPr id="42" name="Oval 41"/>
          <p:cNvSpPr/>
          <p:nvPr/>
        </p:nvSpPr>
        <p:spPr>
          <a:xfrm>
            <a:off x="2025650" y="3315824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05000" y="3157074"/>
            <a:ext cx="304800" cy="127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64%</a:t>
            </a:r>
          </a:p>
        </p:txBody>
      </p:sp>
      <p:sp>
        <p:nvSpPr>
          <p:cNvPr id="44" name="Oval 43"/>
          <p:cNvSpPr/>
          <p:nvPr/>
        </p:nvSpPr>
        <p:spPr>
          <a:xfrm>
            <a:off x="3194050" y="3218018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73400" y="3059268"/>
            <a:ext cx="304800" cy="127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71%</a:t>
            </a:r>
          </a:p>
        </p:txBody>
      </p:sp>
      <p:sp>
        <p:nvSpPr>
          <p:cNvPr id="46" name="Oval 45"/>
          <p:cNvSpPr/>
          <p:nvPr/>
        </p:nvSpPr>
        <p:spPr>
          <a:xfrm>
            <a:off x="4362450" y="3106240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41800" y="2947490"/>
            <a:ext cx="304800" cy="127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79%</a:t>
            </a:r>
          </a:p>
        </p:txBody>
      </p:sp>
      <p:sp>
        <p:nvSpPr>
          <p:cNvPr id="48" name="Oval 47"/>
          <p:cNvSpPr/>
          <p:nvPr/>
        </p:nvSpPr>
        <p:spPr>
          <a:xfrm>
            <a:off x="5530850" y="3008434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10200" y="2849684"/>
            <a:ext cx="304800" cy="127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86%</a:t>
            </a:r>
          </a:p>
        </p:txBody>
      </p:sp>
      <p:sp>
        <p:nvSpPr>
          <p:cNvPr id="50" name="[trend_x1]"/>
          <p:cNvSpPr txBox="1"/>
          <p:nvPr/>
        </p:nvSpPr>
        <p:spPr>
          <a:xfrm>
            <a:off x="698500" y="4279900"/>
            <a:ext cx="381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1月</a:t>
            </a:r>
          </a:p>
        </p:txBody>
      </p:sp>
      <p:sp>
        <p:nvSpPr>
          <p:cNvPr id="51" name="[trend_x2]"/>
          <p:cNvSpPr txBox="1"/>
          <p:nvPr/>
        </p:nvSpPr>
        <p:spPr>
          <a:xfrm>
            <a:off x="1866899" y="4279900"/>
            <a:ext cx="381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2月</a:t>
            </a:r>
          </a:p>
        </p:txBody>
      </p:sp>
      <p:sp>
        <p:nvSpPr>
          <p:cNvPr id="52" name="[trend_x3]"/>
          <p:cNvSpPr txBox="1"/>
          <p:nvPr/>
        </p:nvSpPr>
        <p:spPr>
          <a:xfrm>
            <a:off x="3035300" y="4279900"/>
            <a:ext cx="381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3月</a:t>
            </a:r>
          </a:p>
        </p:txBody>
      </p:sp>
      <p:sp>
        <p:nvSpPr>
          <p:cNvPr id="53" name="[trend_x4]"/>
          <p:cNvSpPr txBox="1"/>
          <p:nvPr/>
        </p:nvSpPr>
        <p:spPr>
          <a:xfrm>
            <a:off x="4203700" y="4279900"/>
            <a:ext cx="381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4月</a:t>
            </a:r>
          </a:p>
        </p:txBody>
      </p:sp>
      <p:sp>
        <p:nvSpPr>
          <p:cNvPr id="54" name="[trend_x5]"/>
          <p:cNvSpPr txBox="1"/>
          <p:nvPr/>
        </p:nvSpPr>
        <p:spPr>
          <a:xfrm>
            <a:off x="5372100" y="4279900"/>
            <a:ext cx="381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5月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89000" y="3054350"/>
            <a:ext cx="4699000" cy="0"/>
          </a:xfrm>
          <a:prstGeom prst="line">
            <a:avLst/>
          </a:prstGeom>
          <a:ln w="15240">
            <a:solidFill>
              <a:srgbClr val="B90A0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[trend_target]"/>
          <p:cNvSpPr txBox="1"/>
          <p:nvPr/>
        </p:nvSpPr>
        <p:spPr>
          <a:xfrm>
            <a:off x="952500" y="2844800"/>
            <a:ext cx="1397000" cy="177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B90A0A"/>
                </a:solidFill>
                <a:latin typeface="Microsoft YaHei"/>
                <a:ea typeface="Microsoft YaHei"/>
              </a:rPr>
              <a:t>年度目标 85%</a:t>
            </a:r>
          </a:p>
        </p:txBody>
      </p:sp>
      <p:sp>
        <p:nvSpPr>
          <p:cNvPr id="57" name="[trend_note]"/>
          <p:cNvSpPr txBox="1"/>
          <p:nvPr/>
        </p:nvSpPr>
        <p:spPr>
          <a:xfrm>
            <a:off x="571500" y="4648200"/>
            <a:ext cx="5257800" cy="393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62626"/>
                </a:solidFill>
                <a:latin typeface="Microsoft YaHei"/>
                <a:ea typeface="Microsoft YaHei"/>
              </a:rPr>
              <a:t>自动处理率连续 5 个月环比提升, 5 月达 86%, 提前 2 个月达成年度目标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72200" y="2184400"/>
            <a:ext cx="56388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72200" y="2184400"/>
            <a:ext cx="5638800" cy="2667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72200" y="2184400"/>
            <a:ext cx="38100" cy="2667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86500" y="2184400"/>
            <a:ext cx="54737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对比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540500" y="4254500"/>
            <a:ext cx="49022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7030720" y="2984500"/>
            <a:ext cx="817033" cy="12700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22203" y="2819400"/>
            <a:ext cx="1634066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</a:rPr>
              <a:t>120min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22203" y="4292600"/>
            <a:ext cx="1634066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8664786" y="3534833"/>
            <a:ext cx="817033" cy="71966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56270" y="3369733"/>
            <a:ext cx="1634066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</a:rPr>
              <a:t>68min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56270" y="4292600"/>
            <a:ext cx="1634066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10298853" y="3884083"/>
            <a:ext cx="817033" cy="3704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890336" y="3718983"/>
            <a:ext cx="1634066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</a:rPr>
              <a:t>35min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90336" y="4292600"/>
            <a:ext cx="1634066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2" name="[cmp_cat1]"/>
          <p:cNvSpPr txBox="1"/>
          <p:nvPr/>
        </p:nvSpPr>
        <p:spPr>
          <a:xfrm>
            <a:off x="6622203" y="4292600"/>
            <a:ext cx="1634066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人工处理</a:t>
            </a:r>
          </a:p>
        </p:txBody>
      </p:sp>
      <p:sp>
        <p:nvSpPr>
          <p:cNvPr id="73" name="[cmp_cat2]"/>
          <p:cNvSpPr txBox="1"/>
          <p:nvPr/>
        </p:nvSpPr>
        <p:spPr>
          <a:xfrm>
            <a:off x="8256270" y="4292600"/>
            <a:ext cx="1634066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AI 辅助</a:t>
            </a:r>
          </a:p>
        </p:txBody>
      </p:sp>
      <p:sp>
        <p:nvSpPr>
          <p:cNvPr id="74" name="[cmp_cat3]"/>
          <p:cNvSpPr txBox="1"/>
          <p:nvPr/>
        </p:nvSpPr>
        <p:spPr>
          <a:xfrm>
            <a:off x="9890336" y="4292600"/>
            <a:ext cx="1634066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智能体全自动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937500" y="3048000"/>
            <a:ext cx="2286000" cy="762000"/>
          </a:xfrm>
          <a:prstGeom prst="line">
            <a:avLst/>
          </a:prstGeom>
          <a:ln w="2032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[cmp_delta]"/>
          <p:cNvSpPr txBox="1"/>
          <p:nvPr/>
        </p:nvSpPr>
        <p:spPr>
          <a:xfrm>
            <a:off x="8445500" y="2908300"/>
            <a:ext cx="1397000" cy="177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B90A0A"/>
                </a:solidFill>
                <a:latin typeface="Microsoft YaHei"/>
                <a:ea typeface="Microsoft YaHei"/>
              </a:rPr>
              <a:t>处理时长 -71%</a:t>
            </a:r>
          </a:p>
        </p:txBody>
      </p:sp>
      <p:sp>
        <p:nvSpPr>
          <p:cNvPr id="77" name="[compare_note]"/>
          <p:cNvSpPr txBox="1"/>
          <p:nvPr/>
        </p:nvSpPr>
        <p:spPr>
          <a:xfrm>
            <a:off x="6362700" y="4648200"/>
            <a:ext cx="5257800" cy="393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62626"/>
                </a:solidFill>
                <a:latin typeface="Microsoft YaHei"/>
                <a:ea typeface="Microsoft YaHei"/>
              </a:rPr>
              <a:t>智能体全自动模式较人工处理时长下降 71%, 较 AI 辅助模式再降 49%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1000" y="5321300"/>
            <a:ext cx="1143000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81000" y="5321300"/>
            <a:ext cx="50800" cy="9525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35000" y="5651500"/>
            <a:ext cx="292100" cy="292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000" y="5638222"/>
            <a:ext cx="292100" cy="292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1F4E79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1400" y="5511800"/>
            <a:ext cx="825500" cy="571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</a:rPr>
              <a:t>数据</a:t>
            </a:r>
          </a:p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83" name="[data_concl]"/>
          <p:cNvSpPr txBox="1"/>
          <p:nvPr/>
        </p:nvSpPr>
        <p:spPr>
          <a:xfrm>
            <a:off x="1968500" y="5435600"/>
            <a:ext cx="7429500" cy="7239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试点验证智能体可稳定承接 86% 例行工单, 建议 Q3 推广至全网 7 个区域</a:t>
            </a:r>
          </a:p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预计全年节省运维人力成本 1200 万元, 故障恢复时长再降 30%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715500" y="5613400"/>
            <a:ext cx="1841500" cy="3556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[concl_kpi]"/>
          <p:cNvSpPr txBox="1"/>
          <p:nvPr/>
        </p:nvSpPr>
        <p:spPr>
          <a:xfrm>
            <a:off x="9715500" y="5613400"/>
            <a:ext cx="18415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</a:rPr>
              <a:t>年节省 1200 万元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
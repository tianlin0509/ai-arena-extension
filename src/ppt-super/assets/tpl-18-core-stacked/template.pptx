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昇腾架构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达芬奇核心为根基, CANN+昇思三层协同构筑 AI 算力竞争力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93750" y="1492250"/>
            <a:ext cx="4190999" cy="4190999"/>
          </a:xfrm>
          <a:prstGeom prst="ellipse">
            <a:avLst/>
          </a:prstGeom>
          <a:solidFill>
            <a:srgbClr val="DEEAF6">
              <a:alpha val="60000"/>
            </a:srgbClr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92250" y="2190750"/>
            <a:ext cx="2794000" cy="2794000"/>
          </a:xfrm>
          <a:prstGeom prst="ellipse">
            <a:avLst/>
          </a:prstGeom>
          <a:solidFill>
            <a:srgbClr val="2E75B6">
              <a:alpha val="44999"/>
            </a:srgbClr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59000" y="2857500"/>
            <a:ext cx="1460500" cy="14605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[core_name]"/>
          <p:cNvSpPr txBox="1"/>
          <p:nvPr/>
        </p:nvSpPr>
        <p:spPr>
          <a:xfrm>
            <a:off x="2222500" y="3257550"/>
            <a:ext cx="1333500" cy="444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</a:rPr>
              <a:t>达芬奇核心</a:t>
            </a:r>
          </a:p>
        </p:txBody>
      </p:sp>
      <p:sp>
        <p:nvSpPr>
          <p:cNvPr id="10" name="[core_sub]"/>
          <p:cNvSpPr txBox="1"/>
          <p:nvPr/>
        </p:nvSpPr>
        <p:spPr>
          <a:xfrm>
            <a:off x="2254250" y="3727450"/>
            <a:ext cx="1270000" cy="177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FFFFFF"/>
                </a:solidFill>
                <a:latin typeface="Microsoft YaHei"/>
                <a:ea typeface="Microsoft YaHei"/>
              </a:rPr>
              <a:t>全栈自研 · 端边云统一</a:t>
            </a:r>
          </a:p>
        </p:txBody>
      </p:sp>
      <p:sp>
        <p:nvSpPr>
          <p:cNvPr id="11" name="[stack_note]"/>
          <p:cNvSpPr txBox="1"/>
          <p:nvPr/>
        </p:nvSpPr>
        <p:spPr>
          <a:xfrm>
            <a:off x="1905000" y="965200"/>
            <a:ext cx="3556000" cy="190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核心夯基 → 运行时提效 → 生态放大, 三层协同筑竞争力</a:t>
            </a:r>
          </a:p>
        </p:txBody>
      </p:sp>
      <p:sp>
        <p:nvSpPr>
          <p:cNvPr id="12" name="[ring2_name]"/>
          <p:cNvSpPr txBox="1"/>
          <p:nvPr/>
        </p:nvSpPr>
        <p:spPr>
          <a:xfrm>
            <a:off x="508000" y="1054100"/>
            <a:ext cx="13335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1F4E79"/>
                </a:solidFill>
                <a:latin typeface="Microsoft YaHei"/>
                <a:ea typeface="Microsoft YaHei"/>
              </a:rPr>
              <a:t>CANN 异构计算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1300" y="1308100"/>
            <a:ext cx="647700" cy="1054100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33600" y="2330450"/>
            <a:ext cx="63500" cy="635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[ring3_name]"/>
          <p:cNvSpPr txBox="1"/>
          <p:nvPr/>
        </p:nvSpPr>
        <p:spPr>
          <a:xfrm>
            <a:off x="508000" y="5740400"/>
            <a:ext cx="1460500" cy="241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2E75B6"/>
                </a:solidFill>
                <a:latin typeface="Microsoft YaHei"/>
                <a:ea typeface="Microsoft YaHei"/>
              </a:rPr>
              <a:t>昇思 MindSpore 生态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270000" y="5111750"/>
            <a:ext cx="127000" cy="615950"/>
          </a:xfrm>
          <a:prstGeom prst="line">
            <a:avLst/>
          </a:prstGeom>
          <a:ln w="127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352550" y="5035550"/>
            <a:ext cx="63500" cy="635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86000" y="5816600"/>
            <a:ext cx="1587500" cy="3556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[core_kpi1]"/>
          <p:cNvSpPr txBox="1"/>
          <p:nvPr/>
        </p:nvSpPr>
        <p:spPr>
          <a:xfrm>
            <a:off x="2286000" y="5816600"/>
            <a:ext cx="15875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262626"/>
                </a:solidFill>
                <a:latin typeface="Microsoft YaHei"/>
                <a:ea typeface="Microsoft YaHei"/>
              </a:rPr>
              <a:t>算子覆盖 1400+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4000" y="5816600"/>
            <a:ext cx="1587500" cy="3556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[core_kpi2]"/>
          <p:cNvSpPr txBox="1"/>
          <p:nvPr/>
        </p:nvSpPr>
        <p:spPr>
          <a:xfrm>
            <a:off x="4064000" y="5816600"/>
            <a:ext cx="1587500" cy="3556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262626"/>
                </a:solidFill>
                <a:latin typeface="Microsoft YaHei"/>
                <a:ea typeface="Microsoft YaHei"/>
              </a:rPr>
              <a:t>集群线性度 92%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9950" y="1682750"/>
            <a:ext cx="2203450" cy="1390650"/>
          </a:xfrm>
          <a:prstGeom prst="line">
            <a:avLst/>
          </a:prstGeom>
          <a:ln w="12700">
            <a:solidFill>
              <a:srgbClr val="1F4E7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286250" y="3524250"/>
            <a:ext cx="1327150" cy="63500"/>
          </a:xfrm>
          <a:prstGeom prst="line">
            <a:avLst/>
          </a:prstGeom>
          <a:ln w="12700">
            <a:solidFill>
              <a:srgbClr val="1F4E7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368800" y="5067300"/>
            <a:ext cx="1244600" cy="298450"/>
          </a:xfrm>
          <a:prstGeom prst="line">
            <a:avLst/>
          </a:prstGeom>
          <a:ln w="12700">
            <a:solidFill>
              <a:srgbClr val="1F4E7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51500" y="825500"/>
            <a:ext cx="6159500" cy="171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1500" y="825500"/>
            <a:ext cx="6159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515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[band1_title]"/>
          <p:cNvSpPr txBox="1"/>
          <p:nvPr/>
        </p:nvSpPr>
        <p:spPr>
          <a:xfrm>
            <a:off x="5765800" y="825500"/>
            <a:ext cx="5994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达芬奇核心: 自研架构夯实算力根基</a:t>
            </a:r>
          </a:p>
        </p:txBody>
      </p:sp>
      <p:sp>
        <p:nvSpPr>
          <p:cNvPr id="29" name="[band1_bullets]"/>
          <p:cNvSpPr txBox="1"/>
          <p:nvPr/>
        </p:nvSpPr>
        <p:spPr>
          <a:xfrm>
            <a:off x="5842000" y="1206500"/>
            <a:ext cx="4381500" cy="12065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达芬奇核心采用自研 3D Cube 矩阵计算引擎, 单时钟周期完成 4096 次 MAC 运算, 统一架构覆盖端边云, 一次开发即可全场景部署。自研指令集深度优化, 算力密度领先业界 1.6 倍; 片上高带宽互联使数据搬运开销降低 70%, 单芯片提供 320 TFLOPS FP16 算力, 能效比提升 2.5 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69022" y="1421822"/>
            <a:ext cx="432954" cy="432954"/>
          </a:xfrm>
          <a:prstGeom prst="rect">
            <a:avLst/>
          </a:prstGeom>
          <a:solidFill>
            <a:srgbClr val="FFFFFF"/>
          </a:solidFill>
          <a:ln w="1778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4477" y="1537277"/>
            <a:ext cx="202045" cy="202045"/>
          </a:xfrm>
          <a:prstGeom prst="rect">
            <a:avLst/>
          </a:prstGeom>
          <a:solidFill>
            <a:srgbClr val="DEEAF6"/>
          </a:solidFill>
          <a:ln w="1016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0841181" y="1320800"/>
            <a:ext cx="0" cy="101022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841181" y="1854777"/>
            <a:ext cx="0" cy="101023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668000" y="1493981"/>
            <a:ext cx="101022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201977" y="1493981"/>
            <a:ext cx="101023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85500" y="1320800"/>
            <a:ext cx="0" cy="101022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985500" y="1854777"/>
            <a:ext cx="0" cy="101023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68000" y="1638300"/>
            <a:ext cx="101022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01977" y="1638300"/>
            <a:ext cx="101023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129818" y="1320800"/>
            <a:ext cx="0" cy="101022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129818" y="1854777"/>
            <a:ext cx="0" cy="101023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668000" y="1782618"/>
            <a:ext cx="101022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1977" y="1782618"/>
            <a:ext cx="101023" cy="0"/>
          </a:xfrm>
          <a:prstGeom prst="line">
            <a:avLst/>
          </a:prstGeom>
          <a:ln w="1143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[band1_caption]"/>
          <p:cNvSpPr txBox="1"/>
          <p:nvPr/>
        </p:nvSpPr>
        <p:spPr>
          <a:xfrm>
            <a:off x="10350500" y="2044700"/>
            <a:ext cx="127000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Da Vinci Core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51500" y="2667000"/>
            <a:ext cx="6159500" cy="171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51500" y="2667000"/>
            <a:ext cx="6159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51500" y="26670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[band2_title]"/>
          <p:cNvSpPr txBox="1"/>
          <p:nvPr/>
        </p:nvSpPr>
        <p:spPr>
          <a:xfrm>
            <a:off x="5765800" y="2667000"/>
            <a:ext cx="5994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CANN 异构计算: 释放硬件极致性能</a:t>
            </a:r>
          </a:p>
        </p:txBody>
      </p:sp>
      <p:sp>
        <p:nvSpPr>
          <p:cNvPr id="49" name="[band2_bullets]"/>
          <p:cNvSpPr txBox="1"/>
          <p:nvPr/>
        </p:nvSpPr>
        <p:spPr>
          <a:xfrm>
            <a:off x="5842000" y="3048000"/>
            <a:ext cx="4381500" cy="12065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CANN 通过图编译自动算子融合, 典型模型推理时延下降 38%, 1400+ 高性能算子库对 PyTorch/MindSpore 即插即用。Ascend C 语言使自定义算子开发从 2 周缩短至 3 天; 整图下沉执行让千卡集群训练线性度提升至 92%, 全栈 profiling 工具链使性能调优周期缩短一半。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68000" y="3119004"/>
            <a:ext cx="635000" cy="635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5600" b="1" i="0">
                <a:solidFill>
                  <a:srgbClr val="1F4E79"/>
                </a:solidFill>
                <a:latin typeface="Microsoft YaHei"/>
                <a:ea typeface="Microsoft YaHei"/>
              </a:rPr>
              <a:t>⚙</a:t>
            </a:r>
          </a:p>
        </p:txBody>
      </p:sp>
      <p:sp>
        <p:nvSpPr>
          <p:cNvPr id="51" name="[band2_caption]"/>
          <p:cNvSpPr txBox="1"/>
          <p:nvPr/>
        </p:nvSpPr>
        <p:spPr>
          <a:xfrm>
            <a:off x="10350500" y="3886200"/>
            <a:ext cx="127000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CANN Runtime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51500" y="4508500"/>
            <a:ext cx="6159500" cy="171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51500" y="4508500"/>
            <a:ext cx="6159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51500" y="4508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[band3_title]"/>
          <p:cNvSpPr txBox="1"/>
          <p:nvPr/>
        </p:nvSpPr>
        <p:spPr>
          <a:xfrm>
            <a:off x="5765800" y="4508500"/>
            <a:ext cx="5994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昇思生态: 开源开放加速行业落地</a:t>
            </a:r>
          </a:p>
        </p:txBody>
      </p:sp>
      <p:sp>
        <p:nvSpPr>
          <p:cNvPr id="56" name="[band3_bullets]"/>
          <p:cNvSpPr txBox="1"/>
          <p:nvPr/>
        </p:nvSpPr>
        <p:spPr>
          <a:xfrm>
            <a:off x="5842000" y="4889500"/>
            <a:ext cx="4381500" cy="12065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昇思 MindSpore 社区开发者已达 380 万, 累计下载 1100 万次, 50 余个行业大模型基于昇腾完成原生训练。伙伴解决方案超过 2800 个, 覆盖金融、制造、能源等核心场景; 30 余所高校开设昇腾课程, 每年培养开发者 12 万人, 开源社区月均合入 PR 1900+ 并保持季度版本迭代。</a:t>
            </a:r>
          </a:p>
        </p:txBody>
      </p:sp>
      <p:sp>
        <p:nvSpPr>
          <p:cNvPr id="57" name="Oval 56"/>
          <p:cNvSpPr/>
          <p:nvPr/>
        </p:nvSpPr>
        <p:spPr>
          <a:xfrm>
            <a:off x="10913340" y="4989368"/>
            <a:ext cx="144318" cy="14431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653568" y="5451186"/>
            <a:ext cx="144318" cy="14431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173113" y="5451186"/>
            <a:ext cx="144318" cy="14431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H="1">
            <a:off x="10725727" y="5061527"/>
            <a:ext cx="259773" cy="461818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985500" y="5061527"/>
            <a:ext cx="259772" cy="461818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725727" y="5523345"/>
            <a:ext cx="519545" cy="0"/>
          </a:xfrm>
          <a:prstGeom prst="line">
            <a:avLst/>
          </a:prstGeom>
          <a:ln w="12700">
            <a:solidFill>
              <a:srgbClr val="1F4E7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[band3_caption]"/>
          <p:cNvSpPr txBox="1"/>
          <p:nvPr/>
        </p:nvSpPr>
        <p:spPr>
          <a:xfrm>
            <a:off x="10350500" y="5727700"/>
            <a:ext cx="1270000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Open Ecosystem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
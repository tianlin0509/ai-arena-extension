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6700" y="266700"/>
            <a:ext cx="76200" cy="3683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431800" y="215900"/>
            <a:ext cx="2032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4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证据权重 / 技术判断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419100" y="393700"/>
            <a:ext cx="8382000" cy="355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证据权重矩阵：用六类证据收敛技术路线选择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431800" y="787400"/>
            <a:ext cx="927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把效果、成本、可交付、风险和复用价值放到同一张决策页，形成可复核的结论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6700" y="1066800"/>
            <a:ext cx="11658600" cy="0"/>
          </a:xfrm>
          <a:prstGeom prst="line">
            <a:avLst/>
          </a:prstGeom>
          <a:ln w="2032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63000" y="279400"/>
            <a:ext cx="28575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93200" y="298450"/>
            <a:ext cx="25273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23400" y="317500"/>
            <a:ext cx="21971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53600" y="336550"/>
            <a:ext cx="18669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83800" y="355600"/>
            <a:ext cx="15367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14000" y="374650"/>
            <a:ext cx="12065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44200" y="393700"/>
            <a:ext cx="876300" cy="0"/>
          </a:xfrm>
          <a:prstGeom prst="line">
            <a:avLst/>
          </a:prstGeom>
          <a:ln w="508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1300" y="1257300"/>
            <a:ext cx="7162800" cy="3848100"/>
          </a:xfrm>
          <a:prstGeom prst="roundRect">
            <a:avLst>
              <a:gd name="adj" fmla="val 5000"/>
            </a:avLst>
          </a:prstGeom>
          <a:solidFill>
            <a:srgbClr val="F8FAFD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300" y="1257300"/>
            <a:ext cx="7162800" cy="330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762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300" y="1524000"/>
            <a:ext cx="7162800" cy="635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1295400"/>
            <a:ext cx="68834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核心证据权重</a:t>
            </a:r>
          </a:p>
        </p:txBody>
      </p:sp>
      <p:sp>
        <p:nvSpPr>
          <p:cNvPr id="18" name="[matrix_title]"/>
          <p:cNvSpPr txBox="1"/>
          <p:nvPr/>
        </p:nvSpPr>
        <p:spPr>
          <a:xfrm>
            <a:off x="457200" y="1638300"/>
            <a:ext cx="2159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核心证据权重</a:t>
            </a:r>
          </a:p>
        </p:txBody>
      </p:sp>
      <p:sp>
        <p:nvSpPr>
          <p:cNvPr id="19" name="[matrix_note]"/>
          <p:cNvSpPr txBox="1"/>
          <p:nvPr/>
        </p:nvSpPr>
        <p:spPr>
          <a:xfrm>
            <a:off x="2667000" y="1651000"/>
            <a:ext cx="444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每项证据按可信度、业务相关性和可验证性综合计权，避免单一指标决定路线。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500" y="19812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4500" y="1981200"/>
            <a:ext cx="50800" cy="1333500"/>
          </a:xfrm>
          <a:prstGeom prst="rect">
            <a:avLst/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4200" y="2095500"/>
            <a:ext cx="266700" cy="266700"/>
          </a:xfrm>
          <a:prstGeom prst="ellipse">
            <a:avLst/>
          </a:prstGeom>
          <a:solidFill>
            <a:srgbClr val="E7F7F7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200" y="20955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4" name="[e1_title]"/>
          <p:cNvSpPr txBox="1"/>
          <p:nvPr/>
        </p:nvSpPr>
        <p:spPr>
          <a:xfrm>
            <a:off x="939800" y="20891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效果收益</a:t>
            </a:r>
          </a:p>
        </p:txBody>
      </p:sp>
      <p:sp>
        <p:nvSpPr>
          <p:cNvPr id="25" name="[e1_weight]"/>
          <p:cNvSpPr txBox="1"/>
          <p:nvPr/>
        </p:nvSpPr>
        <p:spPr>
          <a:xfrm>
            <a:off x="1765300" y="20764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28%</a:t>
            </a:r>
          </a:p>
        </p:txBody>
      </p:sp>
      <p:sp>
        <p:nvSpPr>
          <p:cNvPr id="26" name="[e1_summary]"/>
          <p:cNvSpPr txBox="1"/>
          <p:nvPr/>
        </p:nvSpPr>
        <p:spPr>
          <a:xfrm>
            <a:off x="584200" y="23495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离线与线上样本均显示关键指标提升，且置信区间稳定。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30353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9600" y="3035300"/>
            <a:ext cx="426720" cy="635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[e1_judgment]"/>
          <p:cNvSpPr txBox="1"/>
          <p:nvPr/>
        </p:nvSpPr>
        <p:spPr>
          <a:xfrm>
            <a:off x="1866900" y="29591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强支撑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17800" y="19812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7800" y="1981200"/>
            <a:ext cx="50800" cy="1333500"/>
          </a:xfrm>
          <a:prstGeom prst="rect">
            <a:avLst/>
          </a:prstGeom>
          <a:solidFill>
            <a:srgbClr val="D98200"/>
          </a:solidFill>
          <a:ln w="25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57500" y="2095500"/>
            <a:ext cx="266700" cy="266700"/>
          </a:xfrm>
          <a:prstGeom prst="ellipse">
            <a:avLst/>
          </a:prstGeom>
          <a:solidFill>
            <a:srgbClr val="FFF2E3"/>
          </a:solidFill>
          <a:ln w="127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7500" y="20955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[e2_title]"/>
          <p:cNvSpPr txBox="1"/>
          <p:nvPr/>
        </p:nvSpPr>
        <p:spPr>
          <a:xfrm>
            <a:off x="3213100" y="20891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成本约束</a:t>
            </a:r>
          </a:p>
        </p:txBody>
      </p:sp>
      <p:sp>
        <p:nvSpPr>
          <p:cNvPr id="35" name="[e2_weight]"/>
          <p:cNvSpPr txBox="1"/>
          <p:nvPr/>
        </p:nvSpPr>
        <p:spPr>
          <a:xfrm>
            <a:off x="4038600" y="20764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18%</a:t>
            </a:r>
          </a:p>
        </p:txBody>
      </p:sp>
      <p:sp>
        <p:nvSpPr>
          <p:cNvPr id="36" name="[e2_summary]"/>
          <p:cNvSpPr txBox="1"/>
          <p:nvPr/>
        </p:nvSpPr>
        <p:spPr>
          <a:xfrm>
            <a:off x="2857500" y="23495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单位推理成本下降空间明确，但需要批量调度配合。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2900" y="30353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2900" y="3035300"/>
            <a:ext cx="490728" cy="63500"/>
          </a:xfrm>
          <a:prstGeom prst="roundRect">
            <a:avLst>
              <a:gd name="adj" fmla="val 5000"/>
            </a:avLst>
          </a:prstGeom>
          <a:solidFill>
            <a:srgbClr val="D98200"/>
          </a:solidFill>
          <a:ln w="25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[e2_judgment]"/>
          <p:cNvSpPr txBox="1"/>
          <p:nvPr/>
        </p:nvSpPr>
        <p:spPr>
          <a:xfrm>
            <a:off x="4140200" y="29591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中支撑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91100" y="19812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1100" y="1981200"/>
            <a:ext cx="50800" cy="13335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30800" y="2095500"/>
            <a:ext cx="266700" cy="2667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30800" y="20955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4" name="[e3_title]"/>
          <p:cNvSpPr txBox="1"/>
          <p:nvPr/>
        </p:nvSpPr>
        <p:spPr>
          <a:xfrm>
            <a:off x="5486400" y="20891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工程成熟度</a:t>
            </a:r>
          </a:p>
        </p:txBody>
      </p:sp>
      <p:sp>
        <p:nvSpPr>
          <p:cNvPr id="45" name="[e3_weight]"/>
          <p:cNvSpPr txBox="1"/>
          <p:nvPr/>
        </p:nvSpPr>
        <p:spPr>
          <a:xfrm>
            <a:off x="6311900" y="20764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16%</a:t>
            </a:r>
          </a:p>
        </p:txBody>
      </p:sp>
      <p:sp>
        <p:nvSpPr>
          <p:cNvPr id="46" name="[e3_summary]"/>
          <p:cNvSpPr txBox="1"/>
          <p:nvPr/>
        </p:nvSpPr>
        <p:spPr>
          <a:xfrm>
            <a:off x="5130800" y="23495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核心链路已完成灰度验证，异常回滚和观测体系可用。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56200" y="30353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156200" y="3035300"/>
            <a:ext cx="554736" cy="635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[e3_judgment]"/>
          <p:cNvSpPr txBox="1"/>
          <p:nvPr/>
        </p:nvSpPr>
        <p:spPr>
          <a:xfrm>
            <a:off x="6413500" y="29591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可落地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4500" y="34925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4500" y="3492500"/>
            <a:ext cx="50800" cy="1333500"/>
          </a:xfrm>
          <a:prstGeom prst="rect">
            <a:avLst/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4200" y="3606800"/>
            <a:ext cx="266700" cy="266700"/>
          </a:xfrm>
          <a:prstGeom prst="ellipse">
            <a:avLst/>
          </a:prstGeom>
          <a:solidFill>
            <a:srgbClr val="E7F7F7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4200" y="36068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4" name="[e4_title]"/>
          <p:cNvSpPr txBox="1"/>
          <p:nvPr/>
        </p:nvSpPr>
        <p:spPr>
          <a:xfrm>
            <a:off x="939800" y="36004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交付窗口</a:t>
            </a:r>
          </a:p>
        </p:txBody>
      </p:sp>
      <p:sp>
        <p:nvSpPr>
          <p:cNvPr id="55" name="[e4_weight]"/>
          <p:cNvSpPr txBox="1"/>
          <p:nvPr/>
        </p:nvSpPr>
        <p:spPr>
          <a:xfrm>
            <a:off x="1765300" y="35877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14%</a:t>
            </a:r>
          </a:p>
        </p:txBody>
      </p:sp>
      <p:sp>
        <p:nvSpPr>
          <p:cNvPr id="56" name="[e4_summary]"/>
          <p:cNvSpPr txBox="1"/>
          <p:nvPr/>
        </p:nvSpPr>
        <p:spPr>
          <a:xfrm>
            <a:off x="584200" y="38608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当前依赖项集中在两处接口适配，可压入下一轮版本。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" y="45466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9600" y="4546600"/>
            <a:ext cx="618744" cy="635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25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[e4_judgment]"/>
          <p:cNvSpPr txBox="1"/>
          <p:nvPr/>
        </p:nvSpPr>
        <p:spPr>
          <a:xfrm>
            <a:off x="1866900" y="44704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需排期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17800" y="34925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17800" y="3492500"/>
            <a:ext cx="50800" cy="1333500"/>
          </a:xfrm>
          <a:prstGeom prst="rect">
            <a:avLst/>
          </a:prstGeom>
          <a:solidFill>
            <a:srgbClr val="D98200"/>
          </a:solidFill>
          <a:ln w="25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57500" y="3606800"/>
            <a:ext cx="266700" cy="266700"/>
          </a:xfrm>
          <a:prstGeom prst="ellipse">
            <a:avLst/>
          </a:prstGeom>
          <a:solidFill>
            <a:srgbClr val="FFF2E3"/>
          </a:solidFill>
          <a:ln w="127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57500" y="36068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4" name="[e5_title]"/>
          <p:cNvSpPr txBox="1"/>
          <p:nvPr/>
        </p:nvSpPr>
        <p:spPr>
          <a:xfrm>
            <a:off x="3213100" y="36004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风险暴露</a:t>
            </a:r>
          </a:p>
        </p:txBody>
      </p:sp>
      <p:sp>
        <p:nvSpPr>
          <p:cNvPr id="65" name="[e5_weight]"/>
          <p:cNvSpPr txBox="1"/>
          <p:nvPr/>
        </p:nvSpPr>
        <p:spPr>
          <a:xfrm>
            <a:off x="4038600" y="35877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12%</a:t>
            </a:r>
          </a:p>
        </p:txBody>
      </p:sp>
      <p:sp>
        <p:nvSpPr>
          <p:cNvPr id="66" name="[e5_summary]"/>
          <p:cNvSpPr txBox="1"/>
          <p:nvPr/>
        </p:nvSpPr>
        <p:spPr>
          <a:xfrm>
            <a:off x="2857500" y="38608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主要风险来自极端流量与长尾输入，需保留兜底路径。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82900" y="45466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882900" y="4546600"/>
            <a:ext cx="682752" cy="63500"/>
          </a:xfrm>
          <a:prstGeom prst="roundRect">
            <a:avLst>
              <a:gd name="adj" fmla="val 5000"/>
            </a:avLst>
          </a:prstGeom>
          <a:solidFill>
            <a:srgbClr val="D98200"/>
          </a:solidFill>
          <a:ln w="254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[e5_judgment]"/>
          <p:cNvSpPr txBox="1"/>
          <p:nvPr/>
        </p:nvSpPr>
        <p:spPr>
          <a:xfrm>
            <a:off x="4140200" y="44704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可控制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91100" y="3492500"/>
            <a:ext cx="2133600" cy="1333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91100" y="3492500"/>
            <a:ext cx="50800" cy="1333500"/>
          </a:xfrm>
          <a:prstGeom prst="rect">
            <a:avLst/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130800" y="3606800"/>
            <a:ext cx="266700" cy="2667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30800" y="3606800"/>
            <a:ext cx="2667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74" name="[e6_title]"/>
          <p:cNvSpPr txBox="1"/>
          <p:nvPr/>
        </p:nvSpPr>
        <p:spPr>
          <a:xfrm>
            <a:off x="5486400" y="360045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3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复用价值</a:t>
            </a:r>
          </a:p>
        </p:txBody>
      </p:sp>
      <p:sp>
        <p:nvSpPr>
          <p:cNvPr id="75" name="[e6_weight]"/>
          <p:cNvSpPr txBox="1"/>
          <p:nvPr/>
        </p:nvSpPr>
        <p:spPr>
          <a:xfrm>
            <a:off x="6311900" y="3587750"/>
            <a:ext cx="660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12%</a:t>
            </a:r>
          </a:p>
        </p:txBody>
      </p:sp>
      <p:sp>
        <p:nvSpPr>
          <p:cNvPr id="76" name="[e6_summary]"/>
          <p:cNvSpPr txBox="1"/>
          <p:nvPr/>
        </p:nvSpPr>
        <p:spPr>
          <a:xfrm>
            <a:off x="5130800" y="3860800"/>
            <a:ext cx="18542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能力模块可沉淀为平台组件，后续场景复用比例较高。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156200" y="4546600"/>
            <a:ext cx="1066800" cy="63500"/>
          </a:xfrm>
          <a:prstGeom prst="roundRect">
            <a:avLst>
              <a:gd name="adj" fmla="val 5000"/>
            </a:avLst>
          </a:prstGeom>
          <a:solidFill>
            <a:srgbClr val="F3F7FB"/>
          </a:solidFill>
          <a:ln w="254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156200" y="4546600"/>
            <a:ext cx="746760" cy="635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25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[e6_judgment]"/>
          <p:cNvSpPr txBox="1"/>
          <p:nvPr/>
        </p:nvSpPr>
        <p:spPr>
          <a:xfrm>
            <a:off x="6413500" y="4470400"/>
            <a:ext cx="609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高复用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620000" y="1257300"/>
            <a:ext cx="4330700" cy="3975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620000" y="1257300"/>
            <a:ext cx="4330700" cy="330200"/>
          </a:xfrm>
          <a:prstGeom prst="roundRect">
            <a:avLst>
              <a:gd name="adj" fmla="val 5000"/>
            </a:avLst>
          </a:prstGeom>
          <a:solidFill>
            <a:srgbClr val="B80606"/>
          </a:solidFill>
          <a:ln w="762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20000" y="1524000"/>
            <a:ext cx="4330700" cy="63500"/>
          </a:xfrm>
          <a:prstGeom prst="rect">
            <a:avLst/>
          </a:prstGeom>
          <a:solidFill>
            <a:srgbClr val="B80606"/>
          </a:solidFill>
          <a:ln w="254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59700" y="1295400"/>
            <a:ext cx="40513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决策与门槛</a:t>
            </a:r>
          </a:p>
        </p:txBody>
      </p:sp>
      <p:sp>
        <p:nvSpPr>
          <p:cNvPr id="84" name="[decision_title]"/>
          <p:cNvSpPr txBox="1"/>
          <p:nvPr/>
        </p:nvSpPr>
        <p:spPr>
          <a:xfrm>
            <a:off x="7759700" y="1714500"/>
            <a:ext cx="952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4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决策结论</a:t>
            </a:r>
          </a:p>
        </p:txBody>
      </p:sp>
      <p:sp>
        <p:nvSpPr>
          <p:cNvPr id="85" name="[decision_level]"/>
          <p:cNvSpPr txBox="1"/>
          <p:nvPr/>
        </p:nvSpPr>
        <p:spPr>
          <a:xfrm>
            <a:off x="7759700" y="1955800"/>
            <a:ext cx="27305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建议进入小规模试点</a:t>
            </a:r>
          </a:p>
        </p:txBody>
      </p:sp>
      <p:sp>
        <p:nvSpPr>
          <p:cNvPr id="86" name="[decision_summary]"/>
          <p:cNvSpPr txBox="1"/>
          <p:nvPr/>
        </p:nvSpPr>
        <p:spPr>
          <a:xfrm>
            <a:off x="7759700" y="2286000"/>
            <a:ext cx="28067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在收益确定、风险可控且工程依赖清晰的前提下，优先推进试点交付，并设置明确退出阈值。</a:t>
            </a:r>
          </a:p>
        </p:txBody>
      </p:sp>
      <p:sp>
        <p:nvSpPr>
          <p:cNvPr id="87" name="Oval 86"/>
          <p:cNvSpPr/>
          <p:nvPr/>
        </p:nvSpPr>
        <p:spPr>
          <a:xfrm>
            <a:off x="10668000" y="1828800"/>
            <a:ext cx="863600" cy="787400"/>
          </a:xfrm>
          <a:prstGeom prst="ellipse">
            <a:avLst/>
          </a:prstGeom>
          <a:solidFill>
            <a:srgbClr val="EEF4FF"/>
          </a:solidFill>
          <a:ln w="152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[confidence_value]"/>
          <p:cNvSpPr txBox="1"/>
          <p:nvPr/>
        </p:nvSpPr>
        <p:spPr>
          <a:xfrm>
            <a:off x="10617200" y="1993900"/>
            <a:ext cx="9652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82%</a:t>
            </a:r>
          </a:p>
        </p:txBody>
      </p:sp>
      <p:sp>
        <p:nvSpPr>
          <p:cNvPr id="89" name="[confidence_note]"/>
          <p:cNvSpPr txBox="1"/>
          <p:nvPr/>
        </p:nvSpPr>
        <p:spPr>
          <a:xfrm>
            <a:off x="10718800" y="2298700"/>
            <a:ext cx="762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综合置信度</a:t>
            </a:r>
          </a:p>
        </p:txBody>
      </p:sp>
      <p:sp>
        <p:nvSpPr>
          <p:cNvPr id="90" name="[threshold_title]"/>
          <p:cNvSpPr txBox="1"/>
          <p:nvPr/>
        </p:nvSpPr>
        <p:spPr>
          <a:xfrm>
            <a:off x="7759700" y="2832100"/>
            <a:ext cx="2286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进入下一阶段的门槛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759700" y="3378200"/>
            <a:ext cx="3975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759700" y="3124200"/>
            <a:ext cx="1524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◇</a:t>
            </a:r>
          </a:p>
        </p:txBody>
      </p:sp>
      <p:sp>
        <p:nvSpPr>
          <p:cNvPr id="93" name="[th1_label]"/>
          <p:cNvSpPr txBox="1"/>
          <p:nvPr/>
        </p:nvSpPr>
        <p:spPr>
          <a:xfrm>
            <a:off x="7950200" y="3117850"/>
            <a:ext cx="685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效果阈值</a:t>
            </a:r>
          </a:p>
        </p:txBody>
      </p:sp>
      <p:sp>
        <p:nvSpPr>
          <p:cNvPr id="94" name="[th1_value]"/>
          <p:cNvSpPr txBox="1"/>
          <p:nvPr/>
        </p:nvSpPr>
        <p:spPr>
          <a:xfrm>
            <a:off x="8712200" y="3117850"/>
            <a:ext cx="292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核心指标 ≥ +8%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759700" y="3695700"/>
            <a:ext cx="3975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59700" y="3441700"/>
            <a:ext cx="1524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◇</a:t>
            </a:r>
          </a:p>
        </p:txBody>
      </p:sp>
      <p:sp>
        <p:nvSpPr>
          <p:cNvPr id="97" name="[th2_label]"/>
          <p:cNvSpPr txBox="1"/>
          <p:nvPr/>
        </p:nvSpPr>
        <p:spPr>
          <a:xfrm>
            <a:off x="7950200" y="3435350"/>
            <a:ext cx="685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成本阈值</a:t>
            </a:r>
          </a:p>
        </p:txBody>
      </p:sp>
      <p:sp>
        <p:nvSpPr>
          <p:cNvPr id="98" name="[th2_value]"/>
          <p:cNvSpPr txBox="1"/>
          <p:nvPr/>
        </p:nvSpPr>
        <p:spPr>
          <a:xfrm>
            <a:off x="8712200" y="3435350"/>
            <a:ext cx="292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单位成本 ≤ 基线 0.85x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759700" y="4013200"/>
            <a:ext cx="39751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59700" y="3759200"/>
            <a:ext cx="1524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◇</a:t>
            </a:r>
          </a:p>
        </p:txBody>
      </p:sp>
      <p:sp>
        <p:nvSpPr>
          <p:cNvPr id="101" name="[th3_label]"/>
          <p:cNvSpPr txBox="1"/>
          <p:nvPr/>
        </p:nvSpPr>
        <p:spPr>
          <a:xfrm>
            <a:off x="7950200" y="3752850"/>
            <a:ext cx="685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交付阈值</a:t>
            </a:r>
          </a:p>
        </p:txBody>
      </p:sp>
      <p:sp>
        <p:nvSpPr>
          <p:cNvPr id="102" name="[th3_value]"/>
          <p:cNvSpPr txBox="1"/>
          <p:nvPr/>
        </p:nvSpPr>
        <p:spPr>
          <a:xfrm>
            <a:off x="8712200" y="3752850"/>
            <a:ext cx="2921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2 周内完成灰度闭环</a:t>
            </a:r>
          </a:p>
        </p:txBody>
      </p:sp>
      <p:sp>
        <p:nvSpPr>
          <p:cNvPr id="103" name="[risk_title]"/>
          <p:cNvSpPr txBox="1"/>
          <p:nvPr/>
        </p:nvSpPr>
        <p:spPr>
          <a:xfrm>
            <a:off x="7759700" y="4102100"/>
            <a:ext cx="1905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风险校验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759700" y="4318000"/>
            <a:ext cx="39751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861300" y="4387850"/>
            <a:ext cx="139700" cy="139700"/>
          </a:xfrm>
          <a:prstGeom prst="ellipse">
            <a:avLst/>
          </a:prstGeom>
          <a:solidFill>
            <a:srgbClr val="FFF2E3"/>
          </a:solidFill>
          <a:ln w="127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[risk1_label]"/>
          <p:cNvSpPr txBox="1"/>
          <p:nvPr/>
        </p:nvSpPr>
        <p:spPr>
          <a:xfrm>
            <a:off x="8077200" y="4349750"/>
            <a:ext cx="609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数据偏差</a:t>
            </a:r>
          </a:p>
        </p:txBody>
      </p:sp>
      <p:sp>
        <p:nvSpPr>
          <p:cNvPr id="107" name="[risk1_status]"/>
          <p:cNvSpPr txBox="1"/>
          <p:nvPr/>
        </p:nvSpPr>
        <p:spPr>
          <a:xfrm>
            <a:off x="8674100" y="4349750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需监控</a:t>
            </a:r>
          </a:p>
        </p:txBody>
      </p:sp>
      <p:sp>
        <p:nvSpPr>
          <p:cNvPr id="108" name="[risk1_text]"/>
          <p:cNvSpPr txBox="1"/>
          <p:nvPr/>
        </p:nvSpPr>
        <p:spPr>
          <a:xfrm>
            <a:off x="9347200" y="4349750"/>
            <a:ext cx="2260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样本覆盖仍需扩大到长尾场景。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759700" y="4622800"/>
            <a:ext cx="39751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861300" y="4692650"/>
            <a:ext cx="139700" cy="139700"/>
          </a:xfrm>
          <a:prstGeom prst="ellipse">
            <a:avLst/>
          </a:prstGeom>
          <a:solidFill>
            <a:srgbClr val="ECF8F0"/>
          </a:solidFill>
          <a:ln w="1270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[risk2_label]"/>
          <p:cNvSpPr txBox="1"/>
          <p:nvPr/>
        </p:nvSpPr>
        <p:spPr>
          <a:xfrm>
            <a:off x="8077200" y="4654550"/>
            <a:ext cx="609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系统耦合</a:t>
            </a:r>
          </a:p>
        </p:txBody>
      </p:sp>
      <p:sp>
        <p:nvSpPr>
          <p:cNvPr id="112" name="[risk2_status]"/>
          <p:cNvSpPr txBox="1"/>
          <p:nvPr/>
        </p:nvSpPr>
        <p:spPr>
          <a:xfrm>
            <a:off x="8674100" y="4654550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1">
                <a:solidFill>
                  <a:srgbClr val="159A6B"/>
                </a:solidFill>
                <a:latin typeface="微软雅黑"/>
                <a:ea typeface="微软雅黑"/>
                <a:cs typeface="微软雅黑"/>
              </a:rPr>
              <a:t>可缓释</a:t>
            </a:r>
          </a:p>
        </p:txBody>
      </p:sp>
      <p:sp>
        <p:nvSpPr>
          <p:cNvPr id="113" name="[risk2_text]"/>
          <p:cNvSpPr txBox="1"/>
          <p:nvPr/>
        </p:nvSpPr>
        <p:spPr>
          <a:xfrm>
            <a:off x="9347200" y="4654550"/>
            <a:ext cx="2260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通过旁路接入降低主链路侵入。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759700" y="4927600"/>
            <a:ext cx="39751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861300" y="4997450"/>
            <a:ext cx="139700" cy="13970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[risk3_label]"/>
          <p:cNvSpPr txBox="1"/>
          <p:nvPr/>
        </p:nvSpPr>
        <p:spPr>
          <a:xfrm>
            <a:off x="8077200" y="4959350"/>
            <a:ext cx="609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收益回撤</a:t>
            </a:r>
          </a:p>
        </p:txBody>
      </p:sp>
      <p:sp>
        <p:nvSpPr>
          <p:cNvPr id="117" name="[risk3_status]"/>
          <p:cNvSpPr txBox="1"/>
          <p:nvPr/>
        </p:nvSpPr>
        <p:spPr>
          <a:xfrm>
            <a:off x="8674100" y="4959350"/>
            <a:ext cx="5842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设止损</a:t>
            </a:r>
          </a:p>
        </p:txBody>
      </p:sp>
      <p:sp>
        <p:nvSpPr>
          <p:cNvPr id="118" name="[risk3_text]"/>
          <p:cNvSpPr txBox="1"/>
          <p:nvPr/>
        </p:nvSpPr>
        <p:spPr>
          <a:xfrm>
            <a:off x="9347200" y="4959350"/>
            <a:ext cx="2260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连续两周低于阈值则回滚。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41300" y="5346700"/>
            <a:ext cx="11709400" cy="1117600"/>
          </a:xfrm>
          <a:prstGeom prst="roundRect">
            <a:avLst>
              <a:gd name="adj" fmla="val 5000"/>
            </a:avLst>
          </a:prstGeom>
          <a:solidFill>
            <a:srgbClr val="01254D"/>
          </a:solidFill>
          <a:ln w="10160">
            <a:solidFill>
              <a:srgbClr val="01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[final_title]"/>
          <p:cNvSpPr txBox="1"/>
          <p:nvPr/>
        </p:nvSpPr>
        <p:spPr>
          <a:xfrm>
            <a:off x="482600" y="5486400"/>
            <a:ext cx="1333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最终建议</a:t>
            </a:r>
          </a:p>
        </p:txBody>
      </p:sp>
      <p:sp>
        <p:nvSpPr>
          <p:cNvPr id="121" name="[final_action]"/>
          <p:cNvSpPr txBox="1"/>
          <p:nvPr/>
        </p:nvSpPr>
        <p:spPr>
          <a:xfrm>
            <a:off x="482600" y="5740400"/>
            <a:ext cx="2984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20" b="1">
                <a:solidFill>
                  <a:srgbClr val="0B98A4"/>
                </a:solidFill>
                <a:latin typeface="微软雅黑"/>
                <a:ea typeface="微软雅黑"/>
                <a:cs typeface="微软雅黑"/>
              </a:rPr>
              <a:t>先试点、再扩面、保留回滚阈值</a:t>
            </a:r>
          </a:p>
        </p:txBody>
      </p:sp>
      <p:sp>
        <p:nvSpPr>
          <p:cNvPr id="122" name="[final_reason]"/>
          <p:cNvSpPr txBox="1"/>
          <p:nvPr/>
        </p:nvSpPr>
        <p:spPr>
          <a:xfrm>
            <a:off x="482600" y="5981700"/>
            <a:ext cx="33528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证据权重集中在收益和成熟度两侧，风险集中但可被工程门槛约束。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394200" y="5537200"/>
            <a:ext cx="0" cy="69850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[kpi1_title]"/>
          <p:cNvSpPr txBox="1"/>
          <p:nvPr/>
        </p:nvSpPr>
        <p:spPr>
          <a:xfrm>
            <a:off x="4559300" y="54483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综合评分</a:t>
            </a:r>
          </a:p>
        </p:txBody>
      </p:sp>
      <p:sp>
        <p:nvSpPr>
          <p:cNvPr id="125" name="[kpi1_value]"/>
          <p:cNvSpPr txBox="1"/>
          <p:nvPr/>
        </p:nvSpPr>
        <p:spPr>
          <a:xfrm>
            <a:off x="4559300" y="5676900"/>
            <a:ext cx="13970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B98A4"/>
                </a:solidFill>
                <a:latin typeface="微软雅黑"/>
                <a:ea typeface="微软雅黑"/>
                <a:cs typeface="微软雅黑"/>
              </a:rPr>
              <a:t>82/100</a:t>
            </a:r>
          </a:p>
        </p:txBody>
      </p:sp>
      <p:sp>
        <p:nvSpPr>
          <p:cNvPr id="126" name="[kpi1_note]"/>
          <p:cNvSpPr txBox="1"/>
          <p:nvPr/>
        </p:nvSpPr>
        <p:spPr>
          <a:xfrm>
            <a:off x="4559300" y="6045200"/>
            <a:ext cx="1397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达到试点线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756400" y="5537200"/>
            <a:ext cx="0" cy="69850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[kpi2_title]"/>
          <p:cNvSpPr txBox="1"/>
          <p:nvPr/>
        </p:nvSpPr>
        <p:spPr>
          <a:xfrm>
            <a:off x="6921500" y="54483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预期收益</a:t>
            </a:r>
          </a:p>
        </p:txBody>
      </p:sp>
      <p:sp>
        <p:nvSpPr>
          <p:cNvPr id="129" name="[kpi2_value]"/>
          <p:cNvSpPr txBox="1"/>
          <p:nvPr/>
        </p:nvSpPr>
        <p:spPr>
          <a:xfrm>
            <a:off x="6921500" y="5676900"/>
            <a:ext cx="13970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+18%</a:t>
            </a:r>
          </a:p>
        </p:txBody>
      </p:sp>
      <p:sp>
        <p:nvSpPr>
          <p:cNvPr id="130" name="[kpi2_note]"/>
          <p:cNvSpPr txBox="1"/>
          <p:nvPr/>
        </p:nvSpPr>
        <p:spPr>
          <a:xfrm>
            <a:off x="6921500" y="6045200"/>
            <a:ext cx="1397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核心指标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118600" y="5537200"/>
            <a:ext cx="0" cy="698500"/>
          </a:xfrm>
          <a:prstGeom prst="line">
            <a:avLst/>
          </a:prstGeom>
          <a:ln w="11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[kpi3_title]"/>
          <p:cNvSpPr txBox="1"/>
          <p:nvPr/>
        </p:nvSpPr>
        <p:spPr>
          <a:xfrm>
            <a:off x="9283700" y="5448300"/>
            <a:ext cx="1397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回滚阈值</a:t>
            </a:r>
          </a:p>
        </p:txBody>
      </p:sp>
      <p:sp>
        <p:nvSpPr>
          <p:cNvPr id="133" name="[kpi3_value]"/>
          <p:cNvSpPr txBox="1"/>
          <p:nvPr/>
        </p:nvSpPr>
        <p:spPr>
          <a:xfrm>
            <a:off x="9283700" y="5676900"/>
            <a:ext cx="13970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B98A4"/>
                </a:solidFill>
                <a:latin typeface="微软雅黑"/>
                <a:ea typeface="微软雅黑"/>
                <a:cs typeface="微软雅黑"/>
              </a:rPr>
              <a:t>2周</a:t>
            </a:r>
          </a:p>
        </p:txBody>
      </p:sp>
      <p:sp>
        <p:nvSpPr>
          <p:cNvPr id="134" name="[kpi3_note]"/>
          <p:cNvSpPr txBox="1"/>
          <p:nvPr/>
        </p:nvSpPr>
        <p:spPr>
          <a:xfrm>
            <a:off x="9283700" y="6045200"/>
            <a:ext cx="1397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连续低于线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
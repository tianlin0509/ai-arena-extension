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[chip]"/>
          <p:cNvSpPr txBox="1"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昇腾算力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1473200" y="228600"/>
            <a:ext cx="92075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B90A0A"/>
                </a:solidFill>
                <a:latin typeface="Microsoft YaHei"/>
                <a:ea typeface="Microsoft YaHei"/>
              </a:rPr>
              <a:t>昇腾 AI 平台四大核心能力: 大模型训练效率提升 45%, 自主可控率 100%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1366500" y="304800"/>
            <a:ext cx="419100" cy="241300"/>
          </a:xfrm>
          <a:prstGeom prst="line">
            <a:avLst/>
          </a:prstGeom>
          <a:ln w="2286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1000" y="825500"/>
            <a:ext cx="26670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1000" y="825500"/>
            <a:ext cx="2667000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24000" y="990599"/>
            <a:ext cx="381000" cy="381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4000" y="990599"/>
            <a:ext cx="381000" cy="381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[card1_name]"/>
          <p:cNvSpPr txBox="1"/>
          <p:nvPr/>
        </p:nvSpPr>
        <p:spPr>
          <a:xfrm>
            <a:off x="571500" y="1447800"/>
            <a:ext cx="22860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262626"/>
                </a:solidFill>
                <a:latin typeface="Microsoft YaHei"/>
                <a:ea typeface="Microsoft YaHei"/>
              </a:rPr>
              <a:t>算力底座</a:t>
            </a:r>
          </a:p>
        </p:txBody>
      </p:sp>
      <p:sp>
        <p:nvSpPr>
          <p:cNvPr id="11" name="[card1_pos]"/>
          <p:cNvSpPr txBox="1"/>
          <p:nvPr/>
        </p:nvSpPr>
        <p:spPr>
          <a:xfrm>
            <a:off x="571500" y="1727200"/>
            <a:ext cx="22860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昇腾 910B 万卡集群, 澎湃算力供给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5000" y="2171700"/>
            <a:ext cx="21590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[card1_bullets]"/>
          <p:cNvSpPr txBox="1"/>
          <p:nvPr/>
        </p:nvSpPr>
        <p:spPr>
          <a:xfrm>
            <a:off x="546100" y="2273300"/>
            <a:ext cx="2336800" cy="13335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</a:rPr>
              <a:t>昇腾 910B 单集群已实现 8192 卡组网, 集群线性度保持在 90% 以上, 算力利用率由 58% 提升至 86%。液冷方案将 PUE 降至 1.12, 整体能耗下降 28%; 断点续训恢复时间小于 10 分钟, 已支撑千卡级长稳训练连续运行 30 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000" y="3695700"/>
            <a:ext cx="1905000" cy="2794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[card1_kpi]"/>
          <p:cNvSpPr txBox="1"/>
          <p:nvPr/>
        </p:nvSpPr>
        <p:spPr>
          <a:xfrm>
            <a:off x="762000" y="3695700"/>
            <a:ext cx="19050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62626"/>
                </a:solidFill>
                <a:latin typeface="Microsoft YaHei"/>
                <a:ea typeface="Microsoft YaHei"/>
              </a:rPr>
              <a:t>算力利用率 86%</a:t>
            </a:r>
          </a:p>
        </p:txBody>
      </p:sp>
      <p:sp>
        <p:nvSpPr>
          <p:cNvPr id="16" name="[card1_note]"/>
          <p:cNvSpPr txBox="1"/>
          <p:nvPr/>
        </p:nvSpPr>
        <p:spPr>
          <a:xfrm>
            <a:off x="571500" y="4064000"/>
            <a:ext cx="22860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典型局点: 某省智算中心 8192 卡集群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9899" y="4610100"/>
            <a:ext cx="2489200" cy="7366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6900" y="4776354"/>
            <a:ext cx="3556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400" b="1" i="0">
                <a:solidFill>
                  <a:srgbClr val="1F4E79"/>
                </a:solidFill>
                <a:latin typeface="Microsoft YaHei"/>
                <a:ea typeface="Microsoft YaHei"/>
              </a:rPr>
              <a:t>⚙</a:t>
            </a:r>
          </a:p>
        </p:txBody>
      </p:sp>
      <p:sp>
        <p:nvSpPr>
          <p:cNvPr id="19" name="[card1_scene]"/>
          <p:cNvSpPr txBox="1"/>
          <p:nvPr/>
        </p:nvSpPr>
        <p:spPr>
          <a:xfrm>
            <a:off x="1041400" y="4699000"/>
            <a:ext cx="1828800" cy="558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</a:rPr>
              <a:t>智算中心万卡集群分钟级扩容, 训练任务排队时间从小时级降至分钟级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86100" y="3175000"/>
            <a:ext cx="177800" cy="0"/>
          </a:xfrm>
          <a:prstGeom prst="line">
            <a:avLst/>
          </a:prstGeom>
          <a:ln w="2032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302000" y="825500"/>
            <a:ext cx="26670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02000" y="825500"/>
            <a:ext cx="2667000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45000" y="990599"/>
            <a:ext cx="381000" cy="381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5000" y="990599"/>
            <a:ext cx="381000" cy="381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5" name="[card2_name]"/>
          <p:cNvSpPr txBox="1"/>
          <p:nvPr/>
        </p:nvSpPr>
        <p:spPr>
          <a:xfrm>
            <a:off x="3492500" y="1447800"/>
            <a:ext cx="22860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262626"/>
                </a:solidFill>
                <a:latin typeface="Microsoft YaHei"/>
                <a:ea typeface="Microsoft YaHei"/>
              </a:rPr>
              <a:t>数据使能</a:t>
            </a:r>
          </a:p>
        </p:txBody>
      </p:sp>
      <p:sp>
        <p:nvSpPr>
          <p:cNvPr id="26" name="[card2_pos]"/>
          <p:cNvSpPr txBox="1"/>
          <p:nvPr/>
        </p:nvSpPr>
        <p:spPr>
          <a:xfrm>
            <a:off x="3492500" y="1727200"/>
            <a:ext cx="22860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全链路数据工程, 喂饱大模型训练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556000" y="2171700"/>
            <a:ext cx="21590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[card2_bullets]"/>
          <p:cNvSpPr txBox="1"/>
          <p:nvPr/>
        </p:nvSpPr>
        <p:spPr>
          <a:xfrm>
            <a:off x="3467100" y="2273300"/>
            <a:ext cx="2336800" cy="13335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</a:rPr>
              <a:t>全链路数据工程平台实现 TB 级语料清洗吞吐 2.4GB/s, 多模态自动标注效率提升 3 倍, 脏数据召回率达 99.2%。数据血缘全程可溯, 合规审计覆盖率 100%, 语料以每周 1.2TB 的速度持续入湖, 为大模型训练提供稳定供给。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83000" y="3695700"/>
            <a:ext cx="1905000" cy="2794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[card2_kpi]"/>
          <p:cNvSpPr txBox="1"/>
          <p:nvPr/>
        </p:nvSpPr>
        <p:spPr>
          <a:xfrm>
            <a:off x="3683000" y="3695700"/>
            <a:ext cx="19050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62626"/>
                </a:solidFill>
                <a:latin typeface="Microsoft YaHei"/>
                <a:ea typeface="Microsoft YaHei"/>
              </a:rPr>
              <a:t>标注效率 ×3</a:t>
            </a:r>
          </a:p>
        </p:txBody>
      </p:sp>
      <p:sp>
        <p:nvSpPr>
          <p:cNvPr id="31" name="[card2_note]"/>
          <p:cNvSpPr txBox="1"/>
          <p:nvPr/>
        </p:nvSpPr>
        <p:spPr>
          <a:xfrm>
            <a:off x="3492500" y="4064000"/>
            <a:ext cx="22860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典型局点: 千亿模型语料工程全流程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90900" y="4610100"/>
            <a:ext cx="2489200" cy="7366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17900" y="4800600"/>
            <a:ext cx="355600" cy="113145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17900" y="4913745"/>
            <a:ext cx="355600" cy="113145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17900" y="5026890"/>
            <a:ext cx="355600" cy="113145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[card2_scene]"/>
          <p:cNvSpPr txBox="1"/>
          <p:nvPr/>
        </p:nvSpPr>
        <p:spPr>
          <a:xfrm>
            <a:off x="3962399" y="4699000"/>
            <a:ext cx="1828800" cy="558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</a:rPr>
              <a:t>原始语料自动完成清洗-去重-标注流水线, 工程师聚焦高价值样本治理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07100" y="3175000"/>
            <a:ext cx="177800" cy="0"/>
          </a:xfrm>
          <a:prstGeom prst="line">
            <a:avLst/>
          </a:prstGeom>
          <a:ln w="2032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223000" y="825500"/>
            <a:ext cx="26670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23000" y="825500"/>
            <a:ext cx="2667000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66000" y="990599"/>
            <a:ext cx="381000" cy="381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6000" y="990599"/>
            <a:ext cx="381000" cy="381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42" name="[card3_name]"/>
          <p:cNvSpPr txBox="1"/>
          <p:nvPr/>
        </p:nvSpPr>
        <p:spPr>
          <a:xfrm>
            <a:off x="6413500" y="1447800"/>
            <a:ext cx="22860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262626"/>
                </a:solidFill>
                <a:latin typeface="Microsoft YaHei"/>
                <a:ea typeface="Microsoft YaHei"/>
              </a:rPr>
              <a:t>云边协同</a:t>
            </a:r>
          </a:p>
        </p:txBody>
      </p:sp>
      <p:sp>
        <p:nvSpPr>
          <p:cNvPr id="43" name="[card3_pos]"/>
          <p:cNvSpPr txBox="1"/>
          <p:nvPr/>
        </p:nvSpPr>
        <p:spPr>
          <a:xfrm>
            <a:off x="6413500" y="1727200"/>
            <a:ext cx="22860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训推一体调度, 云边端无缝流转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477000" y="2171700"/>
            <a:ext cx="21590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[card3_bullets]"/>
          <p:cNvSpPr txBox="1"/>
          <p:nvPr/>
        </p:nvSpPr>
        <p:spPr>
          <a:xfrm>
            <a:off x="6388100" y="2273300"/>
            <a:ext cx="2336800" cy="13335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</a:rPr>
              <a:t>训推一体调度平台支持一键下发 3000 余个边缘节点, 增量更新包压缩 80%, 配置变更分钟级生效。边缘推理时延稳定低于 20ms, 业务 SLA 达标率 99.9%, 云边模型版本自动对齐, 保障规模化部署下的体验一致性。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04000" y="3695700"/>
            <a:ext cx="1905000" cy="2794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[card3_kpi]"/>
          <p:cNvSpPr txBox="1"/>
          <p:nvPr/>
        </p:nvSpPr>
        <p:spPr>
          <a:xfrm>
            <a:off x="6604000" y="3695700"/>
            <a:ext cx="19050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62626"/>
                </a:solidFill>
                <a:latin typeface="Microsoft YaHei"/>
                <a:ea typeface="Microsoft YaHei"/>
              </a:rPr>
              <a:t>推理时延 &lt;20ms</a:t>
            </a:r>
          </a:p>
        </p:txBody>
      </p:sp>
      <p:sp>
        <p:nvSpPr>
          <p:cNvPr id="48" name="[card3_note]"/>
          <p:cNvSpPr txBox="1"/>
          <p:nvPr/>
        </p:nvSpPr>
        <p:spPr>
          <a:xfrm>
            <a:off x="6413500" y="4064000"/>
            <a:ext cx="22860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典型局点: 制造质检 3000+ 边缘节点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11900" y="4610100"/>
            <a:ext cx="2489200" cy="7366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38900" y="4776354"/>
            <a:ext cx="3556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400" b="1" i="0">
                <a:solidFill>
                  <a:srgbClr val="1F4E79"/>
                </a:solidFill>
                <a:latin typeface="Microsoft YaHei"/>
                <a:ea typeface="Microsoft YaHei"/>
              </a:rPr>
              <a:t>☁</a:t>
            </a:r>
          </a:p>
        </p:txBody>
      </p:sp>
      <p:sp>
        <p:nvSpPr>
          <p:cNvPr id="51" name="[card3_scene]"/>
          <p:cNvSpPr txBox="1"/>
          <p:nvPr/>
        </p:nvSpPr>
        <p:spPr>
          <a:xfrm>
            <a:off x="6883400" y="4699000"/>
            <a:ext cx="1828800" cy="558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</a:rPr>
              <a:t>园区质检相机就地推理, 异常帧秒级上云复核, 回传带宽成本明显下降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928100" y="3175000"/>
            <a:ext cx="177800" cy="0"/>
          </a:xfrm>
          <a:prstGeom prst="line">
            <a:avLst/>
          </a:prstGeom>
          <a:ln w="2032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144000" y="825500"/>
            <a:ext cx="26670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44000" y="825500"/>
            <a:ext cx="2667000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287000" y="990599"/>
            <a:ext cx="381000" cy="381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87000" y="990599"/>
            <a:ext cx="381000" cy="381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57" name="[card4_name]"/>
          <p:cNvSpPr txBox="1"/>
          <p:nvPr/>
        </p:nvSpPr>
        <p:spPr>
          <a:xfrm>
            <a:off x="9334500" y="1447800"/>
            <a:ext cx="22860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262626"/>
                </a:solidFill>
                <a:latin typeface="Microsoft YaHei"/>
                <a:ea typeface="Microsoft YaHei"/>
              </a:rPr>
              <a:t>极致性能</a:t>
            </a:r>
          </a:p>
        </p:txBody>
      </p:sp>
      <p:sp>
        <p:nvSpPr>
          <p:cNvPr id="58" name="[card4_pos]"/>
          <p:cNvSpPr txBox="1"/>
          <p:nvPr/>
        </p:nvSpPr>
        <p:spPr>
          <a:xfrm>
            <a:off x="9334500" y="1727200"/>
            <a:ext cx="22860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软硬协同调优, 释放每一分算力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398000" y="2171700"/>
            <a:ext cx="21590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[card4_bullets]"/>
          <p:cNvSpPr txBox="1"/>
          <p:nvPr/>
        </p:nvSpPr>
        <p:spPr>
          <a:xfrm>
            <a:off x="9309100" y="2273300"/>
            <a:ext cx="2336800" cy="13335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</a:rPr>
              <a:t>通过图编译融合算子优化, 训练吞吐提升 37%, 通信计算重叠使 MFU 达到 52%, 长序列训练显存占用下降 35%。量化无损压缩使推理成本降低 41%, 首 token 时延下降 48%, 单位算力成本实现年降 30%。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25000" y="3695700"/>
            <a:ext cx="1905000" cy="2794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[card4_kpi]"/>
          <p:cNvSpPr txBox="1"/>
          <p:nvPr/>
        </p:nvSpPr>
        <p:spPr>
          <a:xfrm>
            <a:off x="9525000" y="3695700"/>
            <a:ext cx="19050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62626"/>
                </a:solidFill>
                <a:latin typeface="Microsoft YaHei"/>
                <a:ea typeface="Microsoft YaHei"/>
              </a:rPr>
              <a:t>MFU 52%</a:t>
            </a:r>
          </a:p>
        </p:txBody>
      </p:sp>
      <p:sp>
        <p:nvSpPr>
          <p:cNvPr id="63" name="[card4_note]"/>
          <p:cNvSpPr txBox="1"/>
          <p:nvPr/>
        </p:nvSpPr>
        <p:spPr>
          <a:xfrm>
            <a:off x="9334500" y="4064000"/>
            <a:ext cx="22860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典型局点: 盘古大模型训推全链路调优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32900" y="4610100"/>
            <a:ext cx="2489200" cy="7366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59900" y="4784436"/>
            <a:ext cx="3556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100" b="1" i="0">
                <a:solidFill>
                  <a:srgbClr val="1F4E79"/>
                </a:solidFill>
                <a:latin typeface="Microsoft YaHei"/>
                <a:ea typeface="Microsoft YaHei"/>
              </a:rPr>
              <a:t>⚡</a:t>
            </a:r>
          </a:p>
        </p:txBody>
      </p:sp>
      <p:sp>
        <p:nvSpPr>
          <p:cNvPr id="66" name="[card4_scene]"/>
          <p:cNvSpPr txBox="1"/>
          <p:nvPr/>
        </p:nvSpPr>
        <p:spPr>
          <a:xfrm>
            <a:off x="9804400" y="4699000"/>
            <a:ext cx="1828800" cy="558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</a:rPr>
              <a:t>同一套模型在训练集群与边缘设备间无缝迁移, 调优收益全链路放大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1000" y="5683250"/>
            <a:ext cx="11430000" cy="558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81000" y="5683250"/>
            <a:ext cx="50800" cy="5588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[bottom_concl]"/>
          <p:cNvSpPr txBox="1"/>
          <p:nvPr/>
        </p:nvSpPr>
        <p:spPr>
          <a:xfrm>
            <a:off x="584200" y="5683250"/>
            <a:ext cx="8953500" cy="558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</a:rPr>
              <a:t>四大能力环环相扣, 构筑自主可控 AI 算力底座, 支撑盘古大模型迭代周期从 3 个月压缩至 6 周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779000" y="5816600"/>
            <a:ext cx="1841500" cy="2921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[kpi1]"/>
          <p:cNvSpPr txBox="1"/>
          <p:nvPr/>
        </p:nvSpPr>
        <p:spPr>
          <a:xfrm>
            <a:off x="9779000" y="5816600"/>
            <a:ext cx="1841500" cy="292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</a:rPr>
              <a:t>训练效率 +45%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
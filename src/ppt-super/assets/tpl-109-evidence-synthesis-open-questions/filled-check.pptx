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5100" y="114300"/>
            <a:ext cx="10795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6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结论：</a:t>
            </a:r>
          </a:p>
        </p:txBody>
      </p:sp>
      <p:sp>
        <p:nvSpPr>
          <p:cNvPr id="3" name="[title_main]"/>
          <p:cNvSpPr txBox="1"/>
          <p:nvPr/>
        </p:nvSpPr>
        <p:spPr>
          <a:xfrm>
            <a:off x="1238250" y="114300"/>
            <a:ext cx="105410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6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主误差项已被有效抑制，泛化与鲁棒性仍是突破关键</a:t>
            </a:r>
          </a:p>
        </p:txBody>
      </p:sp>
      <p:sp>
        <p:nvSpPr>
          <p:cNvPr id="4" name="[subtitle]"/>
          <p:cNvSpPr txBox="1"/>
          <p:nvPr/>
        </p:nvSpPr>
        <p:spPr>
          <a:xfrm>
            <a:off x="203200" y="584200"/>
            <a:ext cx="111760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在多源数据与统一评测下，本方法在精度、效率与鲁棒性方面取得一致性提升，但在长尾分布漂移与对抗扰动场景下仍存线索。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" y="1028700"/>
            <a:ext cx="6604000" cy="558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[left_title]"/>
          <p:cNvSpPr txBox="1"/>
          <p:nvPr/>
        </p:nvSpPr>
        <p:spPr>
          <a:xfrm>
            <a:off x="152400" y="1168400"/>
            <a:ext cx="6604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8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证据合成与结论归纳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400" y="1473200"/>
            <a:ext cx="20193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9100" y="1625600"/>
            <a:ext cx="266700" cy="2667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50" y="164465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E1</a:t>
            </a:r>
          </a:p>
        </p:txBody>
      </p:sp>
      <p:sp>
        <p:nvSpPr>
          <p:cNvPr id="10" name="[ev1_title]"/>
          <p:cNvSpPr txBox="1"/>
          <p:nvPr/>
        </p:nvSpPr>
        <p:spPr>
          <a:xfrm>
            <a:off x="774700" y="1625600"/>
            <a:ext cx="133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精度提升证据</a:t>
            </a:r>
          </a:p>
        </p:txBody>
      </p:sp>
      <p:sp>
        <p:nvSpPr>
          <p:cNvPr id="11" name="[ev1_metric]"/>
          <p:cNvSpPr txBox="1"/>
          <p:nvPr/>
        </p:nvSpPr>
        <p:spPr>
          <a:xfrm>
            <a:off x="571500" y="1866900"/>
            <a:ext cx="17018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多数据集对比（Acc@1）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" y="2286000"/>
            <a:ext cx="1333500" cy="952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56970" y="2609850"/>
            <a:ext cx="264160" cy="182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202690" y="2675890"/>
            <a:ext cx="60960" cy="6096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63650" y="2675890"/>
            <a:ext cx="55880" cy="4572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19530" y="2650490"/>
            <a:ext cx="60960" cy="7112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1200" y="29718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柱状/对比图</a:t>
            </a:r>
          </a:p>
        </p:txBody>
      </p:sp>
      <p:sp>
        <p:nvSpPr>
          <p:cNvPr id="18" name="[ev1_bullets]"/>
          <p:cNvSpPr txBox="1"/>
          <p:nvPr/>
        </p:nvSpPr>
        <p:spPr>
          <a:xfrm>
            <a:off x="393700" y="3403600"/>
            <a:ext cx="17907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6 个主流数据集平均提升 +4.4pp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95% CI 不重叠，提升具统计显著性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5700" y="1473200"/>
            <a:ext cx="20193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65400" y="1625600"/>
            <a:ext cx="266700" cy="2667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6350" y="164465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E2</a:t>
            </a:r>
          </a:p>
        </p:txBody>
      </p:sp>
      <p:sp>
        <p:nvSpPr>
          <p:cNvPr id="22" name="[ev2_title]"/>
          <p:cNvSpPr txBox="1"/>
          <p:nvPr/>
        </p:nvSpPr>
        <p:spPr>
          <a:xfrm>
            <a:off x="2921000" y="1625600"/>
            <a:ext cx="133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效率改善证据</a:t>
            </a:r>
          </a:p>
        </p:txBody>
      </p:sp>
      <p:sp>
        <p:nvSpPr>
          <p:cNvPr id="23" name="[ev2_metric]"/>
          <p:cNvSpPr txBox="1"/>
          <p:nvPr/>
        </p:nvSpPr>
        <p:spPr>
          <a:xfrm>
            <a:off x="2717800" y="1866900"/>
            <a:ext cx="17018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端到端时延（P95）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8600" y="2286000"/>
            <a:ext cx="1333500" cy="952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03270" y="2609850"/>
            <a:ext cx="264160" cy="182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3348990" y="2675890"/>
            <a:ext cx="60960" cy="6096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09950" y="2675890"/>
            <a:ext cx="55880" cy="4572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65830" y="2650490"/>
            <a:ext cx="60960" cy="7112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57500" y="29718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趋势/负载图</a:t>
            </a:r>
          </a:p>
        </p:txBody>
      </p:sp>
      <p:sp>
        <p:nvSpPr>
          <p:cNvPr id="30" name="[ev2_bullets]"/>
          <p:cNvSpPr txBox="1"/>
          <p:nvPr/>
        </p:nvSpPr>
        <p:spPr>
          <a:xfrm>
            <a:off x="2540000" y="3403600"/>
            <a:ext cx="17907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P95 时延平均下降 38.6%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整体负载下保持稳定优势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1473200"/>
            <a:ext cx="20193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11700" y="1625600"/>
            <a:ext cx="266700" cy="2667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2650" y="1644650"/>
            <a:ext cx="304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E3</a:t>
            </a:r>
          </a:p>
        </p:txBody>
      </p:sp>
      <p:sp>
        <p:nvSpPr>
          <p:cNvPr id="34" name="[ev3_title]"/>
          <p:cNvSpPr txBox="1"/>
          <p:nvPr/>
        </p:nvSpPr>
        <p:spPr>
          <a:xfrm>
            <a:off x="5067300" y="1625600"/>
            <a:ext cx="13335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鲁棒性增强证据</a:t>
            </a:r>
          </a:p>
        </p:txBody>
      </p:sp>
      <p:sp>
        <p:nvSpPr>
          <p:cNvPr id="35" name="[ev3_metric]"/>
          <p:cNvSpPr txBox="1"/>
          <p:nvPr/>
        </p:nvSpPr>
        <p:spPr>
          <a:xfrm>
            <a:off x="4864100" y="1866900"/>
            <a:ext cx="17018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4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分布漂移下误差（MAE）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4900" y="2286000"/>
            <a:ext cx="1333500" cy="9525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49570" y="2609850"/>
            <a:ext cx="264160" cy="182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495290" y="2675890"/>
            <a:ext cx="60960" cy="6096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56250" y="2675890"/>
            <a:ext cx="55880" cy="4572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612130" y="2650490"/>
            <a:ext cx="60960" cy="7112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03800" y="2971800"/>
            <a:ext cx="11557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2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误差/鲁棒性图</a:t>
            </a:r>
          </a:p>
        </p:txBody>
      </p:sp>
      <p:sp>
        <p:nvSpPr>
          <p:cNvPr id="42" name="[ev3_bullets]"/>
          <p:cNvSpPr txBox="1"/>
          <p:nvPr/>
        </p:nvSpPr>
        <p:spPr>
          <a:xfrm>
            <a:off x="4686300" y="3403600"/>
            <a:ext cx="17907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弱到中等漂移区间误差降低 31.2%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强漂移时仍出现泛化退化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09700" y="4159250"/>
            <a:ext cx="0" cy="266700"/>
          </a:xfrm>
          <a:prstGeom prst="line">
            <a:avLst/>
          </a:prstGeom>
          <a:ln w="1905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09700" y="4425950"/>
            <a:ext cx="4222750" cy="0"/>
          </a:xfrm>
          <a:prstGeom prst="line">
            <a:avLst/>
          </a:prstGeom>
          <a:ln w="1905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92500" y="4159250"/>
            <a:ext cx="0" cy="730250"/>
          </a:xfrm>
          <a:prstGeom prst="line">
            <a:avLst/>
          </a:prstGeom>
          <a:ln w="1905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32450" y="4159250"/>
            <a:ext cx="0" cy="266700"/>
          </a:xfrm>
          <a:prstGeom prst="line">
            <a:avLst/>
          </a:prstGeom>
          <a:ln w="1905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ight Arrow 46"/>
          <p:cNvSpPr/>
          <p:nvPr/>
        </p:nvSpPr>
        <p:spPr>
          <a:xfrm>
            <a:off x="3397250" y="4622800"/>
            <a:ext cx="215900" cy="3556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0600" y="4889500"/>
            <a:ext cx="4749800" cy="990600"/>
          </a:xfrm>
          <a:prstGeom prst="roundRect">
            <a:avLst>
              <a:gd name="adj" fmla="val 5000"/>
            </a:avLst>
          </a:prstGeom>
          <a:solidFill>
            <a:srgbClr val="F8FAFD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93800" y="5092700"/>
            <a:ext cx="584200" cy="5842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98956" y="5197856"/>
            <a:ext cx="373888" cy="37388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86586" y="5285486"/>
            <a:ext cx="198628" cy="1986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456690" y="5355590"/>
            <a:ext cx="58420" cy="58420"/>
          </a:xfrm>
          <a:prstGeom prst="ellipse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1544320" y="5151120"/>
            <a:ext cx="175260" cy="175260"/>
          </a:xfrm>
          <a:prstGeom prst="line">
            <a:avLst/>
          </a:prstGeom>
          <a:ln w="381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49476" y="5151120"/>
            <a:ext cx="70104" cy="0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719580" y="5151120"/>
            <a:ext cx="0" cy="70104"/>
          </a:xfrm>
          <a:prstGeom prst="line">
            <a:avLst/>
          </a:prstGeom>
          <a:ln w="254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[conclusion_title]"/>
          <p:cNvSpPr txBox="1"/>
          <p:nvPr/>
        </p:nvSpPr>
        <p:spPr>
          <a:xfrm>
            <a:off x="2095500" y="5041900"/>
            <a:ext cx="31750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技术结论</a:t>
            </a:r>
          </a:p>
        </p:txBody>
      </p:sp>
      <p:sp>
        <p:nvSpPr>
          <p:cNvPr id="57" name="[conclusion_text]"/>
          <p:cNvSpPr txBox="1"/>
          <p:nvPr/>
        </p:nvSpPr>
        <p:spPr>
          <a:xfrm>
            <a:off x="2070100" y="5283200"/>
            <a:ext cx="3302000" cy="54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本方法在精度、效率与鲁棒性方面取得一致性提升，主要误差来源已被有效抑制，整体性能显著优于基线；但在长尾与强分布漂移场景下仍存在可观的泛化缺口。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34200" y="1054100"/>
            <a:ext cx="5016500" cy="5562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934200" y="1054100"/>
            <a:ext cx="5016500" cy="3937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34200" y="1270000"/>
            <a:ext cx="5016500" cy="1778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[right_title]"/>
          <p:cNvSpPr txBox="1"/>
          <p:nvPr/>
        </p:nvSpPr>
        <p:spPr>
          <a:xfrm>
            <a:off x="6934200" y="1117600"/>
            <a:ext cx="50165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2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开放问题与下一步假设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5650" y="1695450"/>
            <a:ext cx="82550" cy="8255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[issue1_label]"/>
          <p:cNvSpPr txBox="1"/>
          <p:nvPr/>
        </p:nvSpPr>
        <p:spPr>
          <a:xfrm>
            <a:off x="7302500" y="1651000"/>
            <a:ext cx="1498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长尾泛化不足：</a:t>
            </a:r>
          </a:p>
        </p:txBody>
      </p:sp>
      <p:sp>
        <p:nvSpPr>
          <p:cNvPr id="64" name="[issue1_text]"/>
          <p:cNvSpPr txBox="1"/>
          <p:nvPr/>
        </p:nvSpPr>
        <p:spPr>
          <a:xfrm>
            <a:off x="8788400" y="1638300"/>
            <a:ext cx="2768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在样本稀缺与长尾分布下，特征表达仍偏向头部模式，导致类内方差增大、决策边界不稳定。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99300" y="2101850"/>
            <a:ext cx="4686300" cy="0"/>
          </a:xfrm>
          <a:prstGeom prst="line">
            <a:avLst/>
          </a:prstGeom>
          <a:ln w="1270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105650" y="2305050"/>
            <a:ext cx="82550" cy="8255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[issue2_label]"/>
          <p:cNvSpPr txBox="1"/>
          <p:nvPr/>
        </p:nvSpPr>
        <p:spPr>
          <a:xfrm>
            <a:off x="7302500" y="2260600"/>
            <a:ext cx="1498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强分布漂移退化：</a:t>
            </a:r>
          </a:p>
        </p:txBody>
      </p:sp>
      <p:sp>
        <p:nvSpPr>
          <p:cNvPr id="68" name="[issue2_text]"/>
          <p:cNvSpPr txBox="1"/>
          <p:nvPr/>
        </p:nvSpPr>
        <p:spPr>
          <a:xfrm>
            <a:off x="8788400" y="2247900"/>
            <a:ext cx="2768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当漂移强度超过阈值后，误差呈非线性放大，现有对齐与校准机制无法完全覆盖跨域差异。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099300" y="2711450"/>
            <a:ext cx="4686300" cy="0"/>
          </a:xfrm>
          <a:prstGeom prst="line">
            <a:avLst/>
          </a:prstGeom>
          <a:ln w="1270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7105650" y="2914650"/>
            <a:ext cx="82550" cy="8255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[issue3_label]"/>
          <p:cNvSpPr txBox="1"/>
          <p:nvPr/>
        </p:nvSpPr>
        <p:spPr>
          <a:xfrm>
            <a:off x="7302500" y="2870200"/>
            <a:ext cx="1498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不确定性建模不足：</a:t>
            </a:r>
          </a:p>
        </p:txBody>
      </p:sp>
      <p:sp>
        <p:nvSpPr>
          <p:cNvPr id="72" name="[issue3_text]"/>
          <p:cNvSpPr txBox="1"/>
          <p:nvPr/>
        </p:nvSpPr>
        <p:spPr>
          <a:xfrm>
            <a:off x="8788400" y="2857500"/>
            <a:ext cx="2768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置信度估计在高不确定区域存在明显偏置，影响风险评估与错误检出。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099300" y="3321050"/>
            <a:ext cx="4686300" cy="0"/>
          </a:xfrm>
          <a:prstGeom prst="line">
            <a:avLst/>
          </a:prstGeom>
          <a:ln w="1270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7105650" y="3524250"/>
            <a:ext cx="82550" cy="8255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[issue4_label]"/>
          <p:cNvSpPr txBox="1"/>
          <p:nvPr/>
        </p:nvSpPr>
        <p:spPr>
          <a:xfrm>
            <a:off x="7302500" y="3479800"/>
            <a:ext cx="1498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对抗与噪声敏感：</a:t>
            </a:r>
          </a:p>
        </p:txBody>
      </p:sp>
      <p:sp>
        <p:nvSpPr>
          <p:cNvPr id="76" name="[issue4_text]"/>
          <p:cNvSpPr txBox="1"/>
          <p:nvPr/>
        </p:nvSpPr>
        <p:spPr>
          <a:xfrm>
            <a:off x="8788400" y="3467100"/>
            <a:ext cx="2768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在对抗扰动与强噪声条件下，鲁棒性下降较快，需要联合训练策略与输入空间优化。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099300" y="3930650"/>
            <a:ext cx="4686300" cy="0"/>
          </a:xfrm>
          <a:prstGeom prst="line">
            <a:avLst/>
          </a:prstGeom>
          <a:ln w="1270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105650" y="4133850"/>
            <a:ext cx="82550" cy="8255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[issue5_label]"/>
          <p:cNvSpPr txBox="1"/>
          <p:nvPr/>
        </p:nvSpPr>
        <p:spPr>
          <a:xfrm>
            <a:off x="7302500" y="4089400"/>
            <a:ext cx="1498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计算与存储瓶颈：</a:t>
            </a:r>
          </a:p>
        </p:txBody>
      </p:sp>
      <p:sp>
        <p:nvSpPr>
          <p:cNvPr id="80" name="[issue5_text]"/>
          <p:cNvSpPr txBox="1"/>
          <p:nvPr/>
        </p:nvSpPr>
        <p:spPr>
          <a:xfrm>
            <a:off x="8788400" y="4076700"/>
            <a:ext cx="2768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在大规模模型与长序列设置下，占用与计算开销仍高，需要近似计算与算子级优化。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099300" y="4540250"/>
            <a:ext cx="4686300" cy="0"/>
          </a:xfrm>
          <a:prstGeom prst="line">
            <a:avLst/>
          </a:prstGeom>
          <a:ln w="1270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7105650" y="4743450"/>
            <a:ext cx="82550" cy="8255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[issue6_label]"/>
          <p:cNvSpPr txBox="1"/>
          <p:nvPr/>
        </p:nvSpPr>
        <p:spPr>
          <a:xfrm>
            <a:off x="7302500" y="4699000"/>
            <a:ext cx="1498600" cy="203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可解释性与可验证性：</a:t>
            </a:r>
          </a:p>
        </p:txBody>
      </p:sp>
      <p:sp>
        <p:nvSpPr>
          <p:cNvPr id="84" name="[issue6_text]"/>
          <p:cNvSpPr txBox="1"/>
          <p:nvPr/>
        </p:nvSpPr>
        <p:spPr>
          <a:xfrm>
            <a:off x="8788400" y="4686300"/>
            <a:ext cx="2768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9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模型决策依据仍难以形式化表达与验证，需要细粒度归因与因果验证框架。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86600" y="5308600"/>
            <a:ext cx="2222500" cy="1054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9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7289800" y="5822950"/>
            <a:ext cx="177800" cy="152400"/>
          </a:xfrm>
          <a:prstGeom prst="line">
            <a:avLst/>
          </a:prstGeom>
          <a:ln w="50800">
            <a:solidFill>
              <a:srgbClr val="0B9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467600" y="5822950"/>
            <a:ext cx="107950" cy="63500"/>
          </a:xfrm>
          <a:prstGeom prst="line">
            <a:avLst/>
          </a:prstGeom>
          <a:ln w="50800">
            <a:solidFill>
              <a:srgbClr val="0B9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575550" y="5695950"/>
            <a:ext cx="209550" cy="190500"/>
          </a:xfrm>
          <a:prstGeom prst="line">
            <a:avLst/>
          </a:prstGeom>
          <a:ln w="50800">
            <a:solidFill>
              <a:srgbClr val="0B9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683500" y="5695950"/>
            <a:ext cx="101600" cy="0"/>
          </a:xfrm>
          <a:prstGeom prst="line">
            <a:avLst/>
          </a:prstGeom>
          <a:ln w="50800">
            <a:solidFill>
              <a:srgbClr val="0B9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785100" y="5695950"/>
            <a:ext cx="0" cy="101600"/>
          </a:xfrm>
          <a:prstGeom prst="line">
            <a:avLst/>
          </a:prstGeom>
          <a:ln w="50800">
            <a:solidFill>
              <a:srgbClr val="0B9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[metric1_title]"/>
          <p:cNvSpPr txBox="1"/>
          <p:nvPr/>
        </p:nvSpPr>
        <p:spPr>
          <a:xfrm>
            <a:off x="7734300" y="5422900"/>
            <a:ext cx="15113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1">
                <a:solidFill>
                  <a:srgbClr val="0B98A4"/>
                </a:solidFill>
                <a:latin typeface="微软雅黑"/>
                <a:ea typeface="微软雅黑"/>
                <a:cs typeface="微软雅黑"/>
              </a:rPr>
              <a:t>已验证性能提升（综合）</a:t>
            </a:r>
          </a:p>
        </p:txBody>
      </p:sp>
      <p:sp>
        <p:nvSpPr>
          <p:cNvPr id="92" name="[metric1_value]"/>
          <p:cNvSpPr txBox="1"/>
          <p:nvPr/>
        </p:nvSpPr>
        <p:spPr>
          <a:xfrm>
            <a:off x="7302500" y="5715000"/>
            <a:ext cx="17907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>
                <a:solidFill>
                  <a:srgbClr val="0B98A4"/>
                </a:solidFill>
                <a:latin typeface="微软雅黑"/>
                <a:ea typeface="微软雅黑"/>
                <a:cs typeface="微软雅黑"/>
              </a:rPr>
              <a:t>+4.3pp</a:t>
            </a:r>
          </a:p>
        </p:txBody>
      </p:sp>
      <p:sp>
        <p:nvSpPr>
          <p:cNvPr id="93" name="[metric1_note]"/>
          <p:cNvSpPr txBox="1"/>
          <p:nvPr/>
        </p:nvSpPr>
        <p:spPr>
          <a:xfrm>
            <a:off x="7429500" y="5994400"/>
            <a:ext cx="153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Acc@1 平均提升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95% CI: [3.2, 6.0] pp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74200" y="5308600"/>
            <a:ext cx="2222500" cy="1054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Isosceles Triangle 94"/>
          <p:cNvSpPr/>
          <p:nvPr/>
        </p:nvSpPr>
        <p:spPr>
          <a:xfrm>
            <a:off x="9740900" y="5600700"/>
            <a:ext cx="368300" cy="33147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21926" y="5637530"/>
            <a:ext cx="228346" cy="3167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08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97" name="[metric2_title]"/>
          <p:cNvSpPr txBox="1"/>
          <p:nvPr/>
        </p:nvSpPr>
        <p:spPr>
          <a:xfrm>
            <a:off x="10121900" y="5422900"/>
            <a:ext cx="15113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1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核心开放风险（长尾 + 强漂移）</a:t>
            </a:r>
          </a:p>
        </p:txBody>
      </p:sp>
      <p:sp>
        <p:nvSpPr>
          <p:cNvPr id="98" name="[metric2_value]"/>
          <p:cNvSpPr txBox="1"/>
          <p:nvPr/>
        </p:nvSpPr>
        <p:spPr>
          <a:xfrm>
            <a:off x="9690100" y="5715000"/>
            <a:ext cx="1790700" cy="279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&gt; 2.1×</a:t>
            </a:r>
          </a:p>
        </p:txBody>
      </p:sp>
      <p:sp>
        <p:nvSpPr>
          <p:cNvPr id="99" name="[metric2_note]"/>
          <p:cNvSpPr txBox="1"/>
          <p:nvPr/>
        </p:nvSpPr>
        <p:spPr>
          <a:xfrm>
            <a:off x="9817100" y="5994400"/>
            <a:ext cx="153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相对误差可能放大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9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@ τ ≥ 10⁻¹，长尾场景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
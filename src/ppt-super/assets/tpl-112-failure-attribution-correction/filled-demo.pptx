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[title_main]"/>
          <p:cNvSpPr txBox="1"/>
          <p:nvPr/>
        </p:nvSpPr>
        <p:spPr>
          <a:xfrm>
            <a:off x="203200" y="342900"/>
            <a:ext cx="114935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8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长尾与分布漂移导致边界误差放大，需表征与校准层联合修正</a:t>
            </a:r>
          </a:p>
        </p:txBody>
      </p:sp>
      <p:sp>
        <p:nvSpPr>
          <p:cNvPr id="3" name="[subtitle]"/>
          <p:cNvSpPr txBox="1"/>
          <p:nvPr/>
        </p:nvSpPr>
        <p:spPr>
          <a:xfrm>
            <a:off x="215900" y="749300"/>
            <a:ext cx="109220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通过典型失效案例复盘，定位误差来源与触发条件，并提出可验证的修正假设与改进方向。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5900" y="1016000"/>
            <a:ext cx="644525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[case_title]"/>
          <p:cNvSpPr txBox="1"/>
          <p:nvPr/>
        </p:nvSpPr>
        <p:spPr>
          <a:xfrm>
            <a:off x="1841500" y="1130300"/>
            <a:ext cx="3175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典型失效案例分析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" y="1422400"/>
            <a:ext cx="2730500" cy="116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[input_title]"/>
          <p:cNvSpPr txBox="1"/>
          <p:nvPr/>
        </p:nvSpPr>
        <p:spPr>
          <a:xfrm>
            <a:off x="482600" y="1511300"/>
            <a:ext cx="2413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1 输入示例（边界/长尾场景）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800" y="1816100"/>
            <a:ext cx="762000" cy="5715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0928" y="1964690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62076" y="2024126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6940" y="2024126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67232" y="2001266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7700" y="2120900"/>
            <a:ext cx="584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图片</a:t>
            </a:r>
          </a:p>
        </p:txBody>
      </p:sp>
      <p:sp>
        <p:nvSpPr>
          <p:cNvPr id="14" name="[input_body]"/>
          <p:cNvSpPr txBox="1"/>
          <p:nvPr/>
        </p:nvSpPr>
        <p:spPr>
          <a:xfrm>
            <a:off x="1397000" y="1816100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场景类型：长尾 + 漂移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输入特征：分布偏移显著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触发条件：ε &gt; εt，置信低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样本 ID：Case-2025-0417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9800" y="1422400"/>
            <a:ext cx="2730500" cy="116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[response_title]"/>
          <p:cNvSpPr txBox="1"/>
          <p:nvPr/>
        </p:nvSpPr>
        <p:spPr>
          <a:xfrm>
            <a:off x="3619500" y="1511300"/>
            <a:ext cx="2413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2 模型响应（当前方法输出）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95700" y="1816100"/>
            <a:ext cx="762000" cy="5715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57828" y="1964690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998976" y="2024126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53840" y="2024126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104132" y="2001266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84600" y="2120900"/>
            <a:ext cx="584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图片</a:t>
            </a:r>
          </a:p>
        </p:txBody>
      </p:sp>
      <p:sp>
        <p:nvSpPr>
          <p:cNvPr id="23" name="[response_body]"/>
          <p:cNvSpPr txBox="1"/>
          <p:nvPr/>
        </p:nvSpPr>
        <p:spPr>
          <a:xfrm>
            <a:off x="4533900" y="1816100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预测结果：ŷ = ...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置信度：p = 0.23（偏低）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与真实：误差较大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错误类型：类别偏置 / 过拟合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75000" y="1943100"/>
            <a:ext cx="279400" cy="215900"/>
          </a:xfrm>
          <a:prstGeom prst="rightArrow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[contrib_title]"/>
          <p:cNvSpPr txBox="1"/>
          <p:nvPr/>
        </p:nvSpPr>
        <p:spPr>
          <a:xfrm>
            <a:off x="381000" y="2730500"/>
            <a:ext cx="22860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3 误差归因（相对贡献占比）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" y="3073400"/>
            <a:ext cx="990600" cy="266700"/>
          </a:xfrm>
          <a:prstGeom prst="rect">
            <a:avLst/>
          </a:prstGeom>
          <a:solidFill>
            <a:srgbClr val="0B2F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8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输入漂移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7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8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42%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84300" y="3073400"/>
            <a:ext cx="990600" cy="266700"/>
          </a:xfrm>
          <a:prstGeom prst="rect">
            <a:avLst/>
          </a:prstGeom>
          <a:solidFill>
            <a:srgbClr val="078D9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24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表征不足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843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24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28%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4900" y="3073400"/>
            <a:ext cx="990600" cy="266700"/>
          </a:xfrm>
          <a:prstGeom prst="rect">
            <a:avLst/>
          </a:prstGeom>
          <a:solidFill>
            <a:srgbClr val="0B2F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130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模型偏置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49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130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15%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65500" y="3073400"/>
            <a:ext cx="990600" cy="266700"/>
          </a:xfrm>
          <a:prstGeom prst="rect">
            <a:avLst/>
          </a:prstGeom>
          <a:solidFill>
            <a:srgbClr val="F1691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36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校准不足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655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36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6100" y="3073400"/>
            <a:ext cx="990600" cy="266700"/>
          </a:xfrm>
          <a:prstGeom prst="rect">
            <a:avLst/>
          </a:prstGeom>
          <a:solidFill>
            <a:srgbClr val="0B2F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42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噪声干扰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61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942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6700" y="3073400"/>
            <a:ext cx="990600" cy="266700"/>
          </a:xfrm>
          <a:prstGeom prst="rect">
            <a:avLst/>
          </a:prstGeom>
          <a:solidFill>
            <a:srgbClr val="0B2F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848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其他因素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67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848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1%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" y="4064000"/>
            <a:ext cx="6146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508000" y="4381500"/>
            <a:ext cx="368300" cy="331470"/>
          </a:xfrm>
          <a:prstGeom prst="triangle">
            <a:avLst/>
          </a:prstGeom>
          <a:noFill/>
          <a:ln w="3048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026" y="4418330"/>
            <a:ext cx="228346" cy="3167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8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53" name="[cause_title]"/>
          <p:cNvSpPr txBox="1"/>
          <p:nvPr/>
        </p:nvSpPr>
        <p:spPr>
          <a:xfrm>
            <a:off x="952500" y="420370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4 关键失效原因（首要矛盾）</a:t>
            </a:r>
          </a:p>
        </p:txBody>
      </p:sp>
      <p:sp>
        <p:nvSpPr>
          <p:cNvPr id="54" name="[cause_body]"/>
          <p:cNvSpPr txBox="1"/>
          <p:nvPr/>
        </p:nvSpPr>
        <p:spPr>
          <a:xfrm>
            <a:off x="3086100" y="4241800"/>
            <a:ext cx="3175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输入分布偏移使特征落入训练低密度区域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表征空间判别能力不足，类间边界被压缩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置信度估计偏乐观，未充分反映不确定性风险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0" y="1041400"/>
            <a:ext cx="5080000" cy="1993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858000" y="1041400"/>
            <a:ext cx="5080000" cy="3556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0" y="1282700"/>
            <a:ext cx="5080000" cy="114300"/>
          </a:xfrm>
          <a:prstGeom prst="rect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[explain_panel_title]"/>
          <p:cNvSpPr txBox="1"/>
          <p:nvPr/>
        </p:nvSpPr>
        <p:spPr>
          <a:xfrm>
            <a:off x="6972300" y="1092200"/>
            <a:ext cx="48514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失效模式解释</a:t>
            </a:r>
          </a:p>
        </p:txBody>
      </p:sp>
      <p:sp>
        <p:nvSpPr>
          <p:cNvPr id="59" name="[explain_body]"/>
          <p:cNvSpPr txBox="1"/>
          <p:nvPr/>
        </p:nvSpPr>
        <p:spPr>
          <a:xfrm>
            <a:off x="7023100" y="1536700"/>
            <a:ext cx="4699000" cy="1308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现象：长尾与分布漂移下预测误差显著增大。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机制：输入偏移导致特征落入低密度区域。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触发条件：漂移强度 ε 超过阈值 εt。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验证证据：误差与漂移强度呈指数上升趋势。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影响：边界场景下可靠性显著受限。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0" y="3340100"/>
            <a:ext cx="5080000" cy="175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858000" y="3340100"/>
            <a:ext cx="5080000" cy="355600"/>
          </a:xfrm>
          <a:prstGeom prst="roundRect">
            <a:avLst>
              <a:gd name="adj" fmla="val 5000"/>
            </a:avLst>
          </a:prstGeom>
          <a:solidFill>
            <a:srgbClr val="078D98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858000" y="3581400"/>
            <a:ext cx="5080000" cy="114300"/>
          </a:xfrm>
          <a:prstGeom prst="rect">
            <a:avLst/>
          </a:prstGeom>
          <a:solidFill>
            <a:srgbClr val="078D98"/>
          </a:solidFill>
          <a:ln w="635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[hyp_panel_title]"/>
          <p:cNvSpPr txBox="1"/>
          <p:nvPr/>
        </p:nvSpPr>
        <p:spPr>
          <a:xfrm>
            <a:off x="6972300" y="3390900"/>
            <a:ext cx="48514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修正假设</a:t>
            </a:r>
          </a:p>
        </p:txBody>
      </p:sp>
      <p:sp>
        <p:nvSpPr>
          <p:cNvPr id="64" name="[hyp_body]"/>
          <p:cNvSpPr txBox="1"/>
          <p:nvPr/>
        </p:nvSpPr>
        <p:spPr>
          <a:xfrm>
            <a:off x="7023100" y="3771900"/>
            <a:ext cx="4699000" cy="113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假设1：引入对比分布学习可缓解分布漂移影响。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假设2：低密度区域采用不确定性感知校准策略。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假设3：结合样本难度自适应重加权。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验证计划：通过消融实验与跨域评测验证三项假设。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5900" y="5397500"/>
            <a:ext cx="117221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90600" y="5511800"/>
            <a:ext cx="2603500" cy="7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43000" y="5727700"/>
            <a:ext cx="292100" cy="2921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95578" y="5780278"/>
            <a:ext cx="186944" cy="186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239393" y="5824093"/>
            <a:ext cx="99314" cy="9931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274445" y="5859145"/>
            <a:ext cx="29210" cy="2921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1318260" y="5756910"/>
            <a:ext cx="87630" cy="87630"/>
          </a:xfrm>
          <a:prstGeom prst="line">
            <a:avLst/>
          </a:prstGeom>
          <a:ln w="381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370838" y="5756910"/>
            <a:ext cx="35052" cy="0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05890" y="5756910"/>
            <a:ext cx="0" cy="35052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[metric1_title]"/>
          <p:cNvSpPr txBox="1"/>
          <p:nvPr/>
        </p:nvSpPr>
        <p:spPr>
          <a:xfrm>
            <a:off x="1536700" y="5638800"/>
            <a:ext cx="1968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失效样本占比</a:t>
            </a:r>
          </a:p>
        </p:txBody>
      </p:sp>
      <p:sp>
        <p:nvSpPr>
          <p:cNvPr id="75" name="[metric1_value]"/>
          <p:cNvSpPr txBox="1"/>
          <p:nvPr/>
        </p:nvSpPr>
        <p:spPr>
          <a:xfrm>
            <a:off x="1485900" y="5778500"/>
            <a:ext cx="20193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18.7%</a:t>
            </a:r>
          </a:p>
        </p:txBody>
      </p:sp>
      <p:sp>
        <p:nvSpPr>
          <p:cNvPr id="76" name="[metric1_note]"/>
          <p:cNvSpPr txBox="1"/>
          <p:nvPr/>
        </p:nvSpPr>
        <p:spPr>
          <a:xfrm>
            <a:off x="1206500" y="6064250"/>
            <a:ext cx="217170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6 个数据集平均占比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59300" y="5511800"/>
            <a:ext cx="2730500" cy="7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Isosceles Triangle 77"/>
          <p:cNvSpPr/>
          <p:nvPr/>
        </p:nvSpPr>
        <p:spPr>
          <a:xfrm>
            <a:off x="4762500" y="5765800"/>
            <a:ext cx="266700" cy="240030"/>
          </a:xfrm>
          <a:prstGeom prst="triangle">
            <a:avLst/>
          </a:prstGeom>
          <a:noFill/>
          <a:ln w="3048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21174" y="5792470"/>
            <a:ext cx="165354" cy="2293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92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0" name="[metric2_title]"/>
          <p:cNvSpPr txBox="1"/>
          <p:nvPr/>
        </p:nvSpPr>
        <p:spPr>
          <a:xfrm>
            <a:off x="5105400" y="5638800"/>
            <a:ext cx="2095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触发边界条件</a:t>
            </a:r>
          </a:p>
        </p:txBody>
      </p:sp>
      <p:sp>
        <p:nvSpPr>
          <p:cNvPr id="81" name="[metric2_value]"/>
          <p:cNvSpPr txBox="1"/>
          <p:nvPr/>
        </p:nvSpPr>
        <p:spPr>
          <a:xfrm>
            <a:off x="5054600" y="5778500"/>
            <a:ext cx="21463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ε &gt; εt</a:t>
            </a:r>
          </a:p>
        </p:txBody>
      </p:sp>
      <p:sp>
        <p:nvSpPr>
          <p:cNvPr id="82" name="[metric2_note]"/>
          <p:cNvSpPr txBox="1"/>
          <p:nvPr/>
        </p:nvSpPr>
        <p:spPr>
          <a:xfrm>
            <a:off x="4775200" y="6064250"/>
            <a:ext cx="229870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误差增长速率提升 3.2×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191500" y="5511800"/>
            <a:ext cx="2730500" cy="7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8343900" y="5956300"/>
            <a:ext cx="177800" cy="152400"/>
          </a:xfrm>
          <a:prstGeom prst="line">
            <a:avLst/>
          </a:prstGeom>
          <a:ln w="50800">
            <a:solidFill>
              <a:srgbClr val="F1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521700" y="5956300"/>
            <a:ext cx="107950" cy="63500"/>
          </a:xfrm>
          <a:prstGeom prst="line">
            <a:avLst/>
          </a:prstGeom>
          <a:ln w="50800">
            <a:solidFill>
              <a:srgbClr val="F1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629650" y="5829300"/>
            <a:ext cx="209550" cy="190500"/>
          </a:xfrm>
          <a:prstGeom prst="line">
            <a:avLst/>
          </a:prstGeom>
          <a:ln w="50800">
            <a:solidFill>
              <a:srgbClr val="F1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737600" y="5829300"/>
            <a:ext cx="101600" cy="0"/>
          </a:xfrm>
          <a:prstGeom prst="line">
            <a:avLst/>
          </a:prstGeom>
          <a:ln w="50800">
            <a:solidFill>
              <a:srgbClr val="F1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839200" y="5829300"/>
            <a:ext cx="0" cy="101600"/>
          </a:xfrm>
          <a:prstGeom prst="line">
            <a:avLst/>
          </a:prstGeom>
          <a:ln w="50800">
            <a:solidFill>
              <a:srgbClr val="F1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[metric3_title]"/>
          <p:cNvSpPr txBox="1"/>
          <p:nvPr/>
        </p:nvSpPr>
        <p:spPr>
          <a:xfrm>
            <a:off x="8737600" y="5638800"/>
            <a:ext cx="2095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修正潜力</a:t>
            </a:r>
          </a:p>
        </p:txBody>
      </p:sp>
      <p:sp>
        <p:nvSpPr>
          <p:cNvPr id="90" name="[metric3_value]"/>
          <p:cNvSpPr txBox="1"/>
          <p:nvPr/>
        </p:nvSpPr>
        <p:spPr>
          <a:xfrm>
            <a:off x="8686800" y="5778500"/>
            <a:ext cx="21463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-32.6%</a:t>
            </a:r>
          </a:p>
        </p:txBody>
      </p:sp>
      <p:sp>
        <p:nvSpPr>
          <p:cNvPr id="91" name="[metric3_note]"/>
          <p:cNvSpPr txBox="1"/>
          <p:nvPr/>
        </p:nvSpPr>
        <p:spPr>
          <a:xfrm>
            <a:off x="8407400" y="6064250"/>
            <a:ext cx="229870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初步实验误差下降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
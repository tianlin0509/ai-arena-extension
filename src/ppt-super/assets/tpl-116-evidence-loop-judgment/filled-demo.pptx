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6700" y="266700"/>
            <a:ext cx="50800" cy="292100"/>
          </a:xfrm>
          <a:prstGeom prst="rect">
            <a:avLst/>
          </a:prstGeom>
          <a:solidFill>
            <a:srgbClr val="B80606"/>
          </a:solidFill>
          <a:ln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165100"/>
            <a:ext cx="266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证据闭环 / 结论验证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419100" y="292100"/>
            <a:ext cx="9144000" cy="431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结论：能力跃迁来自证据闭环</a:t>
            </a:r>
          </a:p>
        </p:txBody>
      </p:sp>
      <p:sp>
        <p:nvSpPr>
          <p:cNvPr id="5" name="[subtitle]"/>
          <p:cNvSpPr txBox="1"/>
          <p:nvPr/>
        </p:nvSpPr>
        <p:spPr>
          <a:xfrm>
            <a:off x="431800" y="762000"/>
            <a:ext cx="95250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从假设到结论的结构化验证，驱动持续迭代与价值交付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6700" y="1041400"/>
            <a:ext cx="116459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brand_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304800"/>
            <a:ext cx="1346200" cy="3175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41300" y="1193800"/>
            <a:ext cx="6731000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700" y="1333500"/>
            <a:ext cx="609600" cy="5461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016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9100" y="1365250"/>
            <a:ext cx="558800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[ev1_title]"/>
          <p:cNvSpPr txBox="1"/>
          <p:nvPr/>
        </p:nvSpPr>
        <p:spPr>
          <a:xfrm>
            <a:off x="1193800" y="1358900"/>
            <a:ext cx="29210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证据一：用户价值提升</a:t>
            </a:r>
          </a:p>
        </p:txBody>
      </p:sp>
      <p:sp>
        <p:nvSpPr>
          <p:cNvPr id="12" name="[ev1_body]"/>
          <p:cNvSpPr txBox="1"/>
          <p:nvPr/>
        </p:nvSpPr>
        <p:spPr>
          <a:xfrm>
            <a:off x="1193800" y="1676400"/>
            <a:ext cx="29337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关键指标显著提升，验证方案有效改善用户体验。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样本覆盖充分，结论具备可重复性。</a:t>
            </a:r>
          </a:p>
        </p:txBody>
      </p:sp>
      <p:sp>
        <p:nvSpPr>
          <p:cNvPr id="13" name="[ev1_chart_title]"/>
          <p:cNvSpPr txBox="1"/>
          <p:nvPr/>
        </p:nvSpPr>
        <p:spPr>
          <a:xfrm>
            <a:off x="4432300" y="1352550"/>
            <a:ext cx="21590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满意度提升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8000" y="1536700"/>
            <a:ext cx="2413000" cy="7112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5722" y="1743710"/>
            <a:ext cx="257556" cy="1783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5440299" y="1808099"/>
            <a:ext cx="59436" cy="59436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99735" y="1808099"/>
            <a:ext cx="54483" cy="44577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554218" y="1783334"/>
            <a:ext cx="59436" cy="69342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06900" y="1981200"/>
            <a:ext cx="2235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图表占位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1300" y="2603500"/>
            <a:ext cx="6731000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3700" y="2743200"/>
            <a:ext cx="609600" cy="5461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016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9100" y="2774950"/>
            <a:ext cx="558800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[ev2_title]"/>
          <p:cNvSpPr txBox="1"/>
          <p:nvPr/>
        </p:nvSpPr>
        <p:spPr>
          <a:xfrm>
            <a:off x="1193800" y="2768600"/>
            <a:ext cx="29210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证据二：业务效率提升</a:t>
            </a:r>
          </a:p>
        </p:txBody>
      </p:sp>
      <p:sp>
        <p:nvSpPr>
          <p:cNvPr id="24" name="[ev2_body]"/>
          <p:cNvSpPr txBox="1"/>
          <p:nvPr/>
        </p:nvSpPr>
        <p:spPr>
          <a:xfrm>
            <a:off x="1193800" y="3086100"/>
            <a:ext cx="29337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流程与资源利用效率改善，交付周期明显缩短。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成本可控，具备规模复制条件。</a:t>
            </a:r>
          </a:p>
        </p:txBody>
      </p:sp>
      <p:sp>
        <p:nvSpPr>
          <p:cNvPr id="25" name="[ev2_chart_title]"/>
          <p:cNvSpPr txBox="1"/>
          <p:nvPr/>
        </p:nvSpPr>
        <p:spPr>
          <a:xfrm>
            <a:off x="4432300" y="2762250"/>
            <a:ext cx="21590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交付周期缩短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8000" y="2946400"/>
            <a:ext cx="2413000" cy="7112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95722" y="3153410"/>
            <a:ext cx="257556" cy="1783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5440299" y="3217799"/>
            <a:ext cx="59436" cy="59436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99735" y="3217799"/>
            <a:ext cx="54483" cy="44577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554218" y="3193034"/>
            <a:ext cx="59436" cy="69342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06900" y="3390900"/>
            <a:ext cx="2235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图表占位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1300" y="4013200"/>
            <a:ext cx="6731000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93700" y="4152900"/>
            <a:ext cx="609600" cy="5461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016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9100" y="4184650"/>
            <a:ext cx="558800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5" name="[ev3_title]"/>
          <p:cNvSpPr txBox="1"/>
          <p:nvPr/>
        </p:nvSpPr>
        <p:spPr>
          <a:xfrm>
            <a:off x="1193800" y="4178300"/>
            <a:ext cx="29210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证据三：质量稳定性提升</a:t>
            </a:r>
          </a:p>
        </p:txBody>
      </p:sp>
      <p:sp>
        <p:nvSpPr>
          <p:cNvPr id="36" name="[ev3_body]"/>
          <p:cNvSpPr txBox="1"/>
          <p:nvPr/>
        </p:nvSpPr>
        <p:spPr>
          <a:xfrm>
            <a:off x="1193800" y="4495800"/>
            <a:ext cx="29337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质量指标持续改善，系统稳定性增强。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问题率下降，反馈正向增长。</a:t>
            </a:r>
          </a:p>
        </p:txBody>
      </p:sp>
      <p:sp>
        <p:nvSpPr>
          <p:cNvPr id="37" name="[ev3_chart_title]"/>
          <p:cNvSpPr txBox="1"/>
          <p:nvPr/>
        </p:nvSpPr>
        <p:spPr>
          <a:xfrm>
            <a:off x="4432300" y="4171950"/>
            <a:ext cx="21590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线上问题率下降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18000" y="4356100"/>
            <a:ext cx="2413000" cy="7112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395722" y="4563110"/>
            <a:ext cx="257556" cy="1783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5440299" y="4627499"/>
            <a:ext cx="59436" cy="59436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499735" y="4627499"/>
            <a:ext cx="54483" cy="44577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554218" y="4602734"/>
            <a:ext cx="59436" cy="69342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406900" y="4800600"/>
            <a:ext cx="2235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图表占位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50100" y="1193800"/>
            <a:ext cx="4737100" cy="4038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150100" y="1193800"/>
            <a:ext cx="4737100" cy="393700"/>
          </a:xfrm>
          <a:prstGeom prst="roundRect">
            <a:avLst>
              <a:gd name="adj" fmla="val 5000"/>
            </a:avLst>
          </a:prstGeom>
          <a:solidFill>
            <a:srgbClr val="B80606"/>
          </a:solidFill>
          <a:ln w="889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50100" y="1485900"/>
            <a:ext cx="4737100" cy="101600"/>
          </a:xfrm>
          <a:prstGeom prst="rect">
            <a:avLst/>
          </a:prstGeom>
          <a:solidFill>
            <a:srgbClr val="B80606"/>
          </a:solidFill>
          <a:ln w="635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89800" y="1238250"/>
            <a:ext cx="4457700" cy="330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</p:txBody>
      </p:sp>
      <p:pic>
        <p:nvPicPr>
          <p:cNvPr id="48" name="Picture 47" descr="judgment_header_icon_defa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1168400"/>
            <a:ext cx="368300" cy="279400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7302500" y="1727200"/>
            <a:ext cx="317500" cy="317500"/>
          </a:xfrm>
          <a:prstGeom prst="ellipse">
            <a:avLst/>
          </a:prstGeom>
          <a:solidFill>
            <a:srgbClr val="B80606"/>
          </a:solidFill>
          <a:ln w="1016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53300" y="1765300"/>
            <a:ext cx="215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[hyp1_title]"/>
          <p:cNvSpPr txBox="1"/>
          <p:nvPr/>
        </p:nvSpPr>
        <p:spPr>
          <a:xfrm>
            <a:off x="7785100" y="1701800"/>
            <a:ext cx="2190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6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假设一：方案有效</a:t>
            </a:r>
          </a:p>
        </p:txBody>
      </p:sp>
      <p:sp>
        <p:nvSpPr>
          <p:cNvPr id="52" name="[hyp1_body]"/>
          <p:cNvSpPr txBox="1"/>
          <p:nvPr/>
        </p:nvSpPr>
        <p:spPr>
          <a:xfrm>
            <a:off x="7785100" y="1898650"/>
            <a:ext cx="26035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多维证据一致，支持有效性结论。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502900" y="1752600"/>
            <a:ext cx="0" cy="292100"/>
          </a:xfrm>
          <a:prstGeom prst="line">
            <a:avLst/>
          </a:prstGeom>
          <a:ln w="127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693400" y="1765300"/>
            <a:ext cx="254000" cy="254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18800" y="1758950"/>
            <a:ext cx="2159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10900" y="1784350"/>
            <a:ext cx="4572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成立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150100" y="2197100"/>
            <a:ext cx="47371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302500" y="2273300"/>
            <a:ext cx="317500" cy="317500"/>
          </a:xfrm>
          <a:prstGeom prst="ellipse">
            <a:avLst/>
          </a:prstGeom>
          <a:solidFill>
            <a:srgbClr val="B80606"/>
          </a:solidFill>
          <a:ln w="1016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53300" y="2311400"/>
            <a:ext cx="215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60" name="[hyp2_title]"/>
          <p:cNvSpPr txBox="1"/>
          <p:nvPr/>
        </p:nvSpPr>
        <p:spPr>
          <a:xfrm>
            <a:off x="7785100" y="2247900"/>
            <a:ext cx="2190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6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假设二：可规模复制</a:t>
            </a:r>
          </a:p>
        </p:txBody>
      </p:sp>
      <p:sp>
        <p:nvSpPr>
          <p:cNvPr id="61" name="[hyp2_body]"/>
          <p:cNvSpPr txBox="1"/>
          <p:nvPr/>
        </p:nvSpPr>
        <p:spPr>
          <a:xfrm>
            <a:off x="7785100" y="2444750"/>
            <a:ext cx="26035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效率与成本达标，具备复制条件。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502900" y="2298700"/>
            <a:ext cx="0" cy="292100"/>
          </a:xfrm>
          <a:prstGeom prst="line">
            <a:avLst/>
          </a:prstGeom>
          <a:ln w="127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0693400" y="2311400"/>
            <a:ext cx="254000" cy="254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18800" y="2305050"/>
            <a:ext cx="2159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10900" y="2330450"/>
            <a:ext cx="4572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成立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150100" y="2743200"/>
            <a:ext cx="47371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7302500" y="2819400"/>
            <a:ext cx="317500" cy="317500"/>
          </a:xfrm>
          <a:prstGeom prst="ellipse">
            <a:avLst/>
          </a:prstGeom>
          <a:solidFill>
            <a:srgbClr val="B80606"/>
          </a:solidFill>
          <a:ln w="1016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53300" y="2857500"/>
            <a:ext cx="215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9" name="[hyp3_title]"/>
          <p:cNvSpPr txBox="1"/>
          <p:nvPr/>
        </p:nvSpPr>
        <p:spPr>
          <a:xfrm>
            <a:off x="7785100" y="2794000"/>
            <a:ext cx="2190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6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假设三：风险可控</a:t>
            </a:r>
          </a:p>
        </p:txBody>
      </p:sp>
      <p:sp>
        <p:nvSpPr>
          <p:cNvPr id="70" name="[hyp3_body]"/>
          <p:cNvSpPr txBox="1"/>
          <p:nvPr/>
        </p:nvSpPr>
        <p:spPr>
          <a:xfrm>
            <a:off x="7785100" y="2990850"/>
            <a:ext cx="26035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未发现重大风险，处于可控范围。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502900" y="2844800"/>
            <a:ext cx="0" cy="292100"/>
          </a:xfrm>
          <a:prstGeom prst="line">
            <a:avLst/>
          </a:prstGeom>
          <a:ln w="127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0693400" y="2857500"/>
            <a:ext cx="254000" cy="254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18800" y="2851150"/>
            <a:ext cx="2159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10900" y="2876550"/>
            <a:ext cx="4572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成立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150100" y="3289300"/>
            <a:ext cx="47371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7302500" y="3365500"/>
            <a:ext cx="317500" cy="317500"/>
          </a:xfrm>
          <a:prstGeom prst="ellipse">
            <a:avLst/>
          </a:prstGeom>
          <a:solidFill>
            <a:srgbClr val="B80606"/>
          </a:solidFill>
          <a:ln w="1016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53300" y="3403600"/>
            <a:ext cx="215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8" name="[hyp4_title]"/>
          <p:cNvSpPr txBox="1"/>
          <p:nvPr/>
        </p:nvSpPr>
        <p:spPr>
          <a:xfrm>
            <a:off x="7785100" y="3340100"/>
            <a:ext cx="2190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6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假设四：用户认可</a:t>
            </a:r>
          </a:p>
        </p:txBody>
      </p:sp>
      <p:sp>
        <p:nvSpPr>
          <p:cNvPr id="79" name="[hyp4_body]"/>
          <p:cNvSpPr txBox="1"/>
          <p:nvPr/>
        </p:nvSpPr>
        <p:spPr>
          <a:xfrm>
            <a:off x="7785100" y="3536950"/>
            <a:ext cx="26035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用户反馈积极，满意度明显提升。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0502900" y="3390900"/>
            <a:ext cx="0" cy="292100"/>
          </a:xfrm>
          <a:prstGeom prst="line">
            <a:avLst/>
          </a:prstGeom>
          <a:ln w="127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10693400" y="3403600"/>
            <a:ext cx="254000" cy="254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718800" y="3397250"/>
            <a:ext cx="2159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10900" y="3422650"/>
            <a:ext cx="4572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成立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150100" y="3835400"/>
            <a:ext cx="47371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302500" y="3911600"/>
            <a:ext cx="317500" cy="317500"/>
          </a:xfrm>
          <a:prstGeom prst="ellipse">
            <a:avLst/>
          </a:prstGeom>
          <a:solidFill>
            <a:srgbClr val="B80606"/>
          </a:solidFill>
          <a:ln w="1016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53300" y="3949700"/>
            <a:ext cx="215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87" name="[hyp5_title]"/>
          <p:cNvSpPr txBox="1"/>
          <p:nvPr/>
        </p:nvSpPr>
        <p:spPr>
          <a:xfrm>
            <a:off x="7785100" y="3886200"/>
            <a:ext cx="2190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6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假设五：可持续改进</a:t>
            </a:r>
          </a:p>
        </p:txBody>
      </p:sp>
      <p:sp>
        <p:nvSpPr>
          <p:cNvPr id="88" name="[hyp5_body]"/>
          <p:cNvSpPr txBox="1"/>
          <p:nvPr/>
        </p:nvSpPr>
        <p:spPr>
          <a:xfrm>
            <a:off x="7785100" y="4083050"/>
            <a:ext cx="26035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监控与反馈机制支持持续优化。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0502900" y="3937000"/>
            <a:ext cx="0" cy="292100"/>
          </a:xfrm>
          <a:prstGeom prst="line">
            <a:avLst/>
          </a:prstGeom>
          <a:ln w="127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10693400" y="3949700"/>
            <a:ext cx="254000" cy="254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718800" y="3943350"/>
            <a:ext cx="2159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10900" y="3968750"/>
            <a:ext cx="4572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成立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150100" y="4381500"/>
            <a:ext cx="47371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7302500" y="4457700"/>
            <a:ext cx="317500" cy="317500"/>
          </a:xfrm>
          <a:prstGeom prst="ellipse">
            <a:avLst/>
          </a:prstGeom>
          <a:solidFill>
            <a:srgbClr val="B80606"/>
          </a:solidFill>
          <a:ln w="1016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53300" y="4495800"/>
            <a:ext cx="215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96" name="[hyp6_title]"/>
          <p:cNvSpPr txBox="1"/>
          <p:nvPr/>
        </p:nvSpPr>
        <p:spPr>
          <a:xfrm>
            <a:off x="7785100" y="4432300"/>
            <a:ext cx="2190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6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假设六：价值可衡量</a:t>
            </a:r>
          </a:p>
        </p:txBody>
      </p:sp>
      <p:sp>
        <p:nvSpPr>
          <p:cNvPr id="97" name="[hyp6_body]"/>
          <p:cNvSpPr txBox="1"/>
          <p:nvPr/>
        </p:nvSpPr>
        <p:spPr>
          <a:xfrm>
            <a:off x="7785100" y="4629150"/>
            <a:ext cx="26035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关键指标可量化，业务价值明确。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0502900" y="4483100"/>
            <a:ext cx="0" cy="292100"/>
          </a:xfrm>
          <a:prstGeom prst="line">
            <a:avLst/>
          </a:prstGeom>
          <a:ln w="127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10693400" y="4495800"/>
            <a:ext cx="254000" cy="254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718800" y="4489450"/>
            <a:ext cx="2159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10900" y="4514850"/>
            <a:ext cx="4572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成立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41300" y="5245100"/>
            <a:ext cx="3175000" cy="111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kpi1_icon_defa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5397500"/>
            <a:ext cx="685800" cy="863600"/>
          </a:xfrm>
          <a:prstGeom prst="rect">
            <a:avLst/>
          </a:prstGeom>
        </p:spPr>
      </p:pic>
      <p:sp>
        <p:nvSpPr>
          <p:cNvPr id="104" name="[kpi1_title]"/>
          <p:cNvSpPr txBox="1"/>
          <p:nvPr/>
        </p:nvSpPr>
        <p:spPr>
          <a:xfrm>
            <a:off x="1130300" y="5384800"/>
            <a:ext cx="21336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核心 KPI 1：总体价值提升</a:t>
            </a:r>
          </a:p>
        </p:txBody>
      </p:sp>
      <p:sp>
        <p:nvSpPr>
          <p:cNvPr id="105" name="[kpi1_value]"/>
          <p:cNvSpPr txBox="1"/>
          <p:nvPr/>
        </p:nvSpPr>
        <p:spPr>
          <a:xfrm>
            <a:off x="1130300" y="5588000"/>
            <a:ext cx="21336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+32%</a:t>
            </a:r>
          </a:p>
        </p:txBody>
      </p:sp>
      <p:sp>
        <p:nvSpPr>
          <p:cNvPr id="106" name="[kpi1_note]"/>
          <p:cNvSpPr txBox="1"/>
          <p:nvPr/>
        </p:nvSpPr>
        <p:spPr>
          <a:xfrm>
            <a:off x="1130300" y="5956300"/>
            <a:ext cx="21336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目标：≥25%，综合价值提升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505200" y="5245100"/>
            <a:ext cx="3048000" cy="111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kpi2_icon_defa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800" y="5397500"/>
            <a:ext cx="774700" cy="863600"/>
          </a:xfrm>
          <a:prstGeom prst="rect">
            <a:avLst/>
          </a:prstGeom>
        </p:spPr>
      </p:pic>
      <p:sp>
        <p:nvSpPr>
          <p:cNvPr id="109" name="[kpi2_title]"/>
          <p:cNvSpPr txBox="1"/>
          <p:nvPr/>
        </p:nvSpPr>
        <p:spPr>
          <a:xfrm>
            <a:off x="4495800" y="5384800"/>
            <a:ext cx="1905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核心 KPI 2：交付效率提升</a:t>
            </a:r>
          </a:p>
        </p:txBody>
      </p:sp>
      <p:sp>
        <p:nvSpPr>
          <p:cNvPr id="110" name="[kpi2_value]"/>
          <p:cNvSpPr txBox="1"/>
          <p:nvPr/>
        </p:nvSpPr>
        <p:spPr>
          <a:xfrm>
            <a:off x="4495800" y="5588000"/>
            <a:ext cx="19050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-39%</a:t>
            </a:r>
          </a:p>
        </p:txBody>
      </p:sp>
      <p:sp>
        <p:nvSpPr>
          <p:cNvPr id="111" name="[kpi2_note]"/>
          <p:cNvSpPr txBox="1"/>
          <p:nvPr/>
        </p:nvSpPr>
        <p:spPr>
          <a:xfrm>
            <a:off x="4495800" y="5956300"/>
            <a:ext cx="19050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目标：≥30%，周期显著缩短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629400" y="5245100"/>
            <a:ext cx="5257800" cy="1117600"/>
          </a:xfrm>
          <a:prstGeom prst="roundRect">
            <a:avLst>
              <a:gd name="adj" fmla="val 5000"/>
            </a:avLst>
          </a:prstGeom>
          <a:solidFill>
            <a:srgbClr val="002B79"/>
          </a:solidFill>
          <a:ln w="10160">
            <a:solidFill>
              <a:srgbClr val="002B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summary_badge_icon_defa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5549900"/>
            <a:ext cx="825500" cy="711200"/>
          </a:xfrm>
          <a:prstGeom prst="rect">
            <a:avLst/>
          </a:prstGeom>
        </p:spPr>
      </p:pic>
      <p:sp>
        <p:nvSpPr>
          <p:cNvPr id="114" name="[summary_title]"/>
          <p:cNvSpPr txBox="1"/>
          <p:nvPr/>
        </p:nvSpPr>
        <p:spPr>
          <a:xfrm>
            <a:off x="7543800" y="5372100"/>
            <a:ext cx="10160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115" name="[summary_body]"/>
          <p:cNvSpPr txBox="1"/>
          <p:nvPr/>
        </p:nvSpPr>
        <p:spPr>
          <a:xfrm>
            <a:off x="7543800" y="5702300"/>
            <a:ext cx="3238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通过结构化证据收集与验证，形成从假设到结论的闭环。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关键指标全面达成，支撑方案有效且可复制，并持续驱动业务价值增长。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11176000" y="5727700"/>
            <a:ext cx="330200" cy="279400"/>
          </a:xfrm>
          <a:prstGeom prst="line">
            <a:avLst/>
          </a:prstGeom>
          <a:ln w="2920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11176000" y="6007100"/>
            <a:ext cx="330200" cy="279400"/>
          </a:xfrm>
          <a:prstGeom prst="line">
            <a:avLst/>
          </a:prstGeom>
          <a:ln w="2920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 flipV="1">
            <a:off x="10896600" y="6019800"/>
            <a:ext cx="279400" cy="266700"/>
          </a:xfrm>
          <a:prstGeom prst="line">
            <a:avLst/>
          </a:prstGeom>
          <a:ln w="2920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9" name="Picture 118" descr="summary_loop_icon_defau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5549900"/>
            <a:ext cx="838200" cy="749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
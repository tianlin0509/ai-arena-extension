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1000" y="279400"/>
            <a:ext cx="952500" cy="2794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[chip]"/>
          <p:cNvSpPr txBox="1"/>
          <p:nvPr/>
        </p:nvSpPr>
        <p:spPr>
          <a:xfrm>
            <a:off x="381000" y="279400"/>
            <a:ext cx="9525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数字底座</a:t>
            </a:r>
          </a:p>
        </p:txBody>
      </p:sp>
      <p:sp>
        <p:nvSpPr>
          <p:cNvPr id="4" name="[title_main]"/>
          <p:cNvSpPr txBox="1"/>
          <p:nvPr/>
        </p:nvSpPr>
        <p:spPr>
          <a:xfrm>
            <a:off x="1473200" y="228600"/>
            <a:ext cx="9207500" cy="368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B90A0A"/>
                </a:solidFill>
                <a:latin typeface="Microsoft YaHei"/>
                <a:ea typeface="Microsoft YaHei"/>
              </a:rPr>
              <a:t>三层架构解耦: 应用敏捷迭代 + 平台能力复用, 新业务上线周期缩短 60%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1366500" y="304800"/>
            <a:ext cx="419100" cy="241300"/>
          </a:xfrm>
          <a:prstGeom prst="line">
            <a:avLst/>
          </a:prstGeom>
          <a:ln w="22860">
            <a:solidFill>
              <a:srgbClr val="B90A0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81000" y="825500"/>
            <a:ext cx="9245600" cy="1460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3400" y="952500"/>
            <a:ext cx="698500" cy="12065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[layer1_name]"/>
          <p:cNvSpPr txBox="1"/>
          <p:nvPr/>
        </p:nvSpPr>
        <p:spPr>
          <a:xfrm>
            <a:off x="533400" y="952500"/>
            <a:ext cx="698500" cy="12065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应用层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22400" y="1079500"/>
            <a:ext cx="2540000" cy="952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41600" y="1130300"/>
            <a:ext cx="101600" cy="10160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ord 10"/>
          <p:cNvSpPr/>
          <p:nvPr/>
        </p:nvSpPr>
        <p:spPr>
          <a:xfrm>
            <a:off x="2588490" y="1244600"/>
            <a:ext cx="207818" cy="203200"/>
          </a:xfrm>
          <a:prstGeom prst="chord">
            <a:avLst>
              <a:gd name="adj1" fmla="val 18000000"/>
              <a:gd name="adj2" fmla="val 0"/>
            </a:avLst>
          </a:prstGeom>
          <a:solidFill>
            <a:srgbClr val="FFFFFF"/>
          </a:solidFill>
          <a:ln w="1778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[layer1_capA]"/>
          <p:cNvSpPr txBox="1"/>
          <p:nvPr/>
        </p:nvSpPr>
        <p:spPr>
          <a:xfrm>
            <a:off x="1524000" y="1409700"/>
            <a:ext cx="2336800" cy="203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1F4E79"/>
                </a:solidFill>
                <a:latin typeface="Microsoft YaHei"/>
                <a:ea typeface="Microsoft YaHei"/>
              </a:rPr>
              <a:t>智能运维助手</a:t>
            </a:r>
          </a:p>
        </p:txBody>
      </p:sp>
      <p:sp>
        <p:nvSpPr>
          <p:cNvPr id="13" name="[layer1_capA_desc]"/>
          <p:cNvSpPr txBox="1"/>
          <p:nvPr/>
        </p:nvSpPr>
        <p:spPr>
          <a:xfrm>
            <a:off x="1524000" y="1625600"/>
            <a:ext cx="2336800" cy="355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故障自愈率 82%, 告警压缩 95%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0200" y="1079500"/>
            <a:ext cx="2540000" cy="952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83200" y="1130300"/>
            <a:ext cx="254000" cy="254000"/>
          </a:xfrm>
          <a:prstGeom prst="ellipse">
            <a:avLst/>
          </a:prstGeom>
          <a:noFill/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1460" y="1178559"/>
            <a:ext cx="157480" cy="157480"/>
          </a:xfrm>
          <a:prstGeom prst="ellipse">
            <a:avLst/>
          </a:prstGeom>
          <a:noFill/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74640" y="1221740"/>
            <a:ext cx="71120" cy="71120"/>
          </a:xfrm>
          <a:prstGeom prst="ellipse">
            <a:avLst/>
          </a:prstGeom>
          <a:noFill/>
          <a:ln w="1651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[layer1_capB]"/>
          <p:cNvSpPr txBox="1"/>
          <p:nvPr/>
        </p:nvSpPr>
        <p:spPr>
          <a:xfrm>
            <a:off x="4241800" y="1409700"/>
            <a:ext cx="2336800" cy="203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1F4E79"/>
                </a:solidFill>
                <a:latin typeface="Microsoft YaHei"/>
                <a:ea typeface="Microsoft YaHei"/>
              </a:rPr>
              <a:t>业务编排门户</a:t>
            </a:r>
          </a:p>
        </p:txBody>
      </p:sp>
      <p:sp>
        <p:nvSpPr>
          <p:cNvPr id="19" name="[layer1_capB_desc]"/>
          <p:cNvSpPr txBox="1"/>
          <p:nvPr/>
        </p:nvSpPr>
        <p:spPr>
          <a:xfrm>
            <a:off x="4241800" y="1625600"/>
            <a:ext cx="2336800" cy="355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拖拽式编排, 上线周期 -60%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1079500"/>
            <a:ext cx="2540000" cy="952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99136" y="1124527"/>
            <a:ext cx="57727" cy="57727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95227" y="1309254"/>
            <a:ext cx="57727" cy="57727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03045" y="1309254"/>
            <a:ext cx="57727" cy="57727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8024090" y="1153390"/>
            <a:ext cx="103910" cy="184728"/>
          </a:xfrm>
          <a:prstGeom prst="line">
            <a:avLst/>
          </a:prstGeom>
          <a:ln w="1270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128000" y="1153390"/>
            <a:ext cx="103909" cy="184728"/>
          </a:xfrm>
          <a:prstGeom prst="line">
            <a:avLst/>
          </a:prstGeom>
          <a:ln w="1270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24090" y="1338118"/>
            <a:ext cx="207819" cy="0"/>
          </a:xfrm>
          <a:prstGeom prst="line">
            <a:avLst/>
          </a:prstGeom>
          <a:ln w="1270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[layer1_capC]"/>
          <p:cNvSpPr txBox="1"/>
          <p:nvPr/>
        </p:nvSpPr>
        <p:spPr>
          <a:xfrm>
            <a:off x="6959600" y="1409700"/>
            <a:ext cx="2336800" cy="203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1F4E79"/>
                </a:solidFill>
                <a:latin typeface="Microsoft YaHei"/>
                <a:ea typeface="Microsoft YaHei"/>
              </a:rPr>
              <a:t>数字孪生沙盘</a:t>
            </a:r>
          </a:p>
        </p:txBody>
      </p:sp>
      <p:sp>
        <p:nvSpPr>
          <p:cNvPr id="28" name="[layer1_capC_desc]"/>
          <p:cNvSpPr txBox="1"/>
          <p:nvPr/>
        </p:nvSpPr>
        <p:spPr>
          <a:xfrm>
            <a:off x="6959600" y="1625600"/>
            <a:ext cx="2336800" cy="355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网络变更仿真预演, 零风险割接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1000" y="2571750"/>
            <a:ext cx="9245600" cy="14605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3400" y="2698750"/>
            <a:ext cx="698500" cy="12065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[layer2_name]"/>
          <p:cNvSpPr txBox="1"/>
          <p:nvPr/>
        </p:nvSpPr>
        <p:spPr>
          <a:xfrm>
            <a:off x="533400" y="2698750"/>
            <a:ext cx="698500" cy="12065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平台层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22400" y="2825750"/>
            <a:ext cx="2540000" cy="952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5400" y="2865004"/>
            <a:ext cx="254000" cy="254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 i="0">
                <a:solidFill>
                  <a:srgbClr val="1F4E79"/>
                </a:solidFill>
                <a:latin typeface="Microsoft YaHei"/>
                <a:ea typeface="Microsoft YaHei"/>
              </a:rPr>
              <a:t>⚡</a:t>
            </a:r>
          </a:p>
        </p:txBody>
      </p:sp>
      <p:sp>
        <p:nvSpPr>
          <p:cNvPr id="34" name="[layer2_capA]"/>
          <p:cNvSpPr txBox="1"/>
          <p:nvPr/>
        </p:nvSpPr>
        <p:spPr>
          <a:xfrm>
            <a:off x="1524000" y="3155950"/>
            <a:ext cx="2336800" cy="203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1F4E79"/>
                </a:solidFill>
                <a:latin typeface="Microsoft YaHei"/>
                <a:ea typeface="Microsoft YaHei"/>
              </a:rPr>
              <a:t>AI 推理服务</a:t>
            </a:r>
          </a:p>
        </p:txBody>
      </p:sp>
      <p:sp>
        <p:nvSpPr>
          <p:cNvPr id="35" name="[layer2_capA_desc]"/>
          <p:cNvSpPr txBox="1"/>
          <p:nvPr/>
        </p:nvSpPr>
        <p:spPr>
          <a:xfrm>
            <a:off x="1524000" y="3371850"/>
            <a:ext cx="2336800" cy="355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千卡推理池化, 利用率 78%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40200" y="2825750"/>
            <a:ext cx="2540000" cy="952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283200" y="2876550"/>
            <a:ext cx="254000" cy="8081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283200" y="2957368"/>
            <a:ext cx="254000" cy="8081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283200" y="3038186"/>
            <a:ext cx="254000" cy="8081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[layer2_capB]"/>
          <p:cNvSpPr txBox="1"/>
          <p:nvPr/>
        </p:nvSpPr>
        <p:spPr>
          <a:xfrm>
            <a:off x="4241800" y="3155950"/>
            <a:ext cx="2336800" cy="203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1F4E79"/>
                </a:solidFill>
                <a:latin typeface="Microsoft YaHei"/>
                <a:ea typeface="Microsoft YaHei"/>
              </a:rPr>
              <a:t>数据治理引擎</a:t>
            </a:r>
          </a:p>
        </p:txBody>
      </p:sp>
      <p:sp>
        <p:nvSpPr>
          <p:cNvPr id="41" name="[layer2_capB_desc]"/>
          <p:cNvSpPr txBox="1"/>
          <p:nvPr/>
        </p:nvSpPr>
        <p:spPr>
          <a:xfrm>
            <a:off x="4241800" y="3371850"/>
            <a:ext cx="2336800" cy="355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统一目录, 资产 1.2 万张表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0" y="2825750"/>
            <a:ext cx="2540000" cy="952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35636" y="2876550"/>
            <a:ext cx="184727" cy="254000"/>
          </a:xfrm>
          <a:prstGeom prst="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070272" y="2945822"/>
            <a:ext cx="115455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070272" y="3003550"/>
            <a:ext cx="115455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070272" y="3061277"/>
            <a:ext cx="115455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[layer2_capC]"/>
          <p:cNvSpPr txBox="1"/>
          <p:nvPr/>
        </p:nvSpPr>
        <p:spPr>
          <a:xfrm>
            <a:off x="6959600" y="3155950"/>
            <a:ext cx="2336800" cy="203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1F4E79"/>
                </a:solidFill>
                <a:latin typeface="Microsoft YaHei"/>
                <a:ea typeface="Microsoft YaHei"/>
              </a:rPr>
              <a:t>低代码开发</a:t>
            </a:r>
          </a:p>
        </p:txBody>
      </p:sp>
      <p:sp>
        <p:nvSpPr>
          <p:cNvPr id="48" name="[layer2_capC_desc]"/>
          <p:cNvSpPr txBox="1"/>
          <p:nvPr/>
        </p:nvSpPr>
        <p:spPr>
          <a:xfrm>
            <a:off x="6959600" y="3371850"/>
            <a:ext cx="2336800" cy="355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组件 600+, 能力复用率 75%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1000" y="4318000"/>
            <a:ext cx="9245600" cy="14605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33400" y="4445000"/>
            <a:ext cx="698500" cy="12065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[layer3_name]"/>
          <p:cNvSpPr txBox="1"/>
          <p:nvPr/>
        </p:nvSpPr>
        <p:spPr>
          <a:xfrm>
            <a:off x="533400" y="4445000"/>
            <a:ext cx="698500" cy="12065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底座层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22400" y="4572000"/>
            <a:ext cx="2540000" cy="952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605809" y="4663209"/>
            <a:ext cx="173181" cy="173181"/>
          </a:xfrm>
          <a:prstGeom prst="rect">
            <a:avLst/>
          </a:prstGeom>
          <a:solidFill>
            <a:srgbClr val="FFFFFF"/>
          </a:solidFill>
          <a:ln w="1778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651990" y="4709390"/>
            <a:ext cx="80818" cy="80818"/>
          </a:xfrm>
          <a:prstGeom prst="rect">
            <a:avLst/>
          </a:prstGeom>
          <a:solidFill>
            <a:srgbClr val="DEEAF6"/>
          </a:solidFill>
          <a:ln w="1016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634672" y="4622800"/>
            <a:ext cx="0" cy="40409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634672" y="4836390"/>
            <a:ext cx="0" cy="4041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565400" y="4692072"/>
            <a:ext cx="40409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78990" y="4692072"/>
            <a:ext cx="40410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692400" y="4622800"/>
            <a:ext cx="0" cy="40409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692400" y="4836390"/>
            <a:ext cx="0" cy="4041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565400" y="4749800"/>
            <a:ext cx="40409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778990" y="4749800"/>
            <a:ext cx="40410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750127" y="4622800"/>
            <a:ext cx="0" cy="40409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750127" y="4836390"/>
            <a:ext cx="0" cy="4041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565400" y="4807527"/>
            <a:ext cx="40409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778990" y="4807527"/>
            <a:ext cx="40410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[layer3_capA]"/>
          <p:cNvSpPr txBox="1"/>
          <p:nvPr/>
        </p:nvSpPr>
        <p:spPr>
          <a:xfrm>
            <a:off x="1524000" y="4902200"/>
            <a:ext cx="2336800" cy="203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1F4E79"/>
                </a:solidFill>
                <a:latin typeface="Microsoft YaHei"/>
                <a:ea typeface="Microsoft YaHei"/>
              </a:rPr>
              <a:t>昇腾算力池</a:t>
            </a:r>
          </a:p>
        </p:txBody>
      </p:sp>
      <p:sp>
        <p:nvSpPr>
          <p:cNvPr id="68" name="[layer3_capA_desc]"/>
          <p:cNvSpPr txBox="1"/>
          <p:nvPr/>
        </p:nvSpPr>
        <p:spPr>
          <a:xfrm>
            <a:off x="1524000" y="5118100"/>
            <a:ext cx="2336800" cy="355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910B 集群 2000P, 国产化 100%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140200" y="4572000"/>
            <a:ext cx="2540000" cy="952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83200" y="4605481"/>
            <a:ext cx="254000" cy="254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F4E79"/>
                </a:solidFill>
                <a:latin typeface="Microsoft YaHei"/>
                <a:ea typeface="Microsoft YaHei"/>
              </a:rPr>
              <a:t>☁</a:t>
            </a:r>
          </a:p>
        </p:txBody>
      </p:sp>
      <p:sp>
        <p:nvSpPr>
          <p:cNvPr id="71" name="[layer3_capB]"/>
          <p:cNvSpPr txBox="1"/>
          <p:nvPr/>
        </p:nvSpPr>
        <p:spPr>
          <a:xfrm>
            <a:off x="4241800" y="4902200"/>
            <a:ext cx="2336800" cy="203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1F4E79"/>
                </a:solidFill>
                <a:latin typeface="Microsoft YaHei"/>
                <a:ea typeface="Microsoft YaHei"/>
              </a:rPr>
              <a:t>分布式存储</a:t>
            </a:r>
          </a:p>
        </p:txBody>
      </p:sp>
      <p:sp>
        <p:nvSpPr>
          <p:cNvPr id="72" name="[layer3_capB_desc]"/>
          <p:cNvSpPr txBox="1"/>
          <p:nvPr/>
        </p:nvSpPr>
        <p:spPr>
          <a:xfrm>
            <a:off x="4241800" y="5118100"/>
            <a:ext cx="2336800" cy="355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EC 纠删冗余, 可用性 99.99%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858000" y="4572000"/>
            <a:ext cx="2540000" cy="952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Hexagon 73"/>
          <p:cNvSpPr/>
          <p:nvPr/>
        </p:nvSpPr>
        <p:spPr>
          <a:xfrm rot="5400000">
            <a:off x="8001000" y="4622800"/>
            <a:ext cx="218439" cy="254000"/>
          </a:xfrm>
          <a:prstGeom prst="hexagon">
            <a:avLst/>
          </a:prstGeom>
          <a:solidFill>
            <a:srgbClr val="FFFFFF"/>
          </a:solidFill>
          <a:ln w="1778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01000" y="4622800"/>
            <a:ext cx="218439" cy="254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 i="0">
                <a:solidFill>
                  <a:srgbClr val="1F4E79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76" name="[layer3_capC]"/>
          <p:cNvSpPr txBox="1"/>
          <p:nvPr/>
        </p:nvSpPr>
        <p:spPr>
          <a:xfrm>
            <a:off x="6959600" y="4902200"/>
            <a:ext cx="2336800" cy="203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1F4E79"/>
                </a:solidFill>
                <a:latin typeface="Microsoft YaHei"/>
                <a:ea typeface="Microsoft YaHei"/>
              </a:rPr>
              <a:t>云原生调度</a:t>
            </a:r>
          </a:p>
        </p:txBody>
      </p:sp>
      <p:sp>
        <p:nvSpPr>
          <p:cNvPr id="77" name="[layer3_capC_desc]"/>
          <p:cNvSpPr txBox="1"/>
          <p:nvPr/>
        </p:nvSpPr>
        <p:spPr>
          <a:xfrm>
            <a:off x="6959600" y="5118100"/>
            <a:ext cx="2336800" cy="355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K8s 统一调度, 扩缩容 &lt;1min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048000" y="2317750"/>
            <a:ext cx="0" cy="222250"/>
          </a:xfrm>
          <a:prstGeom prst="line">
            <a:avLst/>
          </a:prstGeom>
          <a:ln w="2032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225800" y="2317750"/>
            <a:ext cx="0" cy="222250"/>
          </a:xfrm>
          <a:prstGeom prst="line">
            <a:avLst/>
          </a:prstGeom>
          <a:ln w="2032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5461000" y="2317750"/>
            <a:ext cx="0" cy="222250"/>
          </a:xfrm>
          <a:prstGeom prst="line">
            <a:avLst/>
          </a:prstGeom>
          <a:ln w="2032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638800" y="2317750"/>
            <a:ext cx="0" cy="222250"/>
          </a:xfrm>
          <a:prstGeom prst="line">
            <a:avLst/>
          </a:prstGeom>
          <a:ln w="2032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7874000" y="2317750"/>
            <a:ext cx="0" cy="222250"/>
          </a:xfrm>
          <a:prstGeom prst="line">
            <a:avLst/>
          </a:prstGeom>
          <a:ln w="2032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8051800" y="2317750"/>
            <a:ext cx="0" cy="222250"/>
          </a:xfrm>
          <a:prstGeom prst="line">
            <a:avLst/>
          </a:prstGeom>
          <a:ln w="2032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48000" y="4064000"/>
            <a:ext cx="0" cy="222250"/>
          </a:xfrm>
          <a:prstGeom prst="line">
            <a:avLst/>
          </a:prstGeom>
          <a:ln w="2032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225800" y="4064000"/>
            <a:ext cx="0" cy="222250"/>
          </a:xfrm>
          <a:prstGeom prst="line">
            <a:avLst/>
          </a:prstGeom>
          <a:ln w="2032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461000" y="4064000"/>
            <a:ext cx="0" cy="222250"/>
          </a:xfrm>
          <a:prstGeom prst="line">
            <a:avLst/>
          </a:prstGeom>
          <a:ln w="2032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5638800" y="4064000"/>
            <a:ext cx="0" cy="222250"/>
          </a:xfrm>
          <a:prstGeom prst="line">
            <a:avLst/>
          </a:prstGeom>
          <a:ln w="2032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7874000" y="4064000"/>
            <a:ext cx="0" cy="222250"/>
          </a:xfrm>
          <a:prstGeom prst="line">
            <a:avLst/>
          </a:prstGeom>
          <a:ln w="2032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8051800" y="4064000"/>
            <a:ext cx="0" cy="222250"/>
          </a:xfrm>
          <a:prstGeom prst="line">
            <a:avLst/>
          </a:prstGeom>
          <a:ln w="2032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9779000" y="825500"/>
            <a:ext cx="2032000" cy="495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779000" y="825500"/>
            <a:ext cx="2032000" cy="2667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779000" y="825500"/>
            <a:ext cx="38100" cy="2667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893300" y="825500"/>
            <a:ext cx="1866899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262626"/>
                </a:solidFill>
                <a:latin typeface="Microsoft YaHei"/>
                <a:ea typeface="Microsoft YaHei"/>
              </a:rPr>
              <a:t>架构亮点</a:t>
            </a:r>
          </a:p>
        </p:txBody>
      </p:sp>
      <p:sp>
        <p:nvSpPr>
          <p:cNvPr id="94" name="[highlight_bullets]"/>
          <p:cNvSpPr txBox="1"/>
          <p:nvPr/>
        </p:nvSpPr>
        <p:spPr>
          <a:xfrm>
            <a:off x="9906000" y="1219200"/>
            <a:ext cx="1778000" cy="2095499"/>
          </a:xfrm>
          <a:prstGeom prst="rect">
            <a:avLst/>
          </a:prstGeom>
          <a:noFill/>
        </p:spPr>
        <p:txBody>
          <a:bodyPr wrap="square" lIns="19050" rIns="19050" tIns="19050" bIns="1905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62626"/>
                </a:solidFill>
                <a:latin typeface="Microsoft YaHei"/>
                <a:ea typeface="Microsoft YaHei"/>
              </a:rPr>
              <a:t>通过应用与平台彻底解耦, 新业务上线周期从 3 个月压缩至 2 周; 平台能力复用率达到 75%, 系统性消除烟囱式建设。底座资源统一纳管后利用率提升 40%, 接口全面标准化使接入成本下降 50%。配合灰度发布与秒级回滚机制, 全年变更保持零事故; 安全合规能力内嵌于架构之中, 等保三级认证一次通过。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0160000" y="3556000"/>
            <a:ext cx="1270000" cy="2921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10160000" y="3924300"/>
            <a:ext cx="1270000" cy="29210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10160000" y="4292600"/>
            <a:ext cx="1270000" cy="292100"/>
          </a:xfrm>
          <a:prstGeom prst="round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[mini_top]"/>
          <p:cNvSpPr txBox="1"/>
          <p:nvPr/>
        </p:nvSpPr>
        <p:spPr>
          <a:xfrm>
            <a:off x="10160000" y="3568700"/>
            <a:ext cx="12700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DEEAF6"/>
                </a:solidFill>
                <a:latin typeface="Microsoft YaHei"/>
                <a:ea typeface="Microsoft YaHei"/>
              </a:rPr>
              <a:t>App</a:t>
            </a:r>
          </a:p>
        </p:txBody>
      </p:sp>
      <p:sp>
        <p:nvSpPr>
          <p:cNvPr id="99" name="[mini_mid]"/>
          <p:cNvSpPr txBox="1"/>
          <p:nvPr/>
        </p:nvSpPr>
        <p:spPr>
          <a:xfrm>
            <a:off x="10160000" y="3937000"/>
            <a:ext cx="12700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Platform</a:t>
            </a:r>
          </a:p>
        </p:txBody>
      </p:sp>
      <p:sp>
        <p:nvSpPr>
          <p:cNvPr id="100" name="[mini_bot]"/>
          <p:cNvSpPr txBox="1"/>
          <p:nvPr/>
        </p:nvSpPr>
        <p:spPr>
          <a:xfrm>
            <a:off x="10160000" y="4305300"/>
            <a:ext cx="12700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1F4E79"/>
                </a:solidFill>
                <a:latin typeface="Microsoft YaHei"/>
                <a:ea typeface="Microsoft YaHei"/>
              </a:rPr>
              <a:t>Infra</a:t>
            </a:r>
          </a:p>
        </p:txBody>
      </p:sp>
      <p:cxnSp>
        <p:nvCxnSpPr>
          <p:cNvPr id="101" name="Connector 100"/>
          <p:cNvCxnSpPr/>
          <p:nvPr/>
        </p:nvCxnSpPr>
        <p:spPr>
          <a:xfrm flipV="1">
            <a:off x="11620500" y="3644900"/>
            <a:ext cx="0" cy="863600"/>
          </a:xfrm>
          <a:prstGeom prst="line">
            <a:avLst/>
          </a:prstGeom>
          <a:ln w="20320">
            <a:solidFill>
              <a:srgbClr val="B90A0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[mini_caption]"/>
          <p:cNvSpPr txBox="1"/>
          <p:nvPr/>
        </p:nvSpPr>
        <p:spPr>
          <a:xfrm>
            <a:off x="9906000" y="4699000"/>
            <a:ext cx="1778000" cy="1905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层间标准接口 · 双向赋能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906000" y="5270500"/>
            <a:ext cx="1778000" cy="3302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[kpi1]"/>
          <p:cNvSpPr txBox="1"/>
          <p:nvPr/>
        </p:nvSpPr>
        <p:spPr>
          <a:xfrm>
            <a:off x="9906000" y="5270500"/>
            <a:ext cx="1778000" cy="330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262626"/>
                </a:solidFill>
                <a:latin typeface="Microsoft YaHei"/>
                <a:ea typeface="Microsoft YaHei"/>
              </a:rPr>
              <a:t>上线周期 -60%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81000" y="5905500"/>
            <a:ext cx="9245600" cy="368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81000" y="5905500"/>
            <a:ext cx="38100" cy="3683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[base_label]"/>
          <p:cNvSpPr txBox="1"/>
          <p:nvPr/>
        </p:nvSpPr>
        <p:spPr>
          <a:xfrm>
            <a:off x="533400" y="5905500"/>
            <a:ext cx="825500" cy="368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F4E79"/>
                </a:solidFill>
                <a:latin typeface="Microsoft YaHei"/>
                <a:ea typeface="Microsoft YaHei"/>
              </a:rPr>
              <a:t>统一底座</a:t>
            </a:r>
          </a:p>
        </p:txBody>
      </p:sp>
      <p:sp>
        <p:nvSpPr>
          <p:cNvPr id="108" name="[base_note]"/>
          <p:cNvSpPr txBox="1"/>
          <p:nvPr/>
        </p:nvSpPr>
        <p:spPr>
          <a:xfrm>
            <a:off x="1460500" y="5905500"/>
            <a:ext cx="7975599" cy="368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62626"/>
                </a:solidFill>
                <a:latin typeface="Microsoft YaHei"/>
                <a:ea typeface="Microsoft YaHei"/>
              </a:rPr>
              <a:t>算力/数据/安全三位一体统一纳管, 支撑上层 30+ 应用稳定运行, 全年可用性 99.99%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
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[chip]"/>
          <p:cNvSpPr txBox="1"/>
          <p:nvPr/>
        </p:nvSpPr>
        <p:spPr>
          <a:xfrm>
            <a:off x="381000" y="279400"/>
            <a:ext cx="952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FFFFFF"/>
                </a:solidFill>
                <a:latin typeface="Microsoft YaHei"/>
                <a:ea typeface="Microsoft YaHei"/>
              </a:rPr>
              <a:t>智能运维</a:t>
            </a:r>
          </a:p>
        </p:txBody>
      </p:sp>
      <p:sp>
        <p:nvSpPr>
          <p:cNvPr id="4" name="[title_main]"/>
          <p:cNvSpPr txBox="1"/>
          <p:nvPr/>
        </p:nvSpPr>
        <p:spPr>
          <a:xfrm>
            <a:off x="1473200" y="228600"/>
            <a:ext cx="9207500" cy="368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200" b="1" i="0">
                <a:solidFill>
                  <a:srgbClr val="B90A0A"/>
                </a:solidFill>
                <a:latin typeface="Microsoft YaHei"/>
                <a:ea typeface="Microsoft YaHei"/>
              </a:rPr>
              <a:t>AI 告警三层收敛: 120 万原始告警压缩至 35 张根因工单, MTTR -88%</a:t>
            </a:r>
          </a:p>
        </p:txBody>
      </p:sp>
      <p:cxnSp>
        <p:nvCxnSpPr>
          <p:cNvPr id="5" name="Connector 4"/>
          <p:cNvCxnSpPr/>
          <p:nvPr/>
        </p:nvCxnSpPr>
        <p:spPr>
          <a:xfrm flipV="1">
            <a:off x="11366500" y="304800"/>
            <a:ext cx="419100" cy="241300"/>
          </a:xfrm>
          <a:prstGeom prst="line">
            <a:avLst/>
          </a:prstGeom>
          <a:ln w="22860">
            <a:solidFill>
              <a:srgbClr val="B90A0A"/>
            </a:solidFill>
            <a:prstDash val="dash"/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381000" y="762000"/>
            <a:ext cx="1968500" cy="241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1000" y="762000"/>
            <a:ext cx="38100" cy="2413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299" y="762000"/>
            <a:ext cx="18034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收敛规模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6500" y="762000"/>
            <a:ext cx="2984500" cy="2413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26500" y="762000"/>
            <a:ext cx="38100" cy="241300"/>
          </a:xfrm>
          <a:prstGeom prst="rect">
            <a:avLst/>
          </a:prstGeom>
          <a:solidFill>
            <a:srgbClr val="B90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40800" y="762000"/>
            <a:ext cx="28194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262626"/>
                </a:solidFill>
                <a:latin typeface="Microsoft YaHei"/>
                <a:ea typeface="Microsoft YaHei"/>
              </a:rPr>
              <a:t>分层机制解析</a:t>
            </a:r>
          </a:p>
        </p:txBody>
      </p:sp>
      <p:sp>
        <p:nvSpPr>
          <p:cNvPr id="12" name="[funnel_caption]"/>
          <p:cNvSpPr txBox="1"/>
          <p:nvPr/>
        </p:nvSpPr>
        <p:spPr>
          <a:xfrm>
            <a:off x="3302000" y="825500"/>
            <a:ext cx="4953000" cy="177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三层漏斗 · 逐层强收窄 90% → 55% → 22%</a:t>
            </a:r>
          </a:p>
        </p:txBody>
      </p:sp>
      <p:sp>
        <p:nvSpPr>
          <p:cNvPr id="13" name="Trapezoid 12"/>
          <p:cNvSpPr/>
          <p:nvPr/>
        </p:nvSpPr>
        <p:spPr>
          <a:xfrm rot="10800000">
            <a:off x="2603500" y="1079500"/>
            <a:ext cx="5715000" cy="1397000"/>
          </a:xfrm>
          <a:prstGeom prst="trapezoid">
            <a:avLst>
              <a:gd name="adj" fmla="val 19444"/>
            </a:avLst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rapezoid 13"/>
          <p:cNvSpPr/>
          <p:nvPr/>
        </p:nvSpPr>
        <p:spPr>
          <a:xfrm rot="10800000">
            <a:off x="3714750" y="2540000"/>
            <a:ext cx="3492500" cy="1397000"/>
          </a:xfrm>
          <a:prstGeom prst="trapezoid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rapezoid 14"/>
          <p:cNvSpPr/>
          <p:nvPr/>
        </p:nvSpPr>
        <p:spPr>
          <a:xfrm rot="10800000">
            <a:off x="4762500" y="4000500"/>
            <a:ext cx="1397000" cy="1397000"/>
          </a:xfrm>
          <a:prstGeom prst="trapezoid">
            <a:avLst>
              <a:gd name="adj" fmla="val 25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54600" y="16383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4600" y="16383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E75B6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Oval 17"/>
          <p:cNvSpPr/>
          <p:nvPr/>
        </p:nvSpPr>
        <p:spPr>
          <a:xfrm>
            <a:off x="5537200" y="163830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537200" y="172720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37200" y="1816100"/>
            <a:ext cx="279400" cy="889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4600" y="30988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54600" y="30988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2E75B6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3" name="Oval 22"/>
          <p:cNvSpPr/>
          <p:nvPr/>
        </p:nvSpPr>
        <p:spPr>
          <a:xfrm>
            <a:off x="5645150" y="30924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30850" y="32956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759450" y="3295650"/>
            <a:ext cx="63500" cy="63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5562600" y="3124200"/>
            <a:ext cx="114300" cy="20320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76900" y="3124200"/>
            <a:ext cx="114300" cy="20320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562600" y="3327400"/>
            <a:ext cx="228600" cy="0"/>
          </a:xfrm>
          <a:prstGeom prst="line">
            <a:avLst/>
          </a:prstGeom>
          <a:ln w="12700">
            <a:solidFill>
              <a:srgbClr val="FFFF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5321300" y="4559300"/>
            <a:ext cx="279400" cy="279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21300" y="4559300"/>
            <a:ext cx="2794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700" b="1" i="0">
                <a:solidFill>
                  <a:srgbClr val="1F4E79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905249" y="1993899"/>
            <a:ext cx="952500" cy="25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[src1]"/>
          <p:cNvSpPr txBox="1"/>
          <p:nvPr/>
        </p:nvSpPr>
        <p:spPr>
          <a:xfrm>
            <a:off x="3905249" y="1993899"/>
            <a:ext cx="9525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NE 告警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84750" y="1993899"/>
            <a:ext cx="952500" cy="25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[src2]"/>
          <p:cNvSpPr txBox="1"/>
          <p:nvPr/>
        </p:nvSpPr>
        <p:spPr>
          <a:xfrm>
            <a:off x="4984750" y="1993899"/>
            <a:ext cx="9525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性能事件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064250" y="1993899"/>
            <a:ext cx="952500" cy="254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[src3]"/>
          <p:cNvSpPr txBox="1"/>
          <p:nvPr/>
        </p:nvSpPr>
        <p:spPr>
          <a:xfrm>
            <a:off x="6064250" y="1993899"/>
            <a:ext cx="952500" cy="2540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50" b="1" i="0">
                <a:solidFill>
                  <a:srgbClr val="1F4E79"/>
                </a:solidFill>
                <a:latin typeface="Microsoft YaHei"/>
                <a:ea typeface="Microsoft YaHei"/>
              </a:rPr>
              <a:t>运行日志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476500" y="2362200"/>
            <a:ext cx="10795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[trans1_kpi]"/>
          <p:cNvSpPr txBox="1"/>
          <p:nvPr/>
        </p:nvSpPr>
        <p:spPr>
          <a:xfrm>
            <a:off x="2476500" y="2362200"/>
            <a:ext cx="10795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</a:rPr>
              <a:t>压缩 99.6%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429000" y="3797300"/>
            <a:ext cx="1143000" cy="2794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[trans2_kpi]"/>
          <p:cNvSpPr txBox="1"/>
          <p:nvPr/>
        </p:nvSpPr>
        <p:spPr>
          <a:xfrm>
            <a:off x="3429000" y="3797300"/>
            <a:ext cx="1143000" cy="279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150" b="1" i="0">
                <a:solidFill>
                  <a:srgbClr val="262626"/>
                </a:solidFill>
                <a:latin typeface="Microsoft YaHei"/>
                <a:ea typeface="Microsoft YaHei"/>
              </a:rPr>
              <a:t>收敛 137:1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13500" y="3860800"/>
            <a:ext cx="1587500" cy="30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90A0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[total_kpi]"/>
          <p:cNvSpPr txBox="1"/>
          <p:nvPr/>
        </p:nvSpPr>
        <p:spPr>
          <a:xfrm>
            <a:off x="6413500" y="3860800"/>
            <a:ext cx="1587500" cy="3048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200" b="1" i="0">
                <a:solidFill>
                  <a:srgbClr val="B90A0A"/>
                </a:solidFill>
                <a:latin typeface="Microsoft YaHei"/>
                <a:ea typeface="Microsoft YaHei"/>
              </a:rPr>
              <a:t>端到端压缩 34000:1</a:t>
            </a:r>
          </a:p>
        </p:txBody>
      </p:sp>
      <p:sp>
        <p:nvSpPr>
          <p:cNvPr id="43" name="[layer1_name]"/>
          <p:cNvSpPr txBox="1"/>
          <p:nvPr/>
        </p:nvSpPr>
        <p:spPr>
          <a:xfrm>
            <a:off x="381000" y="1282700"/>
            <a:ext cx="19685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</a:rPr>
              <a:t>全量采集层</a:t>
            </a:r>
          </a:p>
        </p:txBody>
      </p:sp>
      <p:sp>
        <p:nvSpPr>
          <p:cNvPr id="44" name="[layer1_kpi]"/>
          <p:cNvSpPr txBox="1"/>
          <p:nvPr/>
        </p:nvSpPr>
        <p:spPr>
          <a:xfrm>
            <a:off x="381000" y="1562100"/>
            <a:ext cx="19685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1.2M 条/日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1000" y="1993899"/>
            <a:ext cx="19685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Layer 1 · Input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362200" y="1778000"/>
            <a:ext cx="762000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[layer2_name]"/>
          <p:cNvSpPr txBox="1"/>
          <p:nvPr/>
        </p:nvSpPr>
        <p:spPr>
          <a:xfrm>
            <a:off x="381000" y="2743200"/>
            <a:ext cx="19685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</a:rPr>
              <a:t>关联聚类层</a:t>
            </a:r>
          </a:p>
        </p:txBody>
      </p:sp>
      <p:sp>
        <p:nvSpPr>
          <p:cNvPr id="48" name="[layer2_kpi]"/>
          <p:cNvSpPr txBox="1"/>
          <p:nvPr/>
        </p:nvSpPr>
        <p:spPr>
          <a:xfrm>
            <a:off x="381000" y="3022600"/>
            <a:ext cx="19685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4.8K 簇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81000" y="3454400"/>
            <a:ext cx="19685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Layer 2 · Refine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2362200" y="3238500"/>
            <a:ext cx="1828799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[layer3_name]"/>
          <p:cNvSpPr txBox="1"/>
          <p:nvPr/>
        </p:nvSpPr>
        <p:spPr>
          <a:xfrm>
            <a:off x="381000" y="4203700"/>
            <a:ext cx="1968500" cy="2413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500" b="1" i="0">
                <a:solidFill>
                  <a:srgbClr val="1F4E79"/>
                </a:solidFill>
                <a:latin typeface="Microsoft YaHei"/>
                <a:ea typeface="Microsoft YaHei"/>
              </a:rPr>
              <a:t>根因定位层</a:t>
            </a:r>
          </a:p>
        </p:txBody>
      </p:sp>
      <p:sp>
        <p:nvSpPr>
          <p:cNvPr id="52" name="[layer3_kpi]"/>
          <p:cNvSpPr txBox="1"/>
          <p:nvPr/>
        </p:nvSpPr>
        <p:spPr>
          <a:xfrm>
            <a:off x="381000" y="4483100"/>
            <a:ext cx="19685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3000" b="1" i="0">
                <a:solidFill>
                  <a:srgbClr val="B90A0A"/>
                </a:solidFill>
                <a:latin typeface="Microsoft YaHei"/>
                <a:ea typeface="Microsoft YaHei"/>
              </a:rPr>
              <a:t>35 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1000" y="4914900"/>
            <a:ext cx="1968500" cy="1651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Layer 3 · Output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2362200" y="4699000"/>
            <a:ext cx="2540000" cy="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381000" y="5175250"/>
            <a:ext cx="2095499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95959"/>
                </a:solidFill>
                <a:latin typeface="Microsoft YaHei"/>
                <a:ea typeface="Microsoft YaHei"/>
              </a:rPr>
              <a:t>逐层相对量级 (示意)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444500" y="6045200"/>
            <a:ext cx="1968500" cy="0"/>
          </a:xfrm>
          <a:prstGeom prst="line">
            <a:avLst/>
          </a:prstGeom>
          <a:ln w="10160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ectangle 56"/>
          <p:cNvSpPr/>
          <p:nvPr/>
        </p:nvSpPr>
        <p:spPr>
          <a:xfrm>
            <a:off x="641350" y="5527040"/>
            <a:ext cx="328083" cy="51816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7308" y="5361940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100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7308" y="60833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297516" y="5900115"/>
            <a:ext cx="328083" cy="145084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33475" y="5735015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28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33475" y="60833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953683" y="6014110"/>
            <a:ext cx="328083" cy="31089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789641" y="5849010"/>
            <a:ext cx="656166" cy="139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000" b="1" i="0">
                <a:solidFill>
                  <a:srgbClr val="262626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789641" y="6083300"/>
            <a:ext cx="656166" cy="1524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950" b="0" i="0">
                <a:solidFill>
                  <a:srgbClr val="595959"/>
                </a:solidFill>
                <a:latin typeface="Microsoft YaHei"/>
                <a:ea typeface="Microsoft YaHei"/>
              </a:rPr>
              <a:t>L3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826500" y="1079500"/>
            <a:ext cx="2984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826500" y="1079500"/>
            <a:ext cx="2984500" cy="38100"/>
          </a:xfrm>
          <a:prstGeom prst="rect">
            <a:avLst/>
          </a:prstGeom>
          <a:solidFill>
            <a:srgbClr val="DEEA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[layer1_bullets]"/>
          <p:cNvSpPr txBox="1"/>
          <p:nvPr/>
        </p:nvSpPr>
        <p:spPr>
          <a:xfrm>
            <a:off x="8953500" y="1206500"/>
            <a:ext cx="27305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全网 NE 告警、性能事件与运行日志三源在本层统一汇聚, 经 Flink 流式接入稳定承载 45K TPS 峰值流量; 5 分钟滑动窗口去重先行压降 38% 冗余, 异常样本秒级旁路缓存, 保证高峰时段不丢数、不阻塞下游关联分析, 为后续逐层收敛提供完整可信的输入。</a:t>
            </a:r>
          </a:p>
        </p:txBody>
      </p:sp>
      <p:cxnSp>
        <p:nvCxnSpPr>
          <p:cNvPr id="69" name="Connector 68"/>
          <p:cNvCxnSpPr/>
          <p:nvPr/>
        </p:nvCxnSpPr>
        <p:spPr>
          <a:xfrm>
            <a:off x="7797800" y="1778000"/>
            <a:ext cx="996950" cy="635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ounded Rectangle 69"/>
          <p:cNvSpPr/>
          <p:nvPr/>
        </p:nvSpPr>
        <p:spPr>
          <a:xfrm>
            <a:off x="8826500" y="2794000"/>
            <a:ext cx="2984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826500" y="2794000"/>
            <a:ext cx="2984500" cy="381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[layer2_bullets]"/>
          <p:cNvSpPr txBox="1"/>
          <p:nvPr/>
        </p:nvSpPr>
        <p:spPr>
          <a:xfrm>
            <a:off x="8953500" y="2921000"/>
            <a:ext cx="27305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本层以拓扑与时序双维关联将跨域告警自动归簇, GNN 传播模型精准识别衍生告警并剥离噪声; 单层压缩比达到 250:1, 归簇准确率 96.5%, 同时在簇内完成根因候选排序并输出置信度, 使海量告警在进入定位层之前已收敛为可解释的少量事件簇。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6718300" y="3238500"/>
            <a:ext cx="2076450" cy="3175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/>
          <p:cNvSpPr/>
          <p:nvPr/>
        </p:nvSpPr>
        <p:spPr>
          <a:xfrm>
            <a:off x="8826500" y="4508500"/>
            <a:ext cx="2984500" cy="158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8826500" y="4508500"/>
            <a:ext cx="2984500" cy="381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[layer3_bullets]"/>
          <p:cNvSpPr txBox="1"/>
          <p:nvPr/>
        </p:nvSpPr>
        <p:spPr>
          <a:xfrm>
            <a:off x="8953500" y="4635500"/>
            <a:ext cx="2730500" cy="1333500"/>
          </a:xfrm>
          <a:prstGeom prst="rect">
            <a:avLst/>
          </a:prstGeom>
          <a:noFill/>
        </p:spPr>
        <p:txBody>
          <a:bodyPr wrap="square" lIns="19050" rIns="19050" tIns="19050" bIns="1905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262626"/>
                </a:solidFill>
                <a:latin typeface="Microsoft YaHei"/>
                <a:ea typeface="Microsoft YaHei"/>
              </a:rPr>
              <a:t>末层由大模型完成根因推理, 自动生成工单并派发至责任组, Top1 根因命中率 91%, 平均定位用时 4.2 分钟; 处置建议自动引用知识库 Top3 历史方案, 全程闭环跟踪直至验收归档, 确保每一张根因工单都可执行、可追溯、可度量。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6019800" y="4699000"/>
            <a:ext cx="2774950" cy="571500"/>
          </a:xfrm>
          <a:prstGeom prst="line">
            <a:avLst/>
          </a:prstGeom>
          <a:ln w="12700">
            <a:solidFill>
              <a:srgbClr val="BFBFBF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5461000" y="5435600"/>
            <a:ext cx="0" cy="266700"/>
          </a:xfrm>
          <a:prstGeom prst="line">
            <a:avLst/>
          </a:prstGeom>
          <a:ln w="31750">
            <a:solidFill>
              <a:srgbClr val="B90A0A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ounded Rectangle 78"/>
          <p:cNvSpPr/>
          <p:nvPr/>
        </p:nvSpPr>
        <p:spPr>
          <a:xfrm>
            <a:off x="3238500" y="5765800"/>
            <a:ext cx="4445000" cy="393700"/>
          </a:xfrm>
          <a:prstGeom prst="roundRect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[output_concl]"/>
          <p:cNvSpPr txBox="1"/>
          <p:nvPr/>
        </p:nvSpPr>
        <p:spPr>
          <a:xfrm>
            <a:off x="3238500" y="5765800"/>
            <a:ext cx="4445000" cy="393700"/>
          </a:xfrm>
          <a:prstGeom prst="rect">
            <a:avLst/>
          </a:prstGeom>
          <a:noFill/>
        </p:spPr>
        <p:txBody>
          <a:bodyPr wrap="square" lIns="19050" rIns="19050" tIns="19050" bIns="19050" anchor="ctr">
            <a:spAutoFit/>
          </a:bodyPr>
          <a:lstStyle/>
          <a:p>
            <a:pPr algn="ctr">
              <a:lnSpc>
                <a:spcPct val="112000"/>
              </a:lnSpc>
            </a:pPr>
            <a:r>
              <a:rPr sz="1400" b="1" i="0">
                <a:solidFill>
                  <a:srgbClr val="262626"/>
                </a:solidFill>
                <a:latin typeface="Microsoft YaHei"/>
                <a:ea typeface="Microsoft YaHei"/>
              </a:rPr>
              <a:t>MTTR 92 分钟 → 11 分钟, 夜间值守人力释放 60%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
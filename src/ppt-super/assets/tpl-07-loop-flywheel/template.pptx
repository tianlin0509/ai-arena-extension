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盘古数据飞轮闭环: bad case 回流 14 天→2 天, 评测准确率 +12pp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619500" y="2857500"/>
            <a:ext cx="1460500" cy="1460500"/>
          </a:xfrm>
          <a:prstGeom prst="ellipse">
            <a:avLst/>
          </a:prstGeom>
          <a:solidFill>
            <a:srgbClr val="F9EAEA"/>
          </a:solidFill>
          <a:ln w="3175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center_goal]"/>
          <p:cNvSpPr txBox="1"/>
          <p:nvPr/>
        </p:nvSpPr>
        <p:spPr>
          <a:xfrm>
            <a:off x="3810000" y="3238500"/>
            <a:ext cx="1079500" cy="698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90A0A"/>
                </a:solidFill>
                <a:latin typeface="Microsoft YaHei"/>
                <a:ea typeface="Microsoft YaHei"/>
              </a:rPr>
              <a:t>模型能力</a:t>
            </a:r>
          </a:p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90A0A"/>
                </a:solidFill>
                <a:latin typeface="Microsoft YaHei"/>
                <a:ea typeface="Microsoft YaHei"/>
              </a:rPr>
              <a:t>持续进化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83000" y="1460500"/>
            <a:ext cx="1333500" cy="4191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97300" y="1549400"/>
            <a:ext cx="241300" cy="241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7300" y="1549400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6699" y="1460500"/>
            <a:ext cx="584200" cy="419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Step 1</a:t>
            </a:r>
          </a:p>
        </p:txBody>
      </p:sp>
      <p:sp>
        <p:nvSpPr>
          <p:cNvPr id="12" name="Oval 11"/>
          <p:cNvSpPr/>
          <p:nvPr/>
        </p:nvSpPr>
        <p:spPr>
          <a:xfrm>
            <a:off x="4660900" y="15303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0900" y="16192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0900" y="170815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13500" y="3378200"/>
            <a:ext cx="1333500" cy="4191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27800" y="3467100"/>
            <a:ext cx="241300" cy="241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7800" y="3467100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200" y="3378200"/>
            <a:ext cx="584200" cy="419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Step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5850" y="3492500"/>
            <a:ext cx="190500" cy="1905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86650" y="3543300"/>
            <a:ext cx="88900" cy="88900"/>
          </a:xfrm>
          <a:prstGeom prst="rect">
            <a:avLst/>
          </a:prstGeom>
          <a:solidFill>
            <a:srgbClr val="DEEAF6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467599" y="344805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67599" y="368300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91400" y="35242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26350" y="35242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31100" y="344805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31100" y="368300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91400" y="35877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6350" y="35877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94600" y="344805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94600" y="3683000"/>
            <a:ext cx="0" cy="4445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91400" y="36512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26350" y="3651250"/>
            <a:ext cx="44450" cy="0"/>
          </a:xfrm>
          <a:prstGeom prst="line">
            <a:avLst/>
          </a:prstGeom>
          <a:ln w="1143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83000" y="5321300"/>
            <a:ext cx="1333500" cy="4191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97300" y="5410200"/>
            <a:ext cx="241300" cy="241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7300" y="5410200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6699" y="5321300"/>
            <a:ext cx="584200" cy="419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Step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0900" y="537845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500" y="3378200"/>
            <a:ext cx="1333500" cy="4191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6800" y="3467100"/>
            <a:ext cx="241300" cy="241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6800" y="3467100"/>
            <a:ext cx="2413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6200" y="3378200"/>
            <a:ext cx="584200" cy="419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Step 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30400" y="3727450"/>
            <a:ext cx="279400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930400" y="3448050"/>
            <a:ext cx="0" cy="27940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55800" y="3486150"/>
            <a:ext cx="228600" cy="203200"/>
          </a:xfrm>
          <a:prstGeom prst="line">
            <a:avLst/>
          </a:prstGeom>
          <a:ln w="2032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11750" y="1873250"/>
            <a:ext cx="1428750" cy="1460500"/>
          </a:xfrm>
          <a:prstGeom prst="curvedConnector3">
            <a:avLst/>
          </a:prstGeom>
          <a:ln w="2794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080000" y="3886200"/>
            <a:ext cx="1397000" cy="1384300"/>
          </a:xfrm>
          <a:prstGeom prst="curvedConnector3">
            <a:avLst/>
          </a:prstGeom>
          <a:ln w="2794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2159000" y="3886200"/>
            <a:ext cx="1428750" cy="1384300"/>
          </a:xfrm>
          <a:prstGeom prst="curvedConnector3">
            <a:avLst/>
          </a:prstGeom>
          <a:ln w="2794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222500" y="1873250"/>
            <a:ext cx="1397000" cy="1460500"/>
          </a:xfrm>
          <a:prstGeom prst="curvedConnector3">
            <a:avLst/>
          </a:prstGeom>
          <a:ln w="2794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81000" y="857250"/>
            <a:ext cx="2540000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9899" y="920750"/>
            <a:ext cx="1905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B90A0A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51" name="[node1_name]"/>
          <p:cNvSpPr txBox="1"/>
          <p:nvPr/>
        </p:nvSpPr>
        <p:spPr>
          <a:xfrm>
            <a:off x="685800" y="908050"/>
            <a:ext cx="15875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数据采集</a:t>
            </a:r>
          </a:p>
        </p:txBody>
      </p:sp>
      <p:sp>
        <p:nvSpPr>
          <p:cNvPr id="52" name="[node1_bullets]"/>
          <p:cNvSpPr txBox="1"/>
          <p:nvPr/>
        </p:nvSpPr>
        <p:spPr>
          <a:xfrm>
            <a:off x="482600" y="1162050"/>
            <a:ext cx="2336800" cy="6731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</a:rPr>
              <a:t>全网公开语料与行业反馈双通道持续汇聚, 日增 2.1B tokens 经自动去重清洗后入仓, 敏感数据全程自动脱敏, 合规检查通过率保持 100%。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9500" y="857250"/>
            <a:ext cx="2540000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8400" y="920750"/>
            <a:ext cx="1905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B90A0A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55" name="[node2_name]"/>
          <p:cNvSpPr txBox="1"/>
          <p:nvPr/>
        </p:nvSpPr>
        <p:spPr>
          <a:xfrm>
            <a:off x="6464300" y="908050"/>
            <a:ext cx="15875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模型训练</a:t>
            </a:r>
          </a:p>
        </p:txBody>
      </p:sp>
      <p:sp>
        <p:nvSpPr>
          <p:cNvPr id="56" name="[node2_bullets]"/>
          <p:cNvSpPr txBox="1"/>
          <p:nvPr/>
        </p:nvSpPr>
        <p:spPr>
          <a:xfrm>
            <a:off x="6261100" y="1162050"/>
            <a:ext cx="2336800" cy="6731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</a:rPr>
              <a:t>基于昇腾 910B 千卡集群开展增量训练, MFU 稳定在 58%, 支撑模型版本周级迭代; 断点续训机制保障千卡任务长周期稳定运行。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9500" y="5308600"/>
            <a:ext cx="2540000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8400" y="5372100"/>
            <a:ext cx="1905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B90A0A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59" name="[node3_name]"/>
          <p:cNvSpPr txBox="1"/>
          <p:nvPr/>
        </p:nvSpPr>
        <p:spPr>
          <a:xfrm>
            <a:off x="6464300" y="5359400"/>
            <a:ext cx="15875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在线推理</a:t>
            </a:r>
          </a:p>
        </p:txBody>
      </p:sp>
      <p:sp>
        <p:nvSpPr>
          <p:cNvPr id="60" name="[node3_bullets]"/>
          <p:cNvSpPr txBox="1"/>
          <p:nvPr/>
        </p:nvSpPr>
        <p:spPr>
          <a:xfrm>
            <a:off x="6261100" y="5613400"/>
            <a:ext cx="2336800" cy="6731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</a:rPr>
              <a:t>推理服务日均调用达 3.2 亿次, P99 时延稳定控制在 800ms 以内; 动态批处理调度使整体吞吐提升 2.3 倍, 高峰期供给平稳无降级。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1000" y="5308600"/>
            <a:ext cx="2540000" cy="105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9899" y="5372100"/>
            <a:ext cx="190500" cy="190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B90A0A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63" name="[node4_name]"/>
          <p:cNvSpPr txBox="1"/>
          <p:nvPr/>
        </p:nvSpPr>
        <p:spPr>
          <a:xfrm>
            <a:off x="685800" y="5359400"/>
            <a:ext cx="1587500" cy="2159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反馈评估</a:t>
            </a:r>
          </a:p>
        </p:txBody>
      </p:sp>
      <p:sp>
        <p:nvSpPr>
          <p:cNvPr id="64" name="[node4_bullets]"/>
          <p:cNvSpPr txBox="1"/>
          <p:nvPr/>
        </p:nvSpPr>
        <p:spPr>
          <a:xfrm>
            <a:off x="482600" y="5613400"/>
            <a:ext cx="2336800" cy="6731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</a:rPr>
              <a:t>线上 bad case 自动回流标注队列, 按 12 域评测集持续追踪 Top1 准确率; 人工抽检采用双盲复核, 与自动评估一致率达 95%。</a:t>
            </a:r>
          </a:p>
        </p:txBody>
      </p:sp>
      <p:cxnSp>
        <p:nvCxnSpPr>
          <p:cNvPr id="65" name="Connector 64"/>
          <p:cNvCxnSpPr/>
          <p:nvPr/>
        </p:nvCxnSpPr>
        <p:spPr>
          <a:xfrm flipH="1" flipV="1">
            <a:off x="2971800" y="1397000"/>
            <a:ext cx="679450" cy="2413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6826250" y="1936749"/>
            <a:ext cx="146050" cy="1403351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067300" y="5537200"/>
            <a:ext cx="1041400" cy="2921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22500" y="3822700"/>
            <a:ext cx="222250" cy="15240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571500" y="2374900"/>
            <a:ext cx="1524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000" y="2413000"/>
            <a:ext cx="139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B90A0A"/>
                </a:solidFill>
                <a:latin typeface="Microsoft YaHei"/>
                <a:ea typeface="Microsoft YaHei"/>
              </a:rPr>
              <a:t>④ → ①</a:t>
            </a:r>
          </a:p>
        </p:txBody>
      </p:sp>
      <p:sp>
        <p:nvSpPr>
          <p:cNvPr id="71" name="[edge41_label]"/>
          <p:cNvSpPr txBox="1"/>
          <p:nvPr/>
        </p:nvSpPr>
        <p:spPr>
          <a:xfrm>
            <a:off x="635000" y="2552700"/>
            <a:ext cx="13970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bad case 2 天内回流标注队列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048500" y="2374900"/>
            <a:ext cx="1524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2000" y="2413000"/>
            <a:ext cx="139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B90A0A"/>
                </a:solidFill>
                <a:latin typeface="Microsoft YaHei"/>
                <a:ea typeface="Microsoft YaHei"/>
              </a:rPr>
              <a:t>① → ②</a:t>
            </a:r>
          </a:p>
        </p:txBody>
      </p:sp>
      <p:sp>
        <p:nvSpPr>
          <p:cNvPr id="74" name="[edge12_label]"/>
          <p:cNvSpPr txBox="1"/>
          <p:nvPr/>
        </p:nvSpPr>
        <p:spPr>
          <a:xfrm>
            <a:off x="7112000" y="2552700"/>
            <a:ext cx="13970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清洗语料日增 2.1B tokens 入仓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48500" y="4254500"/>
            <a:ext cx="1524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12000" y="4292600"/>
            <a:ext cx="139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B90A0A"/>
                </a:solidFill>
                <a:latin typeface="Microsoft YaHei"/>
                <a:ea typeface="Microsoft YaHei"/>
              </a:rPr>
              <a:t>② → ③</a:t>
            </a:r>
          </a:p>
        </p:txBody>
      </p:sp>
      <p:sp>
        <p:nvSpPr>
          <p:cNvPr id="77" name="[edge23_label]"/>
          <p:cNvSpPr txBox="1"/>
          <p:nvPr/>
        </p:nvSpPr>
        <p:spPr>
          <a:xfrm>
            <a:off x="7112000" y="4432300"/>
            <a:ext cx="13970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模型版本周级发布推送推理平面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1500" y="4254500"/>
            <a:ext cx="1524000" cy="53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000" y="4292600"/>
            <a:ext cx="139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B90A0A"/>
                </a:solidFill>
                <a:latin typeface="Microsoft YaHei"/>
                <a:ea typeface="Microsoft YaHei"/>
              </a:rPr>
              <a:t>③ → ④</a:t>
            </a:r>
          </a:p>
        </p:txBody>
      </p:sp>
      <p:sp>
        <p:nvSpPr>
          <p:cNvPr id="80" name="[edge34_label]"/>
          <p:cNvSpPr txBox="1"/>
          <p:nvPr/>
        </p:nvSpPr>
        <p:spPr>
          <a:xfrm>
            <a:off x="635000" y="4432300"/>
            <a:ext cx="13970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</a:rPr>
              <a:t>3.2 亿次调用日志沉淀回数据湖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90000" y="889000"/>
            <a:ext cx="2921000" cy="542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90000" y="889000"/>
            <a:ext cx="29210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890000" y="8890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04300" y="889000"/>
            <a:ext cx="27559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飞轮效应</a:t>
            </a:r>
          </a:p>
        </p:txBody>
      </p:sp>
      <p:sp>
        <p:nvSpPr>
          <p:cNvPr id="85" name="[effect_bullets]"/>
          <p:cNvSpPr txBox="1"/>
          <p:nvPr/>
        </p:nvSpPr>
        <p:spPr>
          <a:xfrm>
            <a:off x="9042400" y="1270000"/>
            <a:ext cx="2616200" cy="11430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• 数据越多→模型越准→调用越多, 正循环已形成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• bad case 闭环周期 14 天→2 天, 缩短 86%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• 新领域冷启动样本成本下降 60%</a:t>
            </a:r>
          </a:p>
        </p:txBody>
      </p:sp>
      <p:sp>
        <p:nvSpPr>
          <p:cNvPr id="86" name="[chart_title]"/>
          <p:cNvSpPr txBox="1"/>
          <p:nvPr/>
        </p:nvSpPr>
        <p:spPr>
          <a:xfrm>
            <a:off x="9042400" y="2514600"/>
            <a:ext cx="26162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评测集准确率走势 (周度)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31300" y="4343400"/>
            <a:ext cx="24384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131300" y="2755900"/>
            <a:ext cx="0" cy="158750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296400" y="3342936"/>
            <a:ext cx="539750" cy="88276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36150" y="3254660"/>
            <a:ext cx="539750" cy="88276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375900" y="3181096"/>
            <a:ext cx="539750" cy="73564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915650" y="3122246"/>
            <a:ext cx="539750" cy="58850"/>
          </a:xfrm>
          <a:prstGeom prst="line">
            <a:avLst/>
          </a:prstGeom>
          <a:ln w="2286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9264650" y="3399462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44000" y="3240712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62%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05900" y="43815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W1</a:t>
            </a:r>
          </a:p>
        </p:txBody>
      </p:sp>
      <p:sp>
        <p:nvSpPr>
          <p:cNvPr id="96" name="Oval 95"/>
          <p:cNvSpPr/>
          <p:nvPr/>
        </p:nvSpPr>
        <p:spPr>
          <a:xfrm>
            <a:off x="9804400" y="3311186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83750" y="3152436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68%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45650" y="43815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W3</a:t>
            </a:r>
          </a:p>
        </p:txBody>
      </p:sp>
      <p:sp>
        <p:nvSpPr>
          <p:cNvPr id="99" name="Oval 98"/>
          <p:cNvSpPr/>
          <p:nvPr/>
        </p:nvSpPr>
        <p:spPr>
          <a:xfrm>
            <a:off x="10344150" y="3222910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23500" y="3064160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74%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85400" y="43815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W5</a:t>
            </a:r>
          </a:p>
        </p:txBody>
      </p:sp>
      <p:sp>
        <p:nvSpPr>
          <p:cNvPr id="102" name="Oval 101"/>
          <p:cNvSpPr/>
          <p:nvPr/>
        </p:nvSpPr>
        <p:spPr>
          <a:xfrm>
            <a:off x="10883900" y="3149346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63250" y="2990596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79%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25150" y="43815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W7</a:t>
            </a:r>
          </a:p>
        </p:txBody>
      </p:sp>
      <p:sp>
        <p:nvSpPr>
          <p:cNvPr id="105" name="Oval 104"/>
          <p:cNvSpPr/>
          <p:nvPr/>
        </p:nvSpPr>
        <p:spPr>
          <a:xfrm>
            <a:off x="11423650" y="3090496"/>
            <a:ext cx="63500" cy="635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303000" y="2931746"/>
            <a:ext cx="304800" cy="12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</a:rPr>
              <a:t>83%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64900" y="4381500"/>
            <a:ext cx="381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W9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890000" y="5016500"/>
            <a:ext cx="29210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890000" y="50165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[kpi_header]"/>
          <p:cNvSpPr txBox="1"/>
          <p:nvPr/>
        </p:nvSpPr>
        <p:spPr>
          <a:xfrm>
            <a:off x="9004300" y="5016500"/>
            <a:ext cx="27559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北极星指标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042400" y="5384800"/>
            <a:ext cx="2616200" cy="381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[kpi1]"/>
          <p:cNvSpPr txBox="1"/>
          <p:nvPr/>
        </p:nvSpPr>
        <p:spPr>
          <a:xfrm>
            <a:off x="9042400" y="5384800"/>
            <a:ext cx="26162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评测准确率 83.4%, 环比 +12pp</a:t>
            </a:r>
          </a:p>
        </p:txBody>
      </p:sp>
      <p:sp>
        <p:nvSpPr>
          <p:cNvPr id="113" name="[kpi_note]"/>
          <p:cNvSpPr txBox="1"/>
          <p:nvPr/>
        </p:nvSpPr>
        <p:spPr>
          <a:xfrm>
            <a:off x="9042400" y="5829300"/>
            <a:ext cx="26162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口径: 盘古评测集 v3.2 周度滚动均值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飞轮自 2025Q4 起全量接管数据生产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